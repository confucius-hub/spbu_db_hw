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4164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(сцены: до · разлив · после)</a:t>
            </a:r>
          </a:p>
        </p:txBody>
      </p:sp>
      <p:pic>
        <p:nvPicPr>
          <p:cNvPr id="28" name="Picture 27" descr="fig_kola_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835" y="4370832"/>
            <a:ext cx="910756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D97706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98348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Конвейер обработки SAR-данных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49677"/>
            <a:ext cx="11475720" cy="4147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и датасет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Предобработка снимка — 6 шагов (ESA SNAP)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3852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920240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Apply Orbit File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уточнение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1518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596896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Thermal Noise Removal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удаление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29184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273552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Калибровка → σ⁰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перевод в физическую величину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950208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Фильтр Ли 7×7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подавление зернистости (спекл)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4515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4626864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Range-Doppler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геопривязка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2180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5303520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Перевод в дБ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логарифмическая шкала яркости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371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874519"/>
            <a:ext cx="5257800" cy="132588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874519"/>
            <a:ext cx="82296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993392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F2937"/>
                </a:solidFill>
                <a:latin typeface="Arial"/>
              </a:rPr>
              <a:t>1125 снимков → 4128 фрагментов 256×256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1112 — открытый набор (переразмечен) +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13 — собственные снимки Кольского залива.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Деление 70 / 20 / 10 на уровне снимков.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337560"/>
            <a:ext cx="5257800" cy="9144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3337560"/>
            <a:ext cx="82296" cy="9144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456432"/>
            <a:ext cx="4937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B5331F"/>
                </a:solidFill>
                <a:latin typeface="Arial"/>
              </a:rPr>
              <a:t>Дисбаланс классов: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нефть &lt; 2,4 % пикселей.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Решение: взвешенная Dice-BCE, вес «нефти» = 9,8.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46227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F2937"/>
                </a:solidFill>
                <a:latin typeface="Arial"/>
              </a:rPr>
              <a:t>Сходимость: лучшее mIoU = 0,84 на 78-й эпохе</a:t>
            </a:r>
          </a:p>
        </p:txBody>
      </p:sp>
      <p:pic>
        <p:nvPicPr>
          <p:cNvPr id="28" name="Picture 27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888" y="4800600"/>
            <a:ext cx="3508744" cy="13716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40080" y="6382512"/>
            <a:ext cx="10424160" cy="38404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6382512"/>
            <a:ext cx="82296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6400800"/>
            <a:ext cx="10241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Модель: </a:t>
            </a:r>
            <a:r>
              <a:rPr sz="1100" b="0" i="0">
                <a:solidFill>
                  <a:srgbClr val="1F2937"/>
                </a:solidFill>
                <a:latin typeface="Arial"/>
              </a:rPr>
              <a:t>DeepLabV3+ (энкодер ResNet-50) + scSE-внимание · сегментация на 3 класса: вода / нефть / лёд+суша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13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13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ВЕТРОВЫЕ ТЕНИ И БИОГЕННЫЕ ПЛЁНКИ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Печенга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13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ПЕРВОГОДНИЙ ДРЕЙФУЮЩИЙ ЛЁД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13</a:t>
            </a:r>
          </a:p>
        </p:txBody>
      </p:sp>
      <p:pic>
        <p:nvPicPr>
          <p:cNvPr id="8" name="Picture 7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ЖИРОВОЙ И НИЛАСОВЫЙ ЛЁД, ПРИПАЙ — НАИБОЛЕЕ СЛОЖНАЯ АКВАТОРИЯ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Сабетта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13</a:t>
            </a:r>
          </a:p>
        </p:txBody>
      </p:sp>
      <p:pic>
        <p:nvPicPr>
          <p:cNvPr id="8" name="Picture 7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 обработки SAR-сцен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