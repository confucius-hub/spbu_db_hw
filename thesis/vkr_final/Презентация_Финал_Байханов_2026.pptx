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2447"/>
              </a:gs>
              <a:gs pos="100000">
                <a:srgbClr val="163A6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Санкт-Петербургский государственный университет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62895" y="411480"/>
            <a:ext cx="1371600" cy="411480"/>
          </a:xfrm>
          <a:prstGeom prst="roundRect">
            <a:avLst/>
          </a:prstGeom>
          <a:solidFill>
            <a:srgbClr val="0E2447"/>
          </a:solidFill>
          <a:ln w="12700">
            <a:solidFill>
              <a:srgbClr val="4B6A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  <a:latin typeface="Arial"/>
              </a:rPr>
              <a:t>Июнь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8FB4F5"/>
                </a:solidFill>
                <a:latin typeface="Arial"/>
              </a:rPr>
              <a:t>ВЫПУСКНАЯ КВАЛИФИКАЦИОННАЯ РАБОТА · МАГИСТЕРСКАЯ ДИССЕРТАЦИЯ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1097280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Разработка системы автоматического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детектирования нефтяных разливов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в акваториях арктических портов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по данным спутниковой радиолокационной съёмки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892040"/>
            <a:ext cx="38100" cy="1280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89204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Байханов
Владислав Камолович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571500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FB2D0"/>
                </a:solidFill>
                <a:latin typeface="Arial"/>
              </a:rPr>
              <a:t>Выпускник магистратуры,
программа «Искусственный
интеллект и наука о данных»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0" y="4892040"/>
            <a:ext cx="38100" cy="1280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36592" y="489204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C9D6EC"/>
                </a:solidFill>
                <a:latin typeface="Arial"/>
              </a:rPr>
              <a:t>Митько
Арсений Валерьевич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571500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FB2D0"/>
                </a:solidFill>
                <a:latin typeface="Arial"/>
              </a:rPr>
              <a:t>Научный руководитель,
к.т.н., доцент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03920" y="4892040"/>
            <a:ext cx="38100" cy="1280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68512" y="489204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C9D6EC"/>
                </a:solidFill>
                <a:latin typeface="Arial"/>
              </a:rPr>
              <a:t>Филиппова
Надежда Анатольевна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68512" y="571500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FB2D0"/>
                </a:solidFill>
                <a:latin typeface="Arial"/>
              </a:rPr>
              <a:t>Рецензент,
д.т.н., профессор, МАДИ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Актуальность и проблема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2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2697480" cy="12070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417320"/>
            <a:ext cx="82296" cy="12070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563EB"/>
                </a:solidFill>
                <a:latin typeface="Arial"/>
              </a:rPr>
              <a:t>&gt; 700 тыс. т/год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011680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937"/>
                </a:solidFill>
                <a:latin typeface="Arial"/>
              </a:rPr>
              <a:t>углеводородов в Мировой океан
ежегодно; доля Арктики растёт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02152" y="1417320"/>
            <a:ext cx="2697480" cy="12070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02152" y="1417320"/>
            <a:ext cx="82296" cy="1207008"/>
          </a:xfrm>
          <a:prstGeom prst="rect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0752" y="1527048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E7D7A"/>
                </a:solidFill>
                <a:latin typeface="Arial"/>
              </a:rPr>
              <a:t>В 5–10 раз медленнее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30752" y="2011680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937"/>
                </a:solidFill>
                <a:latin typeface="Arial"/>
              </a:rPr>
              <a:t>разлагается нефть в холодных
водах → долгосрочный ущерб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734056"/>
            <a:ext cx="2697480" cy="12070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734056"/>
            <a:ext cx="82296" cy="1207008"/>
          </a:xfrm>
          <a:prstGeom prst="rect">
            <a:avLst/>
          </a:prstGeom>
          <a:solidFill>
            <a:srgbClr val="B53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284378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5331F"/>
                </a:solidFill>
                <a:latin typeface="Arial"/>
              </a:rPr>
              <a:t>&gt; 80 % времени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28416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937"/>
                </a:solidFill>
                <a:latin typeface="Arial"/>
              </a:rPr>
              <a:t>облачность и полярная ночь:
оптические спутники бесполезны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02152" y="2734056"/>
            <a:ext cx="2697480" cy="12070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2152" y="2734056"/>
            <a:ext cx="82296" cy="1207008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30752" y="284378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E7D52"/>
                </a:solidFill>
                <a:latin typeface="Arial"/>
              </a:rPr>
              <a:t>Sentinel-1 SAR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30752" y="3328416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937"/>
                </a:solidFill>
                <a:latin typeface="Arial"/>
              </a:rPr>
              <a:t>всепогодный круглосуточный
мониторинг — единственный выход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1417320"/>
            <a:ext cx="5577840" cy="2523744"/>
          </a:xfrm>
          <a:prstGeom prst="roundRect">
            <a:avLst/>
          </a:prstGeom>
          <a:solidFill>
            <a:srgbClr val="FDF0EE"/>
          </a:solidFill>
          <a:ln w="12700">
            <a:solidFill>
              <a:srgbClr val="F0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72200" y="1417320"/>
            <a:ext cx="82296" cy="2523744"/>
          </a:xfrm>
          <a:prstGeom prst="rect">
            <a:avLst/>
          </a:prstGeom>
          <a:solidFill>
            <a:srgbClr val="B53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1600200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B5331F"/>
                </a:solidFill>
                <a:latin typeface="Arial"/>
              </a:rPr>
              <a:t>Главная проблема: ложные цели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2212848"/>
            <a:ext cx="51206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F2937"/>
                </a:solidFill>
                <a:latin typeface="Arial"/>
              </a:rPr>
              <a:t>Лёд, биоплёнки и штиль дают тёмные пятна — неотличимые от нефти на SAR-снимке. У классических методов до 70 % ложных срабатываний.
→ Нужна трёхклассовая модель: вода / нефть / лёд+суша.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04164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Кольский залив, Sentinel-1 2024 — временно́й ряд детектирования разлива мазута 11.08.2024 (сцены: до · разлив · после)</a:t>
            </a:r>
          </a:p>
        </p:txBody>
      </p:sp>
      <p:pic>
        <p:nvPicPr>
          <p:cNvPr id="28" name="Picture 27" descr="fig_kola_re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9835" y="4370832"/>
            <a:ext cx="9107569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Цель и задачи работы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3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63040"/>
            <a:ext cx="10927080" cy="14173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463040"/>
            <a:ext cx="82296" cy="1417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00200"/>
            <a:ext cx="10424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563EB"/>
                </a:solidFill>
                <a:latin typeface="Arial"/>
              </a:rPr>
              <a:t>Цель: </a:t>
            </a:r>
            <a:r>
              <a:rPr sz="1600" b="0" i="0">
                <a:solidFill>
                  <a:srgbClr val="1F2937"/>
                </a:solidFill>
                <a:latin typeface="Arial"/>
              </a:rPr>
              <a:t>автоматизация детектирования нефтяных разливов в акваториях арктических портов по данным Sentinel-1 за счёт трёхклассовой нейросетевой модели семантической сегментации, обеспечивающей F1-меру для класса «нефть» не ниже 0,85.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546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563EB"/>
                </a:solidFill>
                <a:latin typeface="Arial"/>
              </a:rPr>
              <a:t>Задачи: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61188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648456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Выявить ограничения существующих методов и обосновать выбор архитектуры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270248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306824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Разработать методику формирования датасета и обучить модель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4928616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965192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Реализовать программный прототип — модульный конвейер обработки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5586984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Провести экспериментальную оценку и сравнительный анализ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Существующие методы и их ограничения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4 / 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00200"/>
          <a:ext cx="10927078" cy="2834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15207"/>
                <a:gridCol w="1748332"/>
                <a:gridCol w="1857603"/>
                <a:gridCol w="1966874"/>
                <a:gridCol w="1639062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Метод / работа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Тип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Многоклассо-
вость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Учёт ложных
целей льда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Арктич.
данные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Метод Оцу (2024)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порог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9CA3AF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9CA3AF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9CA3AF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U-Net, Krestenitis (2019)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DL, бинарн.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9CA3AF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9CA3AF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9CA3AF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GLCM + CNN (2025)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текстуры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9CA3AF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D97706"/>
                          </a:solidFill>
                          <a:latin typeface="Arial"/>
                        </a:rPr>
                        <a:t>частично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9CA3AF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DeepLabV3+ scSE (наст. работа)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DL, 3 класса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7D52"/>
                          </a:solidFill>
                          <a:latin typeface="Arial"/>
                        </a:rPr>
                        <a:t>+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7D52"/>
                          </a:solidFill>
                          <a:latin typeface="Arial"/>
                        </a:rPr>
                        <a:t>+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7D52"/>
                          </a:solidFill>
                          <a:latin typeface="Arial"/>
                        </a:rPr>
                        <a:t>+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983480"/>
            <a:ext cx="102412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563EB"/>
                </a:solidFill>
                <a:latin typeface="Arial"/>
              </a:rPr>
              <a:t>Вывод: </a:t>
            </a:r>
            <a:r>
              <a:rPr sz="1400" b="0" i="0">
                <a:solidFill>
                  <a:srgbClr val="1F2937"/>
                </a:solidFill>
                <a:latin typeface="Arial"/>
              </a:rPr>
              <a:t>во всех аналогах — бинарная схема, нет отдельного класса льда → до 70 % ложных тревог в арктических акваториях.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Конвейер обработки SAR-данных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5 / 13</a:t>
            </a:r>
          </a:p>
        </p:txBody>
      </p:sp>
      <p:pic>
        <p:nvPicPr>
          <p:cNvPr id="7" name="Picture 6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49677"/>
            <a:ext cx="11475720" cy="414736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Предобработка и датасет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6 /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563EB"/>
                </a:solidFill>
                <a:latin typeface="Arial"/>
              </a:rPr>
              <a:t>Предобработка снимка — 6 шагов (ESA SNAP)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1938528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1920240"/>
            <a:ext cx="4846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F2937"/>
                </a:solidFill>
                <a:latin typeface="Arial"/>
              </a:rPr>
              <a:t>Apply Orbit File — </a:t>
            </a:r>
            <a:r>
              <a:rPr sz="1350" b="0" i="0">
                <a:solidFill>
                  <a:srgbClr val="6B7280"/>
                </a:solidFill>
                <a:latin typeface="Arial"/>
              </a:rPr>
              <a:t>уточнение орбиты спутника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615184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7008" y="2596896"/>
            <a:ext cx="4846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F2937"/>
                </a:solidFill>
                <a:latin typeface="Arial"/>
              </a:rPr>
              <a:t>Thermal Noise Removal — </a:t>
            </a:r>
            <a:r>
              <a:rPr sz="1350" b="0" i="0">
                <a:solidFill>
                  <a:srgbClr val="6B7280"/>
                </a:solidFill>
                <a:latin typeface="Arial"/>
              </a:rPr>
              <a:t>удаление шума сенсора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3291840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8" y="3273552"/>
            <a:ext cx="4846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F2937"/>
                </a:solidFill>
                <a:latin typeface="Arial"/>
              </a:rPr>
              <a:t>Калибровка → σ⁰ — </a:t>
            </a:r>
            <a:r>
              <a:rPr sz="1350" b="0" i="0">
                <a:solidFill>
                  <a:srgbClr val="6B7280"/>
                </a:solidFill>
                <a:latin typeface="Arial"/>
              </a:rPr>
              <a:t>перевод в физическую величину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3968496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07008" y="3950208"/>
            <a:ext cx="4846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F2937"/>
                </a:solidFill>
                <a:latin typeface="Arial"/>
              </a:rPr>
              <a:t>Фильтр Ли 7×7 — </a:t>
            </a:r>
            <a:r>
              <a:rPr sz="1350" b="0" i="0">
                <a:solidFill>
                  <a:srgbClr val="6B7280"/>
                </a:solidFill>
                <a:latin typeface="Arial"/>
              </a:rPr>
              <a:t>подавление зернистости (спекл)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645152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07008" y="4626864"/>
            <a:ext cx="4846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F2937"/>
                </a:solidFill>
                <a:latin typeface="Arial"/>
              </a:rPr>
              <a:t>Range-Doppler — </a:t>
            </a:r>
            <a:r>
              <a:rPr sz="1350" b="0" i="0">
                <a:solidFill>
                  <a:srgbClr val="6B7280"/>
                </a:solidFill>
                <a:latin typeface="Arial"/>
              </a:rPr>
              <a:t>геопривязка к местности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" y="5321808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8" y="5303520"/>
            <a:ext cx="4846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F2937"/>
                </a:solidFill>
                <a:latin typeface="Arial"/>
              </a:rPr>
              <a:t>Перевод в дБ — </a:t>
            </a:r>
            <a:r>
              <a:rPr sz="1350" b="0" i="0">
                <a:solidFill>
                  <a:srgbClr val="6B7280"/>
                </a:solidFill>
                <a:latin typeface="Arial"/>
              </a:rPr>
              <a:t>логарифмическая шкала яркости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137160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563EB"/>
                </a:solidFill>
                <a:latin typeface="Arial"/>
              </a:rPr>
              <a:t>Датасет и обучение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1874519"/>
            <a:ext cx="5257800" cy="132588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09360" y="1874519"/>
            <a:ext cx="82296" cy="13258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1993392"/>
            <a:ext cx="49377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F2937"/>
                </a:solidFill>
                <a:latin typeface="Arial"/>
              </a:rPr>
              <a:t>1125 снимков → 4128 фрагментов 256×256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0" i="0">
                <a:solidFill>
                  <a:srgbClr val="1F2937"/>
                </a:solidFill>
                <a:latin typeface="Arial"/>
              </a:rPr>
              <a:t>1112 — MKLab / Krestenitis et al., 2019 +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0" i="0">
                <a:solidFill>
                  <a:srgbClr val="1F2937"/>
                </a:solidFill>
                <a:latin typeface="Arial"/>
              </a:rPr>
              <a:t>13 — собственные снимки Кольского залива.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6B7280"/>
                </a:solidFill>
                <a:latin typeface="Arial"/>
              </a:rPr>
              <a:t>Деление 70 / 20 / 10. Источник: Remote Sensing, 2019.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337560"/>
            <a:ext cx="5257800" cy="914400"/>
          </a:xfrm>
          <a:prstGeom prst="roundRect">
            <a:avLst/>
          </a:prstGeom>
          <a:solidFill>
            <a:srgbClr val="FDF0EE"/>
          </a:solidFill>
          <a:ln w="12700">
            <a:solidFill>
              <a:srgbClr val="F0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09360" y="3337560"/>
            <a:ext cx="82296" cy="914400"/>
          </a:xfrm>
          <a:prstGeom prst="rect">
            <a:avLst/>
          </a:prstGeom>
          <a:solidFill>
            <a:srgbClr val="B53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7960" y="3456432"/>
            <a:ext cx="4937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B5331F"/>
                </a:solidFill>
                <a:latin typeface="Arial"/>
              </a:rPr>
              <a:t>Дисбаланс классов: </a:t>
            </a:r>
            <a:r>
              <a:rPr sz="1300" b="0" i="0">
                <a:solidFill>
                  <a:srgbClr val="1F2937"/>
                </a:solidFill>
                <a:latin typeface="Arial"/>
              </a:rPr>
              <a:t>нефть &lt; 2,4 % пикселей.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F2937"/>
                </a:solidFill>
                <a:latin typeface="Arial"/>
              </a:rPr>
              <a:t>Решение: взвешенная Dice-BCE, вес «нефти» = 9,8.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4462272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F2937"/>
                </a:solidFill>
                <a:latin typeface="Arial"/>
              </a:rPr>
              <a:t>Сходимость: лучшее mIoU = 0,84 на 78-й эпохе</a:t>
            </a:r>
          </a:p>
        </p:txBody>
      </p:sp>
      <p:pic>
        <p:nvPicPr>
          <p:cNvPr id="28" name="Picture 27" descr="fig_trai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3888" y="4800600"/>
            <a:ext cx="3508744" cy="1371600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640080" y="6382512"/>
            <a:ext cx="10424160" cy="38404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6382512"/>
            <a:ext cx="82296" cy="3840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6400800"/>
            <a:ext cx="1024128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2563EB"/>
                </a:solidFill>
                <a:latin typeface="Arial"/>
              </a:rPr>
              <a:t>Модель: </a:t>
            </a:r>
            <a:r>
              <a:rPr sz="1100" b="0" i="0">
                <a:solidFill>
                  <a:srgbClr val="1F2937"/>
                </a:solidFill>
                <a:latin typeface="Arial"/>
              </a:rPr>
              <a:t>DeepLabV3+ (энкодер ResNet-50) + scSE-внимание · сегментация на 3 класса: вода / нефть / лёд+суша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Результаты на тестовой выборке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7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45920"/>
            <a:ext cx="4846320" cy="105156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45920"/>
            <a:ext cx="82296" cy="10515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755648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563EB"/>
                </a:solidFill>
                <a:latin typeface="Arial"/>
              </a:rPr>
              <a:t>F1 = 0,89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0428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Arial"/>
              </a:rPr>
              <a:t>класс «нефть»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834640"/>
            <a:ext cx="4846320" cy="105156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834640"/>
            <a:ext cx="82296" cy="1051560"/>
          </a:xfrm>
          <a:prstGeom prst="rect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944368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E7D7A"/>
                </a:solidFill>
                <a:latin typeface="Arial"/>
              </a:rPr>
              <a:t>mIoU = 0,82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49300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Arial"/>
              </a:rPr>
              <a:t>средняя по классам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023360"/>
            <a:ext cx="4846320" cy="105156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023360"/>
            <a:ext cx="82296" cy="1051560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133088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E7D52"/>
                </a:solidFill>
                <a:latin typeface="Arial"/>
              </a:rPr>
              <a:t>95,8 %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68172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Arial"/>
              </a:rPr>
              <a:t>общая точность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257800"/>
            <a:ext cx="4846320" cy="960120"/>
          </a:xfrm>
          <a:prstGeom prst="roundRect">
            <a:avLst/>
          </a:prstGeom>
          <a:solidFill>
            <a:srgbClr val="ECF7F0"/>
          </a:solidFill>
          <a:ln w="12700">
            <a:solidFill>
              <a:srgbClr val="C2E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257800"/>
            <a:ext cx="82296" cy="960120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413248"/>
            <a:ext cx="4389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52"/>
                </a:solidFill>
                <a:latin typeface="Arial"/>
              </a:rPr>
              <a:t>Целевой критерий F1 ≥ 0,85 выполнен ✓</a:t>
            </a:r>
          </a:p>
        </p:txBody>
      </p:sp>
      <p:pic>
        <p:nvPicPr>
          <p:cNvPr id="22" name="Picture 21" descr="fig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1755" y="1554480"/>
            <a:ext cx="5201529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Сравнение с методами-аналогами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8 / 13</a:t>
            </a:r>
          </a:p>
        </p:txBody>
      </p:sp>
      <p:pic>
        <p:nvPicPr>
          <p:cNvPr id="7" name="Picture 6" descr="fi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69327"/>
            <a:ext cx="7315200" cy="381662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38160" y="2011680"/>
            <a:ext cx="35661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+0,18 к F1</a:t>
            </a:r>
            <a:r>
              <a:rPr sz="1500" b="0">
                <a:solidFill>
                  <a:srgbClr val="1F2937"/>
                </a:solidFill>
                <a:latin typeface="Arial"/>
              </a:rPr>
              <a:t> по сравнению с пороговым методом Оцу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Превосходство</a:t>
            </a:r>
            <a:r>
              <a:rPr sz="1500" b="0">
                <a:solidFill>
                  <a:srgbClr val="1F2937"/>
                </a:solidFill>
                <a:latin typeface="Arial"/>
              </a:rPr>
              <a:t> над всеми 4 альтернативными методами по всем метрикам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Прирост</a:t>
            </a:r>
            <a:r>
              <a:rPr sz="1500" b="0">
                <a:solidFill>
                  <a:srgbClr val="1F2937"/>
                </a:solidFill>
                <a:latin typeface="Arial"/>
              </a:rPr>
              <a:t> за счёт scSE-внимания и трёхклассовой схемы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Переносимость на другие акватории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9 / 13</a:t>
            </a:r>
          </a:p>
        </p:txBody>
      </p:sp>
      <p:pic>
        <p:nvPicPr>
          <p:cNvPr id="7" name="Picture 6" descr="fig_ports_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87583"/>
            <a:ext cx="7315200" cy="418011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38160" y="1664208"/>
            <a:ext cx="35661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563EB"/>
                </a:solidFill>
                <a:latin typeface="Arial"/>
              </a:rPr>
              <a:t>Детекция нефти (F1):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2048256"/>
            <a:ext cx="3566160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2563EB"/>
                </a:solidFill>
                <a:latin typeface="Arial"/>
              </a:rPr>
              <a:t>•  </a:t>
            </a:r>
            <a:r>
              <a:rPr sz="1400" b="1">
                <a:solidFill>
                  <a:srgbClr val="1F2937"/>
                </a:solidFill>
                <a:latin typeface="Arial"/>
              </a:rPr>
              <a:t>Кольский залив</a:t>
            </a:r>
            <a:r>
              <a:rPr sz="1400" b="0">
                <a:solidFill>
                  <a:srgbClr val="1F2937"/>
                </a:solidFill>
                <a:latin typeface="Arial"/>
              </a:rPr>
              <a:t> — 0,89 (обучение)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2563EB"/>
                </a:solidFill>
                <a:latin typeface="Arial"/>
              </a:rPr>
              <a:t>•  </a:t>
            </a:r>
            <a:r>
              <a:rPr sz="1400" b="1">
                <a:solidFill>
                  <a:srgbClr val="1F2937"/>
                </a:solidFill>
                <a:latin typeface="Arial"/>
              </a:rPr>
              <a:t>Варандей</a:t>
            </a:r>
            <a:r>
              <a:rPr sz="1400" b="0">
                <a:solidFill>
                  <a:srgbClr val="1F2937"/>
                </a:solidFill>
                <a:latin typeface="Arial"/>
              </a:rPr>
              <a:t> — 0,84 (перенос)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2563EB"/>
                </a:solidFill>
                <a:latin typeface="Arial"/>
              </a:rPr>
              <a:t>•  </a:t>
            </a:r>
            <a:r>
              <a:rPr sz="1400" b="1">
                <a:solidFill>
                  <a:srgbClr val="1F2937"/>
                </a:solidFill>
                <a:latin typeface="Arial"/>
              </a:rPr>
              <a:t>Сабетта</a:t>
            </a:r>
            <a:r>
              <a:rPr sz="1400" b="0">
                <a:solidFill>
                  <a:srgbClr val="1F2937"/>
                </a:solidFill>
                <a:latin typeface="Arial"/>
              </a:rPr>
              <a:t> — 0,76 (перенос)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3401568"/>
            <a:ext cx="35661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E7D7A"/>
                </a:solidFill>
                <a:latin typeface="Arial"/>
              </a:rPr>
              <a:t>Тест специфичности: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3785615"/>
            <a:ext cx="35661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7A"/>
                </a:solidFill>
                <a:latin typeface="Arial"/>
              </a:rPr>
              <a:t>•  </a:t>
            </a:r>
            <a:r>
              <a:rPr sz="1300" b="0">
                <a:solidFill>
                  <a:srgbClr val="1F2937"/>
                </a:solidFill>
                <a:latin typeface="Arial"/>
              </a:rPr>
              <a:t>Печенга — разливов нет; все тёмные зоны
= ложные цели → модель не тревожила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4663440"/>
            <a:ext cx="3520440" cy="155448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38160" y="4663440"/>
            <a:ext cx="82296" cy="15544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60" y="4809744"/>
            <a:ext cx="3154680" cy="1353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563EB"/>
                </a:solidFill>
                <a:latin typeface="Arial"/>
              </a:rPr>
              <a:t>Вывод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Arial"/>
              </a:rPr>
              <a:t>Методика применима; для ледовых акваторий — целевое дообучение.
Слайды 10–12: каждый порт подробно.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ВЕТРОВЫЕ ТЕНИ И БИОГЕННЫЕ ПЛЁНКИ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Порт Печенга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25296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10 / 13</a:t>
            </a:r>
          </a:p>
        </p:txBody>
      </p:sp>
      <p:pic>
        <p:nvPicPr>
          <p:cNvPr id="8" name="Picture 7" descr="fig_pecheng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1770" y="1325880"/>
            <a:ext cx="674370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ПЕРВОГОДНИЙ ДРЕЙФУЮЩИЙ ЛЁД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Терминал Варандей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25296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11 / 13</a:t>
            </a:r>
          </a:p>
        </p:txBody>
      </p:sp>
      <p:pic>
        <p:nvPicPr>
          <p:cNvPr id="8" name="Picture 7" descr="fig_varand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1770" y="1325880"/>
            <a:ext cx="674370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ЖИРОВОЙ И НИЛАСОВЫЙ ЛЁД, ПРИПАЙ — НАИБОЛЕЕ СЛОЖНАЯ АКВАТОРИЯ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Порт Сабетта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25296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12 / 13</a:t>
            </a:r>
          </a:p>
        </p:txBody>
      </p:sp>
      <p:pic>
        <p:nvPicPr>
          <p:cNvPr id="8" name="Picture 7" descr="fig_sabet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1770" y="1325880"/>
            <a:ext cx="674370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Заключение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13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63040"/>
            <a:ext cx="10927080" cy="868680"/>
          </a:xfrm>
          <a:prstGeom prst="roundRect">
            <a:avLst/>
          </a:prstGeom>
          <a:solidFill>
            <a:srgbClr val="ECF7F0"/>
          </a:solidFill>
          <a:ln w="12700">
            <a:solidFill>
              <a:srgbClr val="C2E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463040"/>
            <a:ext cx="82296" cy="868680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27632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Цель достигнута: </a:t>
            </a:r>
            <a:r>
              <a:rPr sz="1700" b="0" i="0">
                <a:solidFill>
                  <a:srgbClr val="1F2937"/>
                </a:solidFill>
                <a:latin typeface="Arial"/>
              </a:rPr>
              <a:t>F1 = 0,89 при целевом критерии ≥ 0,85. Все четыре задачи решены.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0604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624328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Систематизированы ограничения методов, обоснован выбор архитектуры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7296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191256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Создан комбинированный датасет с оригинальной трёхклассовой разметкой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39896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Реализован программный прототип-конвейер обработки SAR-сцен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06824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325112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Экспериментально подтверждено превосходство над пороговыми методами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029200"/>
            <a:ext cx="10927080" cy="11887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029200"/>
            <a:ext cx="82296" cy="1188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193792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563EB"/>
                </a:solidFill>
                <a:latin typeface="Arial"/>
              </a:rPr>
              <a:t>Практическая значимость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Применимость в системах экологического мониторинга арктических портов — в интересах Росприроднадзора, МЧС, «Морспасслужбы» и мониторинга Северного морского пути.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2447"/>
              </a:gs>
              <a:gs pos="100000">
                <a:srgbClr val="163A6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Arial"/>
              </a:rPr>
              <a:t>Спасибо за внимание!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 i="0">
                <a:solidFill>
                  <a:srgbClr val="9FB2D0"/>
                </a:solidFill>
                <a:latin typeface="Arial"/>
              </a:rPr>
              <a:t>Готов ответить на ваши вопросы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572000"/>
            <a:ext cx="38100" cy="10058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457200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Байханов Владислав Камолович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FB2D0"/>
                </a:solidFill>
                <a:latin typeface="Arial"/>
              </a:rPr>
              <a:t>Санкт-Петербургский государственный университет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