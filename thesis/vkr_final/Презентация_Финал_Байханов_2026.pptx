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Санкт-Петербургский государственный университет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411480"/>
            <a:ext cx="1371600" cy="411480"/>
          </a:xfrm>
          <a:prstGeom prst="roundRect">
            <a:avLst/>
          </a:prstGeom>
          <a:solidFill>
            <a:srgbClr val="0E2447"/>
          </a:solidFill>
          <a:ln w="12700">
            <a:solidFill>
              <a:srgbClr val="4B6A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Arial"/>
              </a:rPr>
              <a:t>Июнь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8FB4F5"/>
                </a:solidFill>
                <a:latin typeface="Arial"/>
              </a:rPr>
              <a:t>ВЫПУСКНАЯ КВАЛИФИКАЦИОННАЯ РАБОТА · МАГИСТЕРСКАЯ ДИССЕРТАЦИЯ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Разработка системы автоматического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детектирования нефтяных разливов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в акваториях арктических портов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по данным спутниковой радиолокационной съёмки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Байханов
Владислав Камолович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Выпускник магистратуры,
программа «Искусственный
интеллект и наука о данных»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659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Митько
Арсений Валерьевич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Научный руководитель,
к.т.н., доцент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6851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Филиппова
Надежда Анатольевна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6851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Рецензент,
д.т.н., профессор, МАДИ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Актуальность и проблема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2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82296" cy="1207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&gt; 700 тыс. т/год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0116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углеводородов в Мировой океан
ежегодно; доля Арктики растёт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2152" y="1417320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02152" y="1417320"/>
            <a:ext cx="82296" cy="1207008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0752" y="152704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7D7A"/>
                </a:solidFill>
                <a:latin typeface="Arial"/>
              </a:rPr>
              <a:t>В 5–10 раз медленнее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20116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разлагается нефть в холодных
водах → долгосрочный ущерб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734056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734056"/>
            <a:ext cx="82296" cy="1207008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84378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5331F"/>
                </a:solidFill>
                <a:latin typeface="Arial"/>
              </a:rPr>
              <a:t>&gt; 80 % времени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28416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облачность и полярная ночь:
оптические спутники бесполезны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02152" y="2734056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2152" y="2734056"/>
            <a:ext cx="82296" cy="1207008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30752" y="284378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7D52"/>
                </a:solidFill>
                <a:latin typeface="Arial"/>
              </a:rPr>
              <a:t>Sentinel-1 SAR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30752" y="3328416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всепогодный круглосуточный
мониторинг — единственный выход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1417320"/>
            <a:ext cx="5577840" cy="2523744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1417320"/>
            <a:ext cx="82296" cy="2523744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60020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B5331F"/>
                </a:solidFill>
                <a:latin typeface="Arial"/>
              </a:rPr>
              <a:t>Главная проблема: ложные цели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212848"/>
            <a:ext cx="5120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937"/>
                </a:solidFill>
                <a:latin typeface="Arial"/>
              </a:rPr>
              <a:t>Лёд, биоплёнки и штиль дают тёмные пятна — неотличимые от нефти на SAR-снимке. У классических методов до 70 % ложных срабатываний.
→ Нужна трёхклассовая модель: вода / нефть / лёд+суша.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078224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Кольский залив: разлив мазута 11.09.2024 (открытая вода) — исходный снимок Sentinel-1 и результат модели</a:t>
            </a:r>
          </a:p>
        </p:txBody>
      </p:sp>
      <p:pic>
        <p:nvPicPr>
          <p:cNvPr id="28" name="Picture 27" descr="fig_ko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0966" y="4407408"/>
            <a:ext cx="4985308" cy="21488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Цель и задачи работы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3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14173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Цель: </a:t>
            </a:r>
            <a:r>
              <a:rPr sz="1600" b="0" i="0">
                <a:solidFill>
                  <a:srgbClr val="1F2937"/>
                </a:solidFill>
                <a:latin typeface="Arial"/>
              </a:rPr>
              <a:t>автоматизация детектирования нефтяных разливов в акваториях арктических портов по данным Sentinel-1 за счёт трёхклассовой нейросетевой модели семантической сегментации, обеспечивающей F1-меру для класса «нефть» не ниже 0,85.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Задачи: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1188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648456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Выявить ограничения существующих методов и обосновать выбор архитектуры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27024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306824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Разработать методику формирования датасета и обучить модель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9286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965192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Реализовать программный прототип — модульный конвейер обработки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58698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Провести экспериментальную оценку и сравнительный анализ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Существующие методы и их ограничения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4 /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27078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15207"/>
                <a:gridCol w="1748332"/>
                <a:gridCol w="1857603"/>
                <a:gridCol w="1966874"/>
                <a:gridCol w="1639062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Метод / работа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Тип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Многоклассо-
вость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Учёт ложных
целей льда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Арктич.
данные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Метод Оцу (2024)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U-Net, Krestenitis (2019)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бинарн.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GLCM + CNN (2025)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текстуры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частично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DeepLabV3+ scSE (наст. работа)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3 класса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983480"/>
            <a:ext cx="10241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563EB"/>
                </a:solidFill>
                <a:latin typeface="Arial"/>
              </a:rPr>
              <a:t>Вывод: </a:t>
            </a:r>
            <a:r>
              <a:rPr sz="1400" b="0" i="0">
                <a:solidFill>
                  <a:srgbClr val="1F2937"/>
                </a:solidFill>
                <a:latin typeface="Arial"/>
              </a:rPr>
              <a:t>во всех аналогах — бинарная схема, нет отдельного класса льда → до 70 % ложных тревог в арктических акваториях.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Конвейер обработки SAR-данных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5 / 13</a:t>
            </a:r>
          </a:p>
        </p:txBody>
      </p:sp>
      <p:pic>
        <p:nvPicPr>
          <p:cNvPr id="7" name="Picture 6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49677"/>
            <a:ext cx="11475720" cy="414736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Датасет и обучение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6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2937"/>
                </a:solidFill>
                <a:latin typeface="Arial"/>
              </a:rPr>
              <a:t>1125 сцен → 4128 тайлов 256×256</a:t>
            </a:r>
          </a:p>
        </p:txBody>
      </p:sp>
      <p:pic>
        <p:nvPicPr>
          <p:cNvPr id="8" name="Picture 7" descr="fig_class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070" y="1874519"/>
            <a:ext cx="3348339" cy="3657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623560"/>
            <a:ext cx="5394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1112 сцен MKLab Krestenitis + 13 собственных сцен Кольского залива; деление 70 / 20 / 10 на уровне сцен.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50876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2937"/>
                </a:solidFill>
                <a:latin typeface="Arial"/>
              </a:rPr>
              <a:t>Сходимость: 78 эпох, лучшее mIoU = 0,84</a:t>
            </a:r>
          </a:p>
        </p:txBody>
      </p:sp>
      <p:pic>
        <p:nvPicPr>
          <p:cNvPr id="11" name="Picture 10" descr="fig_trai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054490"/>
            <a:ext cx="5394960" cy="210893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309360" y="4617720"/>
            <a:ext cx="5257800" cy="1600200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4617720"/>
            <a:ext cx="82296" cy="1600200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4754880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5331F"/>
                </a:solidFill>
                <a:latin typeface="Arial"/>
              </a:rPr>
              <a:t>Главная сложность — дисбаланс классов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Пиксели нефти — менее 2,4 %. Решение: взвешенная Dice-BCE, вес класса «нефть» повышен до 9,8.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Результаты на тестовой выборке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7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82296" cy="10515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5564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563EB"/>
                </a:solidFill>
                <a:latin typeface="Arial"/>
              </a:rPr>
              <a:t>F1 = 0,89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042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класс «нефть»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3464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834640"/>
            <a:ext cx="82296" cy="1051560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94436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7A"/>
                </a:solidFill>
                <a:latin typeface="Arial"/>
              </a:rPr>
              <a:t>mIoU = 0,82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9300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средняя по классам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2336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023360"/>
            <a:ext cx="82296" cy="105156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13308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52"/>
                </a:solidFill>
                <a:latin typeface="Arial"/>
              </a:rPr>
              <a:t>95,8 %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68172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общая точность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257800"/>
            <a:ext cx="4846320" cy="96012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257800"/>
            <a:ext cx="82296" cy="96012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413248"/>
            <a:ext cx="4389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52"/>
                </a:solidFill>
                <a:latin typeface="Arial"/>
              </a:rPr>
              <a:t>Целевой критерий F1 ≥ 0,85 выполнен ✓</a:t>
            </a:r>
          </a:p>
        </p:txBody>
      </p:sp>
      <p:pic>
        <p:nvPicPr>
          <p:cNvPr id="22" name="Picture 21" descr="fig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1755" y="1554480"/>
            <a:ext cx="5201529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Сравнение с методами-аналогами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8 / 13</a:t>
            </a:r>
          </a:p>
        </p:txBody>
      </p:sp>
      <p:pic>
        <p:nvPicPr>
          <p:cNvPr id="7" name="Picture 6" descr="fi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9327"/>
            <a:ext cx="7315200" cy="38166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20116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+0,18 к F1</a:t>
            </a:r>
            <a:r>
              <a:rPr sz="1500" b="0">
                <a:solidFill>
                  <a:srgbClr val="1F2937"/>
                </a:solidFill>
                <a:latin typeface="Arial"/>
              </a:rPr>
              <a:t> по сравнению с пороговым методом Оцу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Превосходство</a:t>
            </a:r>
            <a:r>
              <a:rPr sz="1500" b="0">
                <a:solidFill>
                  <a:srgbClr val="1F2937"/>
                </a:solidFill>
                <a:latin typeface="Arial"/>
              </a:rPr>
              <a:t> над всеми 4 альтернативными методами по всем метрикам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Прирост</a:t>
            </a:r>
            <a:r>
              <a:rPr sz="1500" b="0">
                <a:solidFill>
                  <a:srgbClr val="1F2937"/>
                </a:solidFill>
                <a:latin typeface="Arial"/>
              </a:rPr>
              <a:t> за счёт scSE-внимания и трёхклассовой схемы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Переносимость на другие акватории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9 / 13</a:t>
            </a:r>
          </a:p>
        </p:txBody>
      </p:sp>
      <p:pic>
        <p:nvPicPr>
          <p:cNvPr id="7" name="Picture 6" descr="fig_ports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87583"/>
            <a:ext cx="7315200" cy="41801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1920240"/>
            <a:ext cx="35661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Кольский залив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0,89 (обучение)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Варандей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0,84 (перенос)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Сабетта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0,76 (перенос)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4206240"/>
            <a:ext cx="3520440" cy="182880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38160" y="4206240"/>
            <a:ext cx="82296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4370832"/>
            <a:ext cx="3154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Вывод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Методика принципиально применима; для тяжёлых ледовых акваторий требуется целевое дообучение.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ВЕТРОВЫЕ ТЕНИ И БИОГЕННЫЕ ПЛЁНКИ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Порт Печенга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10 / 13</a:t>
            </a:r>
          </a:p>
        </p:txBody>
      </p:sp>
      <p:pic>
        <p:nvPicPr>
          <p:cNvPr id="8" name="Picture 7" descr="fig_pechen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770" y="1325880"/>
            <a:ext cx="674370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ПЕРВОГОДНИЙ ДРЕЙФУЮЩИЙ ЛЁД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Терминал Варандей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11 / 13</a:t>
            </a:r>
          </a:p>
        </p:txBody>
      </p:sp>
      <p:pic>
        <p:nvPicPr>
          <p:cNvPr id="8" name="Picture 7" descr="fig_varand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770" y="1325880"/>
            <a:ext cx="674370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ЖИРОВОЙ И НИЛАСОВЫЙ ЛЁД, ПРИПАЙ — НАИБОЛЕЕ СЛОЖНАЯ АКВАТОРИЯ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Порт Сабетта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12 / 13</a:t>
            </a:r>
          </a:p>
        </p:txBody>
      </p:sp>
      <p:pic>
        <p:nvPicPr>
          <p:cNvPr id="8" name="Picture 7" descr="fig_sabet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770" y="1325880"/>
            <a:ext cx="674370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Заключение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13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86868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86868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27632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Цель достигнута: </a:t>
            </a:r>
            <a:r>
              <a:rPr sz="1700" b="0" i="0">
                <a:solidFill>
                  <a:srgbClr val="1F2937"/>
                </a:solidFill>
                <a:latin typeface="Arial"/>
              </a:rPr>
              <a:t>F1 = 0,89 при целевом критерии ≥ 0,85. Все четыре задачи решены.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24328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Систематизированы ограничения методов, обоснован выбор архитектуры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7296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91256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Создан комбинированный датасет с оригинальной трёхклассовой разметкой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989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Реализован программный прототип-конвейер обработки SAR-сцен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0682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325112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Экспериментально подтверждено превосходство над пороговыми методами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029200"/>
            <a:ext cx="10927080" cy="11887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029200"/>
            <a:ext cx="82296" cy="1188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193792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Практическая значимость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Применимость в системах экологического мониторинга арктических портов — в интересах Росприроднадзора, МЧС, «Морспасслужбы» и мониторинга Северного морского пути.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DeepLabV3+ с энкодером ResNet-50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В.1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673352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Энкодер ResNet-50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извлечение признаков из SAR-тайла 256×256; предобучен на ImageNet, адаптирован к 1-канальному входу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77063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752344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ASPP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Atrous Spatial Pyramid Pooling — параллельные свёртки с коэффициентами разрежения 6/12/18 + image-level pooling: охват разномасштабного контекста пятен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84962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831336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scSE-внимание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spatial + channel Squeeze-and-Excitation: усиление информативных каналов и пространственных зон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9286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910328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Декодер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объединение низко- и высокоуровневых признаков, апсемплинг до исходного разрешения, попиксельная классификация на 3 класса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Функция потерь и гиперпараметры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В.2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Arial"/>
              </a:rPr>
              <a:t>Комбинированная функция потерь Dice-BCE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L = L_Dice + L_BCE с весами классов для устранения дисбаланса. Dice работает с перекрытием масок, BCE — с попиксельной вероятностью.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3291840"/>
          <a:ext cx="36576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Класс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Вес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вода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нефть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9,8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лёд + суша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0" y="16002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Arial"/>
              </a:rPr>
              <a:t>Параметры обучения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031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Оптимизатор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10312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AdamW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700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Learning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267004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1·10⁻⁴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23697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Weight decay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3236976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1·10⁻⁴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80390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Расписание LR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3803904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ReduceLROnPlateau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3708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Эпохи / batch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4370832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100 / 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93776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Аугментации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493776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повороты, отражения, TTA ×4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Предобработка SAR в ESA SNAP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В.3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737360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728216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Apply Orbit File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уточнение параметров орбиты спутника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450592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41448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Thermal Noise Removal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удаление теплового шума сенсора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163824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4680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Радиометрическая калибровка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перевод в σ⁰ (коэффициент обратного рассеяния)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877056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867912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Фильтр Ли 7×7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подавление спекл-шума с сохранением границ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590288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581144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Range-Doppler коррекция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геометрическая привязка к местности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303520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5294376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Перевод в дБ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линейные σ⁰ → логарифмическая шкала (дБ)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Ответы на замечания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В.4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10927080" cy="2103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82296" cy="2103120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92808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B5331F"/>
                </a:solidFill>
                <a:latin typeface="Arial"/>
              </a:rPr>
              <a:t>Замечание 1: влияние VH-канала не рассмотрено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59736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937"/>
                </a:solidFill>
                <a:latin typeface="Arial"/>
              </a:rPr>
              <a:t>Датасет MKLab Krestenitis (1112 сцен — основа обучения) предоставляется только в канале VV; включение VH ограничено доступностью исходных данных. Блоки scSE-внимания частично компенсируют ограничение через контекстную пространственную фокусировку. Кросс-поляризационная ветвь запланирована как направление дальнейших исследований.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069080"/>
            <a:ext cx="10927080" cy="2103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069080"/>
            <a:ext cx="82296" cy="21031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270248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Замечание 2: расширение тестовой выборки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837176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937"/>
                </a:solidFill>
                <a:latin typeface="Arial"/>
              </a:rPr>
              <a:t>Деградация F1: 0,89 (Кольский) → 0,84 (Варандей) → 0,76 (Сабетта) зафиксирована и подробно проанализирована в §4.4 ВКР. Сабетта — наиболее сложная акватория (жировой и ниласовый лёд + припай). Ближайший шаг: целевое дообучение на 10–15 дополнительных сценах Сабетты.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Спасибо за внимание!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9FB2D0"/>
                </a:solidFill>
                <a:latin typeface="Arial"/>
              </a:rPr>
              <a:t>Готов ответить на ваши вопросы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572000"/>
            <a:ext cx="38100" cy="1005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Байханов Владислав Камолович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2D0"/>
                </a:solidFill>
                <a:latin typeface="Arial"/>
              </a:rPr>
              <a:t>Санкт-Петербургский государственный университет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