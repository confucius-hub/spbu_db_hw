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447"/>
              </a:gs>
              <a:gs pos="100000">
                <a:srgbClr val="163A6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Санкт-Петербургский государственный университет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411480"/>
            <a:ext cx="1371600" cy="411480"/>
          </a:xfrm>
          <a:prstGeom prst="roundRect">
            <a:avLst/>
          </a:prstGeom>
          <a:solidFill>
            <a:srgbClr val="0E2447"/>
          </a:solidFill>
          <a:ln w="12700">
            <a:solidFill>
              <a:srgbClr val="4B6A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rial"/>
              </a:rPr>
              <a:t>Июнь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FB4F5"/>
                </a:solidFill>
                <a:latin typeface="Arial"/>
              </a:rPr>
              <a:t>ВЫПУСКНАЯ КВАЛИФИКАЦИОННАЯ РАБОТА · МАГИСТЕРСКАЯ ДИССЕРТАЦИЯ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Разработка системы автоматического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детектирования нефтяных разливов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в акваториях арктических портов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по данным спутниковой радиолокационной съёмки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92040"/>
            <a:ext cx="38100" cy="1280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8920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Байханов
Владислав Камолович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71500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D0"/>
                </a:solidFill>
                <a:latin typeface="Arial"/>
              </a:rPr>
              <a:t>Выпускник магистратуры,
программа «Искусственный
интеллект и наука о данных»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892040"/>
            <a:ext cx="38100" cy="1280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48920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9D6EC"/>
                </a:solidFill>
                <a:latin typeface="Arial"/>
              </a:rPr>
              <a:t>Митько
Арсений Валерьевич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571500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D0"/>
                </a:solidFill>
                <a:latin typeface="Arial"/>
              </a:rPr>
              <a:t>Научный руководитель,
к.т.н., доцент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4892040"/>
            <a:ext cx="38100" cy="1280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489204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9D6EC"/>
                </a:solidFill>
                <a:latin typeface="Arial"/>
              </a:rPr>
              <a:t>Филиппова
Надежда Анатольевна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571500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2D0"/>
                </a:solidFill>
                <a:latin typeface="Arial"/>
              </a:rPr>
              <a:t>Рецензент,
д.т.н., профессор, МАДИ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Актуальность и проблема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697480" cy="12070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82296" cy="1207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Arial"/>
              </a:rPr>
              <a:t>&gt; 700 тыс. т/год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Arial"/>
              </a:rPr>
              <a:t>углеводородов в Мировой океан
ежегодно; доля Арктики растёт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417320"/>
            <a:ext cx="2697480" cy="12070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417320"/>
            <a:ext cx="82296" cy="1207008"/>
          </a:xfrm>
          <a:prstGeom prst="rect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527048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D7A"/>
                </a:solidFill>
                <a:latin typeface="Arial"/>
              </a:rPr>
              <a:t>В 5–10 раз медленнее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0116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Arial"/>
              </a:rPr>
              <a:t>разлагается нефть в холодных
водах → долгосрочный ущерб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34056"/>
            <a:ext cx="2697480" cy="12070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34056"/>
            <a:ext cx="82296" cy="1207008"/>
          </a:xfrm>
          <a:prstGeom prst="rect">
            <a:avLst/>
          </a:prstGeom>
          <a:solidFill>
            <a:srgbClr val="B53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84378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5331F"/>
                </a:solidFill>
                <a:latin typeface="Arial"/>
              </a:rPr>
              <a:t>&gt; 80 % времени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28416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Arial"/>
              </a:rPr>
              <a:t>облачность и полярная ночь:
оптические спутники бесполезны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2152" y="2734056"/>
            <a:ext cx="2697480" cy="12070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2152" y="2734056"/>
            <a:ext cx="82296" cy="1207008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2843784"/>
            <a:ext cx="2423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D52"/>
                </a:solidFill>
                <a:latin typeface="Arial"/>
              </a:rPr>
              <a:t>Sentinel-1 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328416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Arial"/>
              </a:rPr>
              <a:t>всепогодный круглосуточный
мониторинг — единственный выход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577840" cy="2523744"/>
          </a:xfrm>
          <a:prstGeom prst="roundRect">
            <a:avLst/>
          </a:prstGeom>
          <a:solidFill>
            <a:srgbClr val="FDF0EE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82296" cy="2523744"/>
          </a:xfrm>
          <a:prstGeom prst="rect">
            <a:avLst/>
          </a:prstGeom>
          <a:solidFill>
            <a:srgbClr val="B53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002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5331F"/>
                </a:solidFill>
                <a:latin typeface="Arial"/>
              </a:rPr>
              <a:t>Главная проблема: ложные цели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12848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7"/>
                </a:solidFill>
                <a:latin typeface="Arial"/>
              </a:rPr>
              <a:t>Лёд, биоплёнки и штиль дают тёмные пятна — неотличимые от нефти на SAR-снимке. У классических методов до 70 % ложных срабатываний.
→ Нужна трёхклассовая модель: вода / нефть / лёд+суша.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78224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Кольский залив, Sentinel-1 2024 — временно́й ряд детектирования разлива мазута 11.09.2024</a:t>
            </a:r>
          </a:p>
        </p:txBody>
      </p:sp>
      <p:pic>
        <p:nvPicPr>
          <p:cNvPr id="28" name="Picture 27" descr="fig_ko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62" y="4407408"/>
            <a:ext cx="8561115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Цель и задачи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927080" cy="141732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82296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63EB"/>
                </a:solidFill>
                <a:latin typeface="Arial"/>
              </a:rPr>
              <a:t>Цель: </a:t>
            </a:r>
            <a:r>
              <a:rPr sz="1600" b="0" i="0">
                <a:solidFill>
                  <a:srgbClr val="1F2937"/>
                </a:solidFill>
                <a:latin typeface="Arial"/>
              </a:rPr>
              <a:t>автоматизация детектирования нефтяных разливов в акваториях арктических портов по данным Sentinel-1 за счёт трёхклассовой нейросетевой модели семантической сегментации, обеспечивающей F1-меру для класса «нефть» не ниже 0,85.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563EB"/>
                </a:solidFill>
                <a:latin typeface="Arial"/>
              </a:rPr>
              <a:t>Задачи: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48456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Выявить ограничения существующих методов и обосновать выбор архитектуры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7024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06824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Разработать методику формирования датасета и обучить модель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92861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6519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Реализовать программный прототип — модульный конвейер обработки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58698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Провести экспериментальную оценку и сравнительный анализ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Научная новизна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4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420624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4206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563EB"/>
                </a:solidFill>
                <a:latin typeface="Arial"/>
              </a:rPr>
              <a:t>Трёхклассовая схема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1">
                <a:solidFill>
                  <a:srgbClr val="6B7280"/>
                </a:solidFill>
                <a:latin typeface="Arial"/>
              </a:rPr>
              <a:t>вода / нефть / лёд + суша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0632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Вместо бинарной «нефть — фон» из всех известных работ. Начальные формы льда вынесены в отдельный класс — прямая борьба с главным источником ложных тревог в Арктике.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420624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82296" cy="4206240"/>
          </a:xfrm>
          <a:prstGeom prst="rect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7D7A"/>
                </a:solidFill>
                <a:latin typeface="Arial"/>
              </a:rPr>
              <a:t>Арктический датасет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1">
                <a:solidFill>
                  <a:srgbClr val="6B7280"/>
                </a:solidFill>
                <a:latin typeface="Arial"/>
              </a:rPr>
              <a:t>методика разметки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17520"/>
            <a:ext cx="30632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Полигональная разметка Кольского залива в QGIS с привлечением метеоданных реанализа ERA5 и навигационных данных AIS.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20440" cy="420624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82296" cy="420624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7D52"/>
                </a:solidFill>
                <a:latin typeface="Arial"/>
              </a:rPr>
              <a:t>Адаптация архитектуры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1">
                <a:solidFill>
                  <a:srgbClr val="6B7280"/>
                </a:solidFill>
                <a:latin typeface="Arial"/>
              </a:rPr>
              <a:t>DeepLabV3+ / scSE / Dice-BCE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0632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ResNet-50 с блоками внимания scSE адаптирован к одноканальным SAR-данным; дисбаланс классов устранён взвешенной функцией потерь.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Существующие методы и их ограничения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5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9270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5207"/>
                <a:gridCol w="1748332"/>
                <a:gridCol w="1857603"/>
                <a:gridCol w="1966874"/>
                <a:gridCol w="163906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40AF"/>
                          </a:solidFill>
                          <a:latin typeface="Arial"/>
                        </a:rPr>
                        <a:t>Метод / работа</a:t>
                      </a:r>
                    </a:p>
                  </a:txBody>
                  <a:tcPr marL="73152" marR="54864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40AF"/>
                          </a:solidFill>
                          <a:latin typeface="Arial"/>
                        </a:rPr>
                        <a:t>Тип</a:t>
                      </a:r>
                    </a:p>
                  </a:txBody>
                  <a:tcPr marL="73152" marR="54864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40AF"/>
                          </a:solidFill>
                          <a:latin typeface="Arial"/>
                        </a:rPr>
                        <a:t>Многоклассо-
вость</a:t>
                      </a:r>
                    </a:p>
                  </a:txBody>
                  <a:tcPr marL="73152" marR="54864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40AF"/>
                          </a:solidFill>
                          <a:latin typeface="Arial"/>
                        </a:rPr>
                        <a:t>Учёт ложных
целей льда</a:t>
                      </a:r>
                    </a:p>
                  </a:txBody>
                  <a:tcPr marL="73152" marR="54864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40AF"/>
                          </a:solidFill>
                          <a:latin typeface="Arial"/>
                        </a:rPr>
                        <a:t>Арктич.
данные</a:t>
                      </a:r>
                    </a:p>
                  </a:txBody>
                  <a:tcPr marL="73152" marR="54864" marT="27432" marB="27432" anchor="ctr">
                    <a:solidFill>
                      <a:srgbClr val="DBEA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Метод Оцу (2024)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порог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U-Net, Krestenitis (2019)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DL, бинарн.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GLCM + CNN (2025)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текстуры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частично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Порог μ−1,5σ (практика)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порог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DeepLabV3+ scSE (наст. работа)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DL, 3 класса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532120"/>
            <a:ext cx="10241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563EB"/>
                </a:solidFill>
                <a:latin typeface="Arial"/>
              </a:rPr>
              <a:t>Вывод: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во всех аналогах — бинарная схема, нет отдельного класса льда → до 70 % ложных тревог в арктических акваториях.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Архитектура решения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Трёхэтапный модульный конвейер обработки SAR-сцены</a:t>
            </a:r>
          </a:p>
        </p:txBody>
      </p:sp>
      <p:pic>
        <p:nvPicPr>
          <p:cNvPr id="8" name="Picture 7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96" y="2057400"/>
            <a:ext cx="8349448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349240"/>
            <a:ext cx="2606040" cy="96012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68112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Arial"/>
              </a:rPr>
              <a:t>65 сек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обработка одной сцены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5349240"/>
            <a:ext cx="2606040" cy="96012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5468112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Arial"/>
              </a:rPr>
              <a:t>Python · PyTorch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58978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стек реализации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5349240"/>
            <a:ext cx="2606040" cy="96012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5468112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Arial"/>
              </a:rPr>
              <a:t>NVIDIA RTX 3090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58978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вычисления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5349240"/>
            <a:ext cx="2606040" cy="96012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5468112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63EB"/>
                </a:solidFill>
                <a:latin typeface="Arial"/>
              </a:rPr>
              <a:t>Открытый код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58978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Датасет и обучение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rial"/>
              </a:rPr>
              <a:t>1125 сцен → 4128 тайлов 256×256</a:t>
            </a:r>
          </a:p>
        </p:txBody>
      </p:sp>
      <p:pic>
        <p:nvPicPr>
          <p:cNvPr id="8" name="Picture 7" descr="fig_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070" y="1874519"/>
            <a:ext cx="3348339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62356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1112 сцен MKLab Krestenitis + 13 собственных сцен Кольского залива; деление 70 / 20 / 10 на уровне сцен.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Arial"/>
              </a:rPr>
              <a:t>Сходимость: 78 эпох, лучшее mIoU = 0,84</a:t>
            </a:r>
          </a:p>
        </p:txBody>
      </p:sp>
      <p:pic>
        <p:nvPicPr>
          <p:cNvPr id="11" name="Picture 10" descr="fig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54490"/>
            <a:ext cx="5394960" cy="210893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4617720"/>
            <a:ext cx="5257800" cy="1600200"/>
          </a:xfrm>
          <a:prstGeom prst="roundRect">
            <a:avLst/>
          </a:prstGeom>
          <a:solidFill>
            <a:srgbClr val="FDF0EE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4617720"/>
            <a:ext cx="82296" cy="1600200"/>
          </a:xfrm>
          <a:prstGeom prst="rect">
            <a:avLst/>
          </a:prstGeom>
          <a:solidFill>
            <a:srgbClr val="B53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7548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5331F"/>
                </a:solidFill>
                <a:latin typeface="Arial"/>
              </a:rPr>
              <a:t>Главная сложность — дисбаланс классов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Arial"/>
              </a:rPr>
              <a:t>Пиксели нефти — менее 2,4 %. Решение: взвешенная Dice-BCE, вес класса «нефть» повышен до 9,8.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Результаты на тестовой выборке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4846320" cy="105156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5564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563EB"/>
                </a:solidFill>
                <a:latin typeface="Arial"/>
              </a:rPr>
              <a:t>F1 = 0,89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042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класс «нефть»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4846320" cy="105156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82296" cy="1051560"/>
          </a:xfrm>
          <a:prstGeom prst="rect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4436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7D7A"/>
                </a:solidFill>
                <a:latin typeface="Arial"/>
              </a:rPr>
              <a:t>mIoU = 0,82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9300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средняя по классам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4846320" cy="105156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23360"/>
            <a:ext cx="82296" cy="105156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33088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E7D52"/>
                </a:solidFill>
                <a:latin typeface="Arial"/>
              </a:rPr>
              <a:t>95,8 %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817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общая точность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4846320" cy="960120"/>
          </a:xfrm>
          <a:prstGeom prst="roundRect">
            <a:avLst/>
          </a:prstGeom>
          <a:solidFill>
            <a:srgbClr val="ECF7F0"/>
          </a:solidFill>
          <a:ln w="12700">
            <a:solidFill>
              <a:srgbClr val="C2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57800"/>
            <a:ext cx="82296" cy="96012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13248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52"/>
                </a:solidFill>
                <a:latin typeface="Arial"/>
              </a:rPr>
              <a:t>Целевой критерий F1 ≥ 0,85 выполнен ✓</a:t>
            </a:r>
          </a:p>
        </p:txBody>
      </p:sp>
      <p:pic>
        <p:nvPicPr>
          <p:cNvPr id="22" name="Picture 21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755" y="1554480"/>
            <a:ext cx="520152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Сравнение с методами-аналогами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9 / 18</a:t>
            </a:r>
          </a:p>
        </p:txBody>
      </p:sp>
      <p:pic>
        <p:nvPicPr>
          <p:cNvPr id="7" name="Picture 6" descr="fi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9327"/>
            <a:ext cx="7315200" cy="38166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011680"/>
            <a:ext cx="3566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+0,18 к F1</a:t>
            </a:r>
            <a:r>
              <a:rPr sz="1500" b="0">
                <a:solidFill>
                  <a:srgbClr val="1F2937"/>
                </a:solidFill>
                <a:latin typeface="Arial"/>
              </a:rPr>
              <a:t> по сравнению с пороговым методом Оцу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Превосходство</a:t>
            </a:r>
            <a:r>
              <a:rPr sz="1500" b="0">
                <a:solidFill>
                  <a:srgbClr val="1F2937"/>
                </a:solidFill>
                <a:latin typeface="Arial"/>
              </a:rPr>
              <a:t> над всеми 4 альтернативными методами по всем метрикам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Прирост</a:t>
            </a:r>
            <a:r>
              <a:rPr sz="1500" b="0">
                <a:solidFill>
                  <a:srgbClr val="1F2937"/>
                </a:solidFill>
                <a:latin typeface="Arial"/>
              </a:rPr>
              <a:t> за счёт scSE-внимания и трёхклассовой схемы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Переносимость на другие акватории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10 / 18</a:t>
            </a:r>
          </a:p>
        </p:txBody>
      </p:sp>
      <p:pic>
        <p:nvPicPr>
          <p:cNvPr id="7" name="Picture 6" descr="fig_port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7583"/>
            <a:ext cx="7315200" cy="41801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1920240"/>
            <a:ext cx="3566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563EB"/>
                </a:solidFill>
                <a:latin typeface="Arial"/>
              </a:rPr>
              <a:t>•  </a:t>
            </a:r>
            <a:r>
              <a:rPr sz="1600" b="1">
                <a:solidFill>
                  <a:srgbClr val="1F2937"/>
                </a:solidFill>
                <a:latin typeface="Arial"/>
              </a:rPr>
              <a:t>Кольский залив</a:t>
            </a:r>
            <a:r>
              <a:rPr sz="1600" b="0">
                <a:solidFill>
                  <a:srgbClr val="1F2937"/>
                </a:solidFill>
                <a:latin typeface="Arial"/>
              </a:rPr>
              <a:t> — F1 = 0,89 (обучение)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563EB"/>
                </a:solidFill>
                <a:latin typeface="Arial"/>
              </a:rPr>
              <a:t>•  </a:t>
            </a:r>
            <a:r>
              <a:rPr sz="1600" b="1">
                <a:solidFill>
                  <a:srgbClr val="1F2937"/>
                </a:solidFill>
                <a:latin typeface="Arial"/>
              </a:rPr>
              <a:t>Варандей</a:t>
            </a:r>
            <a:r>
              <a:rPr sz="1600" b="0">
                <a:solidFill>
                  <a:srgbClr val="1F2937"/>
                </a:solidFill>
                <a:latin typeface="Arial"/>
              </a:rPr>
              <a:t> — F1 = 0,84 (перенос)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2563EB"/>
                </a:solidFill>
                <a:latin typeface="Arial"/>
              </a:rPr>
              <a:t>•  </a:t>
            </a:r>
            <a:r>
              <a:rPr sz="1600" b="1">
                <a:solidFill>
                  <a:srgbClr val="1F2937"/>
                </a:solidFill>
                <a:latin typeface="Arial"/>
              </a:rPr>
              <a:t>Сабетта</a:t>
            </a:r>
            <a:r>
              <a:rPr sz="1600" b="0">
                <a:solidFill>
                  <a:srgbClr val="1F2937"/>
                </a:solidFill>
                <a:latin typeface="Arial"/>
              </a:rPr>
              <a:t> — F1 = 0,76 (перенос)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206240"/>
            <a:ext cx="3520440" cy="182880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4206240"/>
            <a:ext cx="82296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4370832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563EB"/>
                </a:solidFill>
                <a:latin typeface="Arial"/>
              </a:rPr>
              <a:t>Вывод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Arial"/>
              </a:rPr>
              <a:t>Методика принципиально применима; для тяжёлых ледовых акваторий требуется целевое дообучение.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Типы ложных целей по акваториям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11 / 18</a:t>
            </a:r>
          </a:p>
        </p:txBody>
      </p:sp>
      <p:pic>
        <p:nvPicPr>
          <p:cNvPr id="7" name="Picture 6" descr="fig_varand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4864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619963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Варандей: разметка look-alike и детекция тёмных зон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5212080" cy="123444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82296" cy="1234440"/>
          </a:xfrm>
          <a:prstGeom prst="rect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E7D7A"/>
                </a:solidFill>
                <a:latin typeface="Arial"/>
              </a:rPr>
              <a:t>Печенга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Arial"/>
              </a:rPr>
              <a:t>безлёдный тип: ветровые тени и биогенные плёнки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5212080" cy="123444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82296" cy="1234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1927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563EB"/>
                </a:solidFill>
                <a:latin typeface="Arial"/>
              </a:rPr>
              <a:t>Варандей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Arial"/>
              </a:rPr>
              <a:t>сезонный первогодний дрейфующий лёд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5212080" cy="123444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72000"/>
            <a:ext cx="82296" cy="1234440"/>
          </a:xfrm>
          <a:prstGeom prst="rect">
            <a:avLst/>
          </a:prstGeom>
          <a:solidFill>
            <a:srgbClr val="B53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3659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B5331F"/>
                </a:solidFill>
                <a:latin typeface="Arial"/>
              </a:rPr>
              <a:t>Сабетта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  <a:latin typeface="Arial"/>
              </a:rPr>
              <a:t>жировой и ниласовый лёд, припай — самая сложная акватория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Заключение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24128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927080" cy="868680"/>
          </a:xfrm>
          <a:prstGeom prst="roundRect">
            <a:avLst/>
          </a:prstGeom>
          <a:solidFill>
            <a:srgbClr val="ECF7F0"/>
          </a:solidFill>
          <a:ln w="12700">
            <a:solidFill>
              <a:srgbClr val="C2E5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82296" cy="86868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7D52"/>
                </a:solidFill>
                <a:latin typeface="Arial"/>
              </a:rPr>
              <a:t>Цель достигнута: </a:t>
            </a:r>
            <a:r>
              <a:rPr sz="1700" b="0" i="0">
                <a:solidFill>
                  <a:srgbClr val="1F2937"/>
                </a:solidFill>
                <a:latin typeface="Arial"/>
              </a:rPr>
              <a:t>F1 = 0,89 при целевом критерии ≥ 0,85. Все четыре задачи решены.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7D52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24328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Систематизированы ограничения методов, обоснован выбор архитектуры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729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7D52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9125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Создан комбинированный датасет с оригинальной трёхклассовой разметкой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39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7D52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Реализован программный прототип-конвейер, код в открытом доступе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0682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7D52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25112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Экспериментально подтверждено превосходство над пороговыми методами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10927080" cy="1188720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29200"/>
            <a:ext cx="82296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9379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563EB"/>
                </a:solidFill>
                <a:latin typeface="Arial"/>
              </a:rPr>
              <a:t>Практическая значимость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Применимость в системах экологического мониторинга арктических портов — в интересах Росприроднадзора, МЧС, «Морспасслужбы» и мониторинга Северного морского пути.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447"/>
              </a:gs>
              <a:gs pos="100000">
                <a:srgbClr val="163A6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9FB2D0"/>
                </a:solidFill>
                <a:latin typeface="Arial"/>
              </a:rPr>
              <a:t>Готов ответить на ваши вопросы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72000"/>
            <a:ext cx="38100" cy="1005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Байханов Владислав Камолович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2D0"/>
                </a:solidFill>
                <a:latin typeface="Arial"/>
              </a:rPr>
              <a:t>Санкт-Петербургский государственный университет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DeepLabV3+ с энкодером ResNet-50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14 / 18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73352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Энкодер ResNet-50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извлечение признаков из SAR-тайла 256×256; предобучен на ImageNet, адаптирован к 1-канальному входу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7063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52344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ASPP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Atrous Spatial Pyramid Pooling — параллельные свёртки с коэффициентами разрежения 6/12/18 + image-level pooling: охват разномасштабного контекста пятен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4962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31336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scSE-внимание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spatial + channel Squeeze-and-Excitation: усиление информативных каналов и пространственных зон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2861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1032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Декодер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объединение низко- и высокоуровневых признаков, апсемплинг до исходного разрешения, попиксельная классификация на 3 класса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Функция потерь и гиперпараметры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Комбинированная функция потерь Dice-BCE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L = L_Dice + L_BCE с весами классов для устранения дисбаланса. Dice работает с перекрытием масок, BCE — с попиксельной вероятностью.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91840"/>
          <a:ext cx="3657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40AF"/>
                          </a:solidFill>
                          <a:latin typeface="Arial"/>
                        </a:rPr>
                        <a:t>Класс</a:t>
                      </a:r>
                    </a:p>
                  </a:txBody>
                  <a:tcPr marL="73152" marR="54864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40AF"/>
                          </a:solidFill>
                          <a:latin typeface="Arial"/>
                        </a:rPr>
                        <a:t>Вес</a:t>
                      </a:r>
                    </a:p>
                  </a:txBody>
                  <a:tcPr marL="73152" marR="54864" marT="27432" marB="27432" anchor="ctr">
                    <a:solidFill>
                      <a:srgbClr val="DBEA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вода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нефть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лёд + суша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Параметры обучения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Оптимизатор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103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AdamW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700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Learning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700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1·10⁻⁴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3697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Weight decay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2369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1·10⁻⁴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0390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Расписание LR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8039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ReduceLROnPlateau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708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Эпохи / 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3708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100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Аугментации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9377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повороты, отражения, TTA ×4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Предобработка SAR в ESA SNAP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16 / 18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28216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Apply Orbit File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уточнение параметров орбиты спутника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450592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41448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Thermal Noise Removal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удаление теплового шума сенсора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63824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5468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Радиометрическая калибровка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перевод в σ⁰ (коэффициент обратного рассеяния)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77056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67912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Фильтр Ли 7×7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подавление спекл-шума с сохранением границ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590288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81144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Range-Doppler коррекция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геометрическая привязка к местности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303520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94376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Перевод в дБ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логарифмическая шкала [−35; 0] дБ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Метрики оценки качества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17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Precision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доля верных среди предсказанных пикселей «нефть»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79192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79192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25496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Recall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доля найденных среди всех истинных пикселей «нефть»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75304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75304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21608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F1-score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гармоническое среднее Precision и Recall — основная метрика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71416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471416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IoU / mIoU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отношение пересечения к объединению масок; mIoU — среднее по классам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67528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367528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2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Accuracy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доля верно классифицированных пикселей всех классов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Разбор матрицы ошибок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18 / 18</a:t>
            </a:r>
          </a:p>
        </p:txBody>
      </p:sp>
      <p:pic>
        <p:nvPicPr>
          <p:cNvPr id="8" name="Picture 7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5" y="1554480"/>
            <a:ext cx="5201529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Основная ошибка</a:t>
            </a:r>
            <a:r>
              <a:rPr sz="1500" b="0">
                <a:solidFill>
                  <a:srgbClr val="1F2937"/>
                </a:solidFill>
                <a:latin typeface="Arial"/>
              </a:rPr>
              <a:t> — 8,4 % пикселей нефти отнесены к «лёд + суша»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Причина</a:t>
            </a:r>
            <a:r>
              <a:rPr sz="1500" b="0">
                <a:solidFill>
                  <a:srgbClr val="1F2937"/>
                </a:solidFill>
                <a:latin typeface="Arial"/>
              </a:rPr>
              <a:t> — физически схожие тёмные сигнатуры обратного рассеяния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Класс «вода»</a:t>
            </a:r>
            <a:r>
              <a:rPr sz="1500" b="0">
                <a:solidFill>
                  <a:srgbClr val="1F2937"/>
                </a:solidFill>
                <a:latin typeface="Arial"/>
              </a:rPr>
              <a:t> распознаётся с точностью 96,2 %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Класс «лёд + суша»</a:t>
            </a:r>
            <a:r>
              <a:rPr sz="1500" b="0">
                <a:solidFill>
                  <a:srgbClr val="1F2937"/>
                </a:solidFill>
                <a:latin typeface="Arial"/>
              </a:rPr>
              <a:t> — 96,0 %; смешение с нефтью лишь 2,7 %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Вывод</a:t>
            </a:r>
            <a:r>
              <a:rPr sz="1500" b="0">
                <a:solidFill>
                  <a:srgbClr val="1F2937"/>
                </a:solidFill>
                <a:latin typeface="Arial"/>
              </a:rPr>
              <a:t> — модель устойчиво разделяет три класса; остаточная путаница ожидаема физически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