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Санкт-Петербургский государственный университет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411480"/>
            <a:ext cx="1371600" cy="411480"/>
          </a:xfrm>
          <a:prstGeom prst="roundRect">
            <a:avLst/>
          </a:prstGeom>
          <a:solidFill>
            <a:srgbClr val="0E2447"/>
          </a:solidFill>
          <a:ln w="12700">
            <a:solidFill>
              <a:srgbClr val="4B6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Arial"/>
              </a:rPr>
              <a:t>Июнь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FB4F5"/>
                </a:solidFill>
                <a:latin typeface="Arial"/>
              </a:rPr>
              <a:t>ВЫПУСКНАЯ КВАЛИФИКАЦИОННАЯ РАБОТА · МАГИСТЕРСКАЯ ДИССЕРТАЦИЯ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Разработка системы автоматического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детектирования нефтяных разливов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в акваториях арктических портов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по данным спутниковой радиолокационной съёмки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Байханов
Владислав Камолович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Выпускник магистратуры,
программа «Искусственный
интеллект и наука о данных»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Митько
Арсений Валерьевич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Научный руководитель,
к.т.н., доцент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6851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Филиппова
Надежда Анатольевна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6851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Рецензент,
д.т.н., профессор, МАДИ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Актуальность и 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2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82296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&gt; 700 тыс. т/год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углеводородов в Мировой океан
ежегодно; доля Арктики растёт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02152" y="1417320"/>
            <a:ext cx="82296" cy="1207008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0752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7A"/>
                </a:solidFill>
                <a:latin typeface="Arial"/>
              </a:rPr>
              <a:t>В 5–10 раз медленнее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разлагается нефть в холодных
водах → долгосрочный ущерб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734056"/>
            <a:ext cx="82296" cy="1207008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5331F"/>
                </a:solidFill>
                <a:latin typeface="Arial"/>
              </a:rPr>
              <a:t>&gt; 80 % времени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облачность и полярная ночь:
оптические спутники бесполезны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2152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2152" y="2734056"/>
            <a:ext cx="82296" cy="1207008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0752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52"/>
                </a:solidFill>
                <a:latin typeface="Arial"/>
              </a:rPr>
              <a:t>Sentinel-1 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всепогодный круглосуточный
мониторинг — единственный выход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17320"/>
            <a:ext cx="5577840" cy="2523744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1417320"/>
            <a:ext cx="82296" cy="2523744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6002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Главная проблема: ложные цели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212848"/>
            <a:ext cx="5120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Лёд, биоплёнки и штиль дают тёмные пятна — неотличимые от нефти на SAR-снимке. У классических методов до 70 % ложных срабатываний.
→ Нужна трёхклассовая модель: вода / нефть / лёд+суша.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078224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Кольский залив, Sentinel-1 2024 — временно́й ряд детектирования разлива мазута 11.09.2024</a:t>
            </a:r>
          </a:p>
        </p:txBody>
      </p:sp>
      <p:pic>
        <p:nvPicPr>
          <p:cNvPr id="28" name="Picture 27" descr="fig_k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062" y="4407408"/>
            <a:ext cx="8561115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Цель и задачи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3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14173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Цель: </a:t>
            </a:r>
            <a:r>
              <a:rPr sz="1600" b="0" i="0">
                <a:solidFill>
                  <a:srgbClr val="1F2937"/>
                </a:solidFill>
                <a:latin typeface="Arial"/>
              </a:rPr>
              <a:t>автоматизация детектирования нефтяных разливов в акваториях арктических портов по данным Sentinel-1 за счёт трёхклассовой нейросетевой модели семантической сегментации, обеспечивающей F1-меру для класса «нефть» не ниже 0,85.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Задачи: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48456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Выявить ограничения существующих методов и обосновать выбор архитектуры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306824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Разработать методику формирования датасета и обучить модель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65192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Реализовать программный прототип — модульный конвейер обработки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58698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Провести экспериментальную оценку и сравнительный анализ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Научная новизна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4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82296" cy="4206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563EB"/>
                </a:solidFill>
                <a:latin typeface="Arial"/>
              </a:rPr>
              <a:t>Трёхклассовая схема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вода / нефть / лёд + суша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Вместо бинарной «нефть — фон» из всех известных работ. Начальные формы льда вынесены в отдельный класс — прямая борьба с главным источником ложных тревог в Арктике.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600200"/>
            <a:ext cx="82296" cy="420624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7D7A"/>
                </a:solidFill>
                <a:latin typeface="Arial"/>
              </a:rPr>
              <a:t>Арктический датасет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методика разметки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Полигональная разметка Кольского залива в QGIS с привлечением метеоданных реанализа ERA5 и навигационных данных AIS.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600200"/>
            <a:ext cx="82296" cy="420624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7D52"/>
                </a:solidFill>
                <a:latin typeface="Arial"/>
              </a:rPr>
              <a:t>Адаптация архитектуры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DeepLabV3+ / scSE / Dice-BCE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ResNet-50 с блоками внимания scSE адаптирован к одноканальным SAR-данным; дисбаланс классов устранён взвешенной функцией потерь.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Существующие методы и их ограничения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5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27078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5207"/>
                <a:gridCol w="1748332"/>
                <a:gridCol w="1857603"/>
                <a:gridCol w="1966874"/>
                <a:gridCol w="1639062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Метод / работа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Многоклассо-
вость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Учёт ложных
целей льда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Арктич.
данные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Метод Оцу (2024)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U-Net, Krestenitis (2019)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бинарн.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GLCM + CNN (2025)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текстуры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частично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 μ−1,5σ (практика)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DeepLabV3+ scSE (наст. работа)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3 класса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532120"/>
            <a:ext cx="10241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563EB"/>
                </a:solidFill>
                <a:latin typeface="Arial"/>
              </a:rPr>
              <a:t>Вывод: </a:t>
            </a:r>
            <a:r>
              <a:rPr sz="1400" b="0" i="0">
                <a:solidFill>
                  <a:srgbClr val="1F2937"/>
                </a:solidFill>
                <a:latin typeface="Arial"/>
              </a:rPr>
              <a:t>во всех аналогах — бинарная схема, нет отдельного класса льда → до 70 % ложных тревог в арктических акваториях.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Архитектура решения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6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Трёхэтапный модульный конвейер обработки SAR-сцены</a:t>
            </a:r>
          </a:p>
        </p:txBody>
      </p:sp>
      <p:pic>
        <p:nvPicPr>
          <p:cNvPr id="8" name="Picture 7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896" y="2057400"/>
            <a:ext cx="8349448" cy="30175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65 сек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обработка одной сцены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0712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Python · PyTorch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стек реализации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NVIDIA RTX 3090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1344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вычисления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51976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Код на GitHub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1976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по запросу к автору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Датасет и обучение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7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1125 сцен → 4128 тайлов 256×256</a:t>
            </a:r>
          </a:p>
        </p:txBody>
      </p:sp>
      <p:pic>
        <p:nvPicPr>
          <p:cNvPr id="8" name="Picture 7" descr="fig_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070" y="1874519"/>
            <a:ext cx="3348339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62356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1112 сцен MKLab Krestenitis + 13 собственных сцен Кольского залива; деление 70 / 20 / 10 на уровне сцен.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Сходимость: 78 эпох, лучшее mIoU = 0,84</a:t>
            </a:r>
          </a:p>
        </p:txBody>
      </p:sp>
      <p:pic>
        <p:nvPicPr>
          <p:cNvPr id="11" name="Picture 10" descr="fig_trai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54490"/>
            <a:ext cx="5394960" cy="210893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309360" y="4617720"/>
            <a:ext cx="5257800" cy="160020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4617720"/>
            <a:ext cx="82296" cy="160020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475488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5331F"/>
                </a:solidFill>
                <a:latin typeface="Arial"/>
              </a:rPr>
              <a:t>Главная сложность — дисбаланс классов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Пиксели нефти — менее 2,4 %. Решение: взвешенная Dice-BCE, вес класса «нефть» повышен до 9,8.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Результаты на тестовой выборке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8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82296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5564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563EB"/>
                </a:solidFill>
                <a:latin typeface="Arial"/>
              </a:rPr>
              <a:t>F1 = 0,89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042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класс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34640"/>
            <a:ext cx="82296" cy="105156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44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7A"/>
                </a:solidFill>
                <a:latin typeface="Arial"/>
              </a:rPr>
              <a:t>mIoU = 0,82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9300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средняя по классам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23360"/>
            <a:ext cx="82296" cy="105156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52"/>
                </a:solidFill>
                <a:latin typeface="Arial"/>
              </a:rPr>
              <a:t>95,8 %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8172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общая точность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57800"/>
            <a:ext cx="4846320" cy="96012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257800"/>
            <a:ext cx="82296" cy="96012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13248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52"/>
                </a:solidFill>
                <a:latin typeface="Arial"/>
              </a:rPr>
              <a:t>Целевой критерий F1 ≥ 0,85 выполнен ✓</a:t>
            </a:r>
          </a:p>
        </p:txBody>
      </p:sp>
      <p:pic>
        <p:nvPicPr>
          <p:cNvPr id="22" name="Picture 21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1755" y="1554480"/>
            <a:ext cx="520152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Сравнение с методами-аналогами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9 / 14</a:t>
            </a:r>
          </a:p>
        </p:txBody>
      </p:sp>
      <p:pic>
        <p:nvPicPr>
          <p:cNvPr id="7" name="Picture 6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9327"/>
            <a:ext cx="7315200" cy="38166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20116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+0,18 к F1</a:t>
            </a:r>
            <a:r>
              <a:rPr sz="1500" b="0">
                <a:solidFill>
                  <a:srgbClr val="1F2937"/>
                </a:solidFill>
                <a:latin typeface="Arial"/>
              </a:rPr>
              <a:t> по сравнению с пороговым методом Оцу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Превосходство</a:t>
            </a:r>
            <a:r>
              <a:rPr sz="1500" b="0">
                <a:solidFill>
                  <a:srgbClr val="1F2937"/>
                </a:solidFill>
                <a:latin typeface="Arial"/>
              </a:rPr>
              <a:t> над всеми 4 альтернативными методами по всем метрикам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Прирост</a:t>
            </a:r>
            <a:r>
              <a:rPr sz="1500" b="0">
                <a:solidFill>
                  <a:srgbClr val="1F2937"/>
                </a:solidFill>
                <a:latin typeface="Arial"/>
              </a:rPr>
              <a:t> за счёт scSE-внимания и трёхклассовой схемы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Переносимость на другие акватории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10 / 14</a:t>
            </a:r>
          </a:p>
        </p:txBody>
      </p:sp>
      <p:pic>
        <p:nvPicPr>
          <p:cNvPr id="7" name="Picture 6" descr="fig_port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7583"/>
            <a:ext cx="7315200" cy="41801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920240"/>
            <a:ext cx="35661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Кольский залив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0,89 (обучение)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Варандей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0,84 (перенос)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Сабетта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0,76 (перенос)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4206240"/>
            <a:ext cx="3520440" cy="182880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4206240"/>
            <a:ext cx="82296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4370832"/>
            <a:ext cx="3154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Вывод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Методика принципиально применима; для тяжёлых ледовых акваторий требуется целевое дообучение.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БЕЗЛЁДНАЯ АКВАТОРИЯ — ВЕТРОВЫЕ ТЕНИ И БИОГЕННЫЕ ПЛЁНКИ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Порт Печенга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11 / 14</a:t>
            </a:r>
          </a:p>
        </p:txBody>
      </p:sp>
      <p:pic>
        <p:nvPicPr>
          <p:cNvPr id="8" name="Picture 7" descr="fig_pechen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0345" y="1371600"/>
            <a:ext cx="6686550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СЕЗОННЫЙ ПЕРВОГОДНИЙ ДРЕЙФУЮЩИЙ ЛЁД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Терминал Варандей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12 / 14</a:t>
            </a:r>
          </a:p>
        </p:txBody>
      </p:sp>
      <p:pic>
        <p:nvPicPr>
          <p:cNvPr id="8" name="Picture 7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0345" y="1371600"/>
            <a:ext cx="6686550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ЖИРОВОЙ И НИЛАСОВЫЙ ЛЁД, ПРИПАЙ — САМАЯ СЛОЖНАЯ АКВАТОРИЯ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Порт Сабетта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13 / 14</a:t>
            </a:r>
          </a:p>
        </p:txBody>
      </p:sp>
      <p:pic>
        <p:nvPicPr>
          <p:cNvPr id="8" name="Picture 7" descr="fig_sabet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0345" y="1371600"/>
            <a:ext cx="6686550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14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86868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86868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Цель достигнута: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F1 = 0,89 при целевом критерии ≥ 0,85. Все четыре задачи решены.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24328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Систематизированы ограничения методов, обоснован выбор архитектуры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729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91256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Создан комбинированный датасет с оригинальной трёхклассовой разметкой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9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Реализован программный прототип-конвейер, код в открытом доступе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0682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2511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Экспериментально подтверждено превосходство над пороговыми методами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029200"/>
            <a:ext cx="10927080" cy="11887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29200"/>
            <a:ext cx="82296" cy="1188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9379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Практическая значимость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Применимость в системах экологического мониторинга арктических портов — в интересах Росприроднадзора, МЧС, «Морспасслужбы» и мониторинга Северного морского пути.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DeepLabV3+ с энкодером ResNet-50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В.1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673352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Энкодер ResNet-50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извлечение признаков из SAR-тайла 256×256; предобучен на ImageNet, адаптирован к 1-канальному входу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77063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752344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ASPP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Atrous Spatial Pyramid Pooling — параллельные свёртки с коэффициентами разрежения 6/12/18 + image-level pooling: охват разномасштабного контекста пятен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84962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831336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scSE-внимание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spatial + channel Squeeze-and-Excitation: усиление информативных каналов и пространственных зон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91032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Декодер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объединение низко- и высокоуровневых признаков, апсемплинг до исходного разрешения, попиксельная классификация на 3 класса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Функция потерь и гиперпараметры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Комбинированная функция потерь Dice-BCE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L = L_Dice + L_BCE с весами классов для устранения дисбаланса. Dice работает с перекрытием масок, BCE — с попиксельной вероятностью.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291840"/>
          <a:ext cx="3657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Класс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вода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нефть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9,8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лёд + суша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Параметры обучения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Оптимизатор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1031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AdamW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700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Learning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26700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23697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Weight decay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23697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80390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Расписание LR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380390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ReduceLROnPlateau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3708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Эпохи / batch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370832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100 /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Аугментации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493776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повороты, отражения, TTA ×4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Предобработка SAR в ESA SNAP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В.3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73736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72821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Apply Orbit File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уточнение параметров орбиты спутника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450592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41448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Thermal Noise Removal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удаление теплового шума сенсора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163824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4680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Радиометрическая калибровка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перевод в σ⁰ (коэффициент обратного рассеяния)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877056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867912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Фильтр Ли 7×7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подавление спекл-шума с сохранением границ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590288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58114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Range-Doppler коррекция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геометрическая привязка к местности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30352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29437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Перевод в дБ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линейные σ⁰ → логарифмическая шкала (дБ)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Метрики оценки качества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938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Precision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верных среди предсказанных пикселей «нефть»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79192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679192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25496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Recall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найденных среди всех истинных пикселей «нефть»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75304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75304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721608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F1-score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гармоническое среднее Precision и Recall — основная метрика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71416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471416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IoU / mIoU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отношение пересечения к объединению масок; mIoU — среднее по классам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367528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367528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513832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Accuracy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верно классифицированных пикселей всех классов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Разбор матрицы ошибок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В.5</a:t>
            </a:r>
          </a:p>
        </p:txBody>
      </p:sp>
      <p:pic>
        <p:nvPicPr>
          <p:cNvPr id="7" name="Picture 6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075" y="1554480"/>
            <a:ext cx="5201529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182880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Основная ошибка</a:t>
            </a:r>
            <a:r>
              <a:rPr sz="1500" b="0">
                <a:solidFill>
                  <a:srgbClr val="1F2937"/>
                </a:solidFill>
                <a:latin typeface="Arial"/>
              </a:rPr>
              <a:t> — 8,4 % пикселей нефти отнесены к «лёд + суша»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Причина</a:t>
            </a:r>
            <a:r>
              <a:rPr sz="1500" b="0">
                <a:solidFill>
                  <a:srgbClr val="1F2937"/>
                </a:solidFill>
                <a:latin typeface="Arial"/>
              </a:rPr>
              <a:t> — физически схожие тёмные сигнатуры обратного рассеяния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Класс «вода»</a:t>
            </a:r>
            <a:r>
              <a:rPr sz="1500" b="0">
                <a:solidFill>
                  <a:srgbClr val="1F2937"/>
                </a:solidFill>
                <a:latin typeface="Arial"/>
              </a:rPr>
              <a:t> распознаётся с точностью 96,2 %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Класс «лёд + суша»</a:t>
            </a:r>
            <a:r>
              <a:rPr sz="1500" b="0">
                <a:solidFill>
                  <a:srgbClr val="1F2937"/>
                </a:solidFill>
                <a:latin typeface="Arial"/>
              </a:rPr>
              <a:t> — 96,0 %; смешение с нефтью лишь 2,7 %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Вывод</a:t>
            </a:r>
            <a:r>
              <a:rPr sz="1500" b="0">
                <a:solidFill>
                  <a:srgbClr val="1F2937"/>
                </a:solidFill>
                <a:latin typeface="Arial"/>
              </a:rPr>
              <a:t> — модель устойчиво разделяет три класса; остаточная путаница ожидаема физически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Спасибо за внимание!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9FB2D0"/>
                </a:solidFill>
                <a:latin typeface="Arial"/>
              </a:rPr>
              <a:t>Готов ответить на ваши вопросы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572000"/>
            <a:ext cx="38100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Байханов Владислав Камолович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2D0"/>
                </a:solidFill>
                <a:latin typeface="Arial"/>
              </a:rPr>
              <a:t>Санкт-Петербургский государственный университет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