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4164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11.08.2024 (сцены: до · разлив · после)</a:t>
            </a:r>
          </a:p>
        </p:txBody>
      </p:sp>
      <p:pic>
        <p:nvPicPr>
          <p:cNvPr id="28" name="Picture 27" descr="fig_kola_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5" y="4370832"/>
            <a:ext cx="910756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D97706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и датасет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Предобработка снимка — 6 шагов (ESA SNAP)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3852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2024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Apply Orbit File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уточнение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596896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Thermal Noise Removal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удаление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273552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Калибровка → σ⁰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перевод в физическую величину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950208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Фильтр Ли 7×7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подавление зернистости (спекл)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62686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Range-Doppler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геопривязка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2180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530352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Перевод в дБ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логарифмическая шкала яркости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874519"/>
            <a:ext cx="5257800" cy="13258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874519"/>
            <a:ext cx="82296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1125 снимков → 4128 фрагментов 256×256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1112 — MKLab / Krestenitis et al., 2019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13 — собственные снимки Кольского залива.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B7280"/>
                </a:solidFill>
                <a:latin typeface="Arial"/>
              </a:rPr>
              <a:t>Деление 70 / 20 / 10. Источник: Remote Sensing, 2019.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337560"/>
            <a:ext cx="5257800" cy="9144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337560"/>
            <a:ext cx="82296" cy="9144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456432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B5331F"/>
                </a:solidFill>
                <a:latin typeface="Arial"/>
              </a:rPr>
              <a:t>Дисбаланс классов: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нефть &lt; 2,4 % пикселей.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Решение: взвешенная Dice-BCE, вес «нефти» = 9,8.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6227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F2937"/>
                </a:solidFill>
                <a:latin typeface="Arial"/>
              </a:rPr>
              <a:t>Сходимость: лучшее mIoU = 0,84 на 78-й эпохе</a:t>
            </a:r>
          </a:p>
        </p:txBody>
      </p:sp>
      <p:pic>
        <p:nvPicPr>
          <p:cNvPr id="28" name="Picture 27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88" y="4800600"/>
            <a:ext cx="3508744" cy="13716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0080" y="6382512"/>
            <a:ext cx="10424160" cy="38404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6382512"/>
            <a:ext cx="82296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6400800"/>
            <a:ext cx="10241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Модель: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DeepLabV3+ (энкодер ResNet-50) + scSE-внимание · сегментация на 3 класса: вода / нефть / лёд+суша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64208"/>
            <a:ext cx="3566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Arial"/>
              </a:rPr>
              <a:t>Детекция нефти (F1):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048256"/>
            <a:ext cx="3566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•  </a:t>
            </a:r>
            <a:r>
              <a:rPr sz="14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400" b="0">
                <a:solidFill>
                  <a:srgbClr val="1F2937"/>
                </a:solidFill>
                <a:latin typeface="Arial"/>
              </a:rPr>
              <a:t> —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•  </a:t>
            </a:r>
            <a:r>
              <a:rPr sz="14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400" b="0">
                <a:solidFill>
                  <a:srgbClr val="1F2937"/>
                </a:solidFill>
                <a:latin typeface="Arial"/>
              </a:rPr>
              <a:t> —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•  </a:t>
            </a:r>
            <a:r>
              <a:rPr sz="14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400" b="0">
                <a:solidFill>
                  <a:srgbClr val="1F2937"/>
                </a:solidFill>
                <a:latin typeface="Arial"/>
              </a:rPr>
              <a:t> — 0,76 (перенос)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401568"/>
            <a:ext cx="3566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7D7A"/>
                </a:solidFill>
                <a:latin typeface="Arial"/>
              </a:rPr>
              <a:t>Тест специфичности: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785615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7A"/>
                </a:solidFill>
                <a:latin typeface="Arial"/>
              </a:rPr>
              <a:t>•  </a:t>
            </a:r>
            <a:r>
              <a:rPr sz="1300" b="0">
                <a:solidFill>
                  <a:srgbClr val="1F2937"/>
                </a:solidFill>
                <a:latin typeface="Arial"/>
              </a:rPr>
              <a:t>Печенга — разливов нет; все тёмные зоны
= ложные цели → модель не тревожила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663440"/>
            <a:ext cx="3520440" cy="15544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4663440"/>
            <a:ext cx="82296" cy="1554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4809744"/>
            <a:ext cx="3154680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Методика применима; для ледовых акваторий — целевое дообучение.
Слайды 10–12: каждый порт подробно.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370" y="1280160"/>
            <a:ext cx="6286500" cy="502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37376"/>
            <a:ext cx="11475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6B7280"/>
                </a:solidFill>
                <a:latin typeface="Arial"/>
              </a:rPr>
              <a:t>Источник снимков: Sentinel-1 (ESA) · ASF DAAC — earthdata.nasa.gov; предобработка — ESA SNAP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370" y="1280160"/>
            <a:ext cx="6286500" cy="502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37376"/>
            <a:ext cx="11475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6B7280"/>
                </a:solidFill>
                <a:latin typeface="Arial"/>
              </a:rPr>
              <a:t>Источник снимков: Sentinel-1 (ESA) · ASF DAAC — earthdata.nasa.gov; предобработка — ESA SNAP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370" y="1280160"/>
            <a:ext cx="6286500" cy="502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37376"/>
            <a:ext cx="11475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6B7280"/>
                </a:solidFill>
                <a:latin typeface="Arial"/>
              </a:rPr>
              <a:t>Источник снимков: Sentinel-1 (ESA) · ASF DAAC — earthdata.nasa.gov; предобработка — ESA SNAP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804672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82296" cy="804672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41401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0779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198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3814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3192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95020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45152"/>
            <a:ext cx="5349240" cy="1627632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45152"/>
            <a:ext cx="82296" cy="1627632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91456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7D7A"/>
                </a:solidFill>
                <a:latin typeface="Arial"/>
              </a:rPr>
              <a:t>Научная новизна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Впервые для арктических портов — трёхклассовая модель с выделением льда в отдельный класс; это и даёт прирост точности над бинарными методами.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645152"/>
            <a:ext cx="5394960" cy="1627632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645152"/>
            <a:ext cx="82296" cy="16276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791456"/>
            <a:ext cx="4983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Прототип применим в системах экологического мониторинга арктических портов — Росприроднадзор, МЧС, «Морспасслужба», контроль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