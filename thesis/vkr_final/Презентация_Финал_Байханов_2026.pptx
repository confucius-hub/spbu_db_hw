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Разработка системы автоматического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детектирования нефтяных разливов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в акваториях арктических портов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Arial"/>
              </a:rPr>
              <a:t>по данным 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Надежда Анатольевна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82296" cy="1207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&gt; 700 тыс. т/год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углеводородов в Мировой океан
ежегодно; доля Арктики растёт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17320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1417320"/>
            <a:ext cx="82296" cy="1207008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5270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7A"/>
                </a:solidFill>
                <a:latin typeface="Arial"/>
              </a:rPr>
              <a:t>В 5–10 раз медленнее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011680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разлагается нефть в холодных
водах → долгосрочный ущерб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734056"/>
            <a:ext cx="82296" cy="1207008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B5331F"/>
                </a:solidFill>
                <a:latin typeface="Arial"/>
              </a:rPr>
              <a:t>&gt; 80 % времени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облачность и полярная ночь:
оптические спутники бесполезны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2734056"/>
            <a:ext cx="2697480" cy="12070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2152" y="2734056"/>
            <a:ext cx="82296" cy="1207008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284378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E7D52"/>
                </a:solidFill>
                <a:latin typeface="Arial"/>
              </a:rPr>
              <a:t>Sentinel-1 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328416"/>
            <a:ext cx="242316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2937"/>
                </a:solidFill>
                <a:latin typeface="Arial"/>
              </a:rPr>
              <a:t>всепогодный круглосуточный
мониторинг — единственный выход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17320"/>
            <a:ext cx="5577840" cy="2523744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17320"/>
            <a:ext cx="82296" cy="2523744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212848"/>
            <a:ext cx="5120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 — неотличимые от нефти на SAR-снимке. У классических методов до 70 % ложных срабатываний.
→ Нужна трёхклассовая модель: вода / нефть / лёд+суша.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078224"/>
            <a:ext cx="10515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Кольский залив, Sentinel-1 2024 — временно́й ряд детектирования разлива мазута 11.09.2024</a:t>
            </a:r>
          </a:p>
        </p:txBody>
      </p:sp>
      <p:pic>
        <p:nvPicPr>
          <p:cNvPr id="28" name="Picture 27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62" y="4407408"/>
            <a:ext cx="8561115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53212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400" b="0" i="0">
                <a:solidFill>
                  <a:srgbClr val="1F2937"/>
                </a:solidFill>
                <a:latin typeface="Arial"/>
              </a:rPr>
              <a:t>во всех аналогах — бинарная схема, нет отдельного класса льда →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2,4 %.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pic>
        <p:nvPicPr>
          <p:cNvPr id="10" name="Picture 9" descr="fig_pechen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8155" y="1737360"/>
            <a:ext cx="1543050" cy="1234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pic>
        <p:nvPicPr>
          <p:cNvPr id="14" name="Picture 13" descr="fig_varand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155" y="3154680"/>
            <a:ext cx="1543050" cy="123444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  <p:pic>
        <p:nvPicPr>
          <p:cNvPr id="18" name="Picture 17" descr="fig_sabet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8155" y="4572000"/>
            <a:ext cx="154305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линейные σ⁰ → логарифмическая шкала (дБ)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pic>
        <p:nvPicPr>
          <p:cNvPr id="8" name="Picture 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