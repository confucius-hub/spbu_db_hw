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12191695" cy="254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2E4F"/>
                </a:solidFill>
                <a:latin typeface="Calibri"/>
              </a:rPr>
              <a:t>Санкт-Петербургский государственный университет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2296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444444"/>
                </a:solidFill>
                <a:latin typeface="Calibri"/>
              </a:rPr>
              <a:t>Магистерская программа «Искусственный интеллект и наука о данных»  ·  09.04.03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Разработка системы автоматического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детектирования нефтяных разливов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в акваториях арктических портов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по данным спутниковой радиолокационной съёмки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D45D0A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11111"/>
                </a:solidFill>
                <a:latin typeface="Calibri"/>
              </a:rPr>
              <a:t>Выполнил: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11111"/>
                </a:solidFill>
                <a:latin typeface="Calibri"/>
              </a:rPr>
              <a:t>Байханов Владислав Камолович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572000"/>
            <a:ext cx="4114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11111"/>
                </a:solidFill>
                <a:latin typeface="Calibri"/>
              </a:rPr>
              <a:t>Научный руководитель: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11111"/>
                </a:solidFill>
                <a:latin typeface="Calibri"/>
              </a:rPr>
              <a:t>к.т.н., доцент Митько А. 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26364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Санкт-Петербург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1. 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&gt; 700 тыс. т углеводородов/год попадает в Мировой океан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Доля Арктики растёт — рост судоходства по СМП и шельфовой добычи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В Арктике нефть разлагается в 5–10 раз медленнее (+5°C)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&gt; 80 % времени — облачность и полярная ночь: оптика не работает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SAR Sentinel-1 — единственный всепогодный круглосуточный инструмент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60" y="1325880"/>
            <a:ext cx="1554480" cy="12344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68312" y="1389888"/>
            <a:ext cx="1417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Норильск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29.05.2020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8312" y="1883664"/>
            <a:ext cx="1417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D45D0A"/>
                </a:solidFill>
                <a:latin typeface="Calibri"/>
              </a:rPr>
              <a:t>≈21 тыс. 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D45D0A"/>
                </a:solidFill>
                <a:latin typeface="Calibri"/>
              </a:rPr>
              <a:t>ущерб 146 млрд 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325880"/>
            <a:ext cx="1554480" cy="12344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1389888"/>
            <a:ext cx="1417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Кольский залив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11.09.2024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9952" y="1883664"/>
            <a:ext cx="1417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D45D0A"/>
                </a:solidFill>
                <a:latin typeface="Calibri"/>
              </a:rPr>
              <a:t>разлив мазута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D45D0A"/>
                </a:solidFill>
                <a:latin typeface="Calibri"/>
              </a:rPr>
              <a:t>при бункеровке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78440" y="1325880"/>
            <a:ext cx="1554480" cy="12344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1592" y="1389888"/>
            <a:ext cx="1417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Тикси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январь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1592" y="1883664"/>
            <a:ext cx="1417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D45D0A"/>
                </a:solidFill>
                <a:latin typeface="Calibri"/>
              </a:rPr>
              <a:t>керосин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D45D0A"/>
                </a:solidFill>
                <a:latin typeface="Calibri"/>
              </a:rPr>
              <a:t>на льду</a:t>
            </a:r>
          </a:p>
        </p:txBody>
      </p:sp>
      <p:pic>
        <p:nvPicPr>
          <p:cNvPr id="18" name="Picture 1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849487"/>
            <a:ext cx="4846320" cy="12164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2. Проблема: ложные цели (look-alikes)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ADC8E6"/>
                </a:solidFill>
                <a:latin typeface="Calibri"/>
              </a:rPr>
              <a:t>Нефть и природные «двойники» неотличимы по яркости на SAR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Что выглядит как нефть: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Начальный лёд: ледяное сало, нилас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Биогенные плёнки (фитопланктон, липиды)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Зоны ветровой тени (за мысами, судами)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74720"/>
            <a:ext cx="5303520" cy="14630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Следствие: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931920"/>
            <a:ext cx="50292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D45D0A"/>
                </a:solidFill>
                <a:latin typeface="Calibri"/>
              </a:rPr>
              <a:t>до 70 % ложных срабатываний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D45D0A"/>
                </a:solidFill>
                <a:latin typeface="Calibri"/>
              </a:rPr>
              <a:t>при использовании пороговых методов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234440"/>
            <a:ext cx="5394960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32588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Существующие решения: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бинарная схема «нефть / фон» — лёд не выделяется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24028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 i="0">
                <a:solidFill>
                  <a:srgbClr val="D45D0A"/>
                </a:solidFill>
                <a:latin typeface="Calibri"/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743200"/>
            <a:ext cx="5394960" cy="9144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83464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Наш ответ: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вынести лёд в отдельный 3-й 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404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45D0A"/>
                </a:solidFill>
                <a:latin typeface="Calibri"/>
              </a:rPr>
              <a:t>Вода   /   Нефть   /   Лёд + Суша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4340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1">
                <a:solidFill>
                  <a:srgbClr val="0B2E4F"/>
                </a:solidFill>
                <a:latin typeface="Calibri"/>
              </a:rPr>
              <a:t>Ни одна существующая работа для Арктики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1">
                <a:solidFill>
                  <a:srgbClr val="0B2E4F"/>
                </a:solidFill>
                <a:latin typeface="Calibri"/>
              </a:rPr>
              <a:t>не использует трёхклассовую схему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3. Цель и задачи исследования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4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1247120" cy="11430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Цель — автоматизация процесса детектирования нефтяных разливов в акваториях арктических портов по данным Sentinel-1 за счёт нейросетевой трёхклассовой модели, обеспечивающей F1 ≥ 0,85 для класса «нефть».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01168" cy="65836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9192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0B2E4F"/>
                </a:solidFill>
                <a:latin typeface="Calibri"/>
              </a:rPr>
              <a:t>1  ·  Выявить ограничения существующих методов и обосновать выбор архитектуры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10712"/>
            <a:ext cx="11247120" cy="658368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10712"/>
            <a:ext cx="201168" cy="658368"/>
          </a:xfrm>
          <a:prstGeom prst="rect">
            <a:avLst/>
          </a:prstGeom>
          <a:solidFill>
            <a:srgbClr val="1A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83864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0B2E4F"/>
                </a:solidFill>
                <a:latin typeface="Calibri"/>
              </a:rPr>
              <a:t>2  ·  Разработать методику датасета, обучить нейросетевую модель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15384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215384"/>
            <a:ext cx="201168" cy="65836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88536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0B2E4F"/>
                </a:solidFill>
                <a:latin typeface="Calibri"/>
              </a:rPr>
              <a:t>3  ·  Реализовать программный прототип-конвейер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020056"/>
            <a:ext cx="11247120" cy="658368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020056"/>
            <a:ext cx="201168" cy="658368"/>
          </a:xfrm>
          <a:prstGeom prst="rect">
            <a:avLst/>
          </a:prstGeom>
          <a:solidFill>
            <a:srgbClr val="1A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93208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0B2E4F"/>
                </a:solidFill>
                <a:latin typeface="Calibri"/>
              </a:rPr>
              <a:t>4  ·  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4. 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5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611880" cy="48006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457200" cy="5486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298448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Трёхклассовая сегментация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3429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Впервые для Арктики: вода / нефть / лёд+суша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(все существующие работы — бинарные)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611880" cy="48006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234440"/>
            <a:ext cx="457200" cy="5486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2" y="1234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2" y="1298448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Арктический подмножество датасета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828800"/>
            <a:ext cx="3429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13 сцен Кольского залива, размечены в QGIS 3.34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с учётом ERA5 и 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234440"/>
            <a:ext cx="3611880" cy="48006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234440"/>
            <a:ext cx="457200" cy="5486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234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87384" y="1298448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Адаптация DeepLabV3+ к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1828800"/>
            <a:ext cx="3429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ResNet-50 + scSE → 1-канальный вход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Dice-BCE с весами классов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5. Архитектура программного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ADC8E6"/>
                </a:solidFill>
                <a:latin typeface="Calibri"/>
              </a:rPr>
              <a:t>Трёхэтапный модульный конвейер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6 / 14</a:t>
            </a:r>
          </a:p>
        </p:txBody>
      </p:sp>
      <p:pic>
        <p:nvPicPr>
          <p:cNvPr id="9" name="Picture 8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7917"/>
            <a:ext cx="6583680" cy="237936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269480" y="1325880"/>
            <a:ext cx="4572000" cy="132588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69480" y="1325880"/>
            <a:ext cx="137160" cy="132588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17320"/>
            <a:ext cx="4206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1. Предобработка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(ESA SNAP 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20240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Apply Orbit → Thermal Noise Removal → Calibration σ⁰ → Lee 7×7 → Terrain Correction → log 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880360"/>
            <a:ext cx="4572000" cy="132588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9480" y="2880360"/>
            <a:ext cx="137160" cy="132588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2971800"/>
            <a:ext cx="4206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2. Сегментация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(DeepLabV3+)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474720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ResNet-50 + scSE → 3 класса за 65 секунд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4434840"/>
            <a:ext cx="4572000" cy="132588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4434840"/>
            <a:ext cx="137160" cy="132588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4526280"/>
            <a:ext cx="4206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3. Верификация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029200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Морфологический анализ + контекст AIS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6. Датасет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194560" cy="47548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210312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Выборка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234440"/>
            <a:ext cx="1097280" cy="47548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1280160"/>
            <a:ext cx="100584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Сцены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39" y="1234440"/>
            <a:ext cx="1097280" cy="47548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59" y="1280160"/>
            <a:ext cx="100584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Тайлы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234440"/>
            <a:ext cx="1005840" cy="47548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280160"/>
            <a:ext cx="91440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Доля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09928"/>
            <a:ext cx="21945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709928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2E4F"/>
                </a:solidFill>
                <a:latin typeface="Calibri"/>
              </a:rPr>
              <a:t>Обучающая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709928"/>
            <a:ext cx="109728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1709928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787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39" y="1709928"/>
            <a:ext cx="109728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59" y="1709928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2890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1709928"/>
            <a:ext cx="100584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1709928"/>
            <a:ext cx="9144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70 %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185416"/>
            <a:ext cx="21945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185416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2E4F"/>
                </a:solidFill>
                <a:latin typeface="Calibri"/>
              </a:rPr>
              <a:t>Валидационная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2185416"/>
            <a:ext cx="109728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97480" y="2185416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226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2185416"/>
            <a:ext cx="109728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4759" y="2185416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826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2185416"/>
            <a:ext cx="100584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92040" y="2185416"/>
            <a:ext cx="9144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660904"/>
            <a:ext cx="21945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660904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2E4F"/>
                </a:solidFill>
                <a:latin typeface="Calibri"/>
              </a:rPr>
              <a:t>Тестовая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1760" y="2660904"/>
            <a:ext cx="109728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7480" y="2660904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112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49039" y="2660904"/>
            <a:ext cx="109728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94759" y="2660904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412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46320" y="2660904"/>
            <a:ext cx="100584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2660904"/>
            <a:ext cx="9144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10 %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136392"/>
            <a:ext cx="2194560" cy="475488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136392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45D0A"/>
                </a:solidFill>
                <a:latin typeface="Calibri"/>
              </a:rPr>
              <a:t>Итого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3136392"/>
            <a:ext cx="1097280" cy="475488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97480" y="3136392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45D0A"/>
                </a:solidFill>
                <a:latin typeface="Calibri"/>
              </a:rPr>
              <a:t>1 125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49039" y="3136392"/>
            <a:ext cx="1097280" cy="475488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59" y="3136392"/>
            <a:ext cx="10058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45D0A"/>
                </a:solidFill>
                <a:latin typeface="Calibri"/>
              </a:rPr>
              <a:t>4 128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136392"/>
            <a:ext cx="1005840" cy="475488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92040" y="3136392"/>
            <a:ext cx="9144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45D0A"/>
                </a:solidFill>
                <a:latin typeface="Calibri"/>
              </a:rPr>
              <a:t>100 %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84048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Деление 70/20/10 — на уровне сцен, не тайлов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1112 сцен — MKLab Krestenitis (Средиземное море)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13 сцен — собственный поднабор Кольского залива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Тайлы 256×256 пикс., перекрытие 50 %</a:t>
            </a:r>
          </a:p>
        </p:txBody>
      </p:sp>
      <p:pic>
        <p:nvPicPr>
          <p:cNvPr id="49" name="Picture 48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985" y="1234440"/>
            <a:ext cx="443654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7. Нейросетевая модель и гиперпараметры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8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1874519" cy="128016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Вход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1×256×256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σ⁰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5999" y="182880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D45D0A"/>
                </a:solidFill>
                <a:latin typeface="Calibri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79" y="1371600"/>
            <a:ext cx="1874519" cy="12801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79" y="137160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ResNet-50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scSE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энкодер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8" y="182880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D45D0A"/>
                </a:solidFill>
                <a:latin typeface="Calibr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78" y="1371600"/>
            <a:ext cx="1874519" cy="1280160"/>
          </a:xfrm>
          <a:prstGeom prst="rect">
            <a:avLst/>
          </a:prstGeom>
          <a:solidFill>
            <a:srgbClr val="1A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8" y="137160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ASPP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мультимасш.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контекст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797" y="182880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D45D0A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77" y="1371600"/>
            <a:ext cx="1874519" cy="12801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7" y="137160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Декодер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апсемпл.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196" y="182880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D45D0A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76" y="1371600"/>
            <a:ext cx="1874519" cy="128016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76" y="137160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D45D0A"/>
                </a:solidFill>
                <a:latin typeface="Calibri"/>
              </a:rPr>
              <a:t>Выход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D45D0A"/>
                </a:solidFill>
                <a:latin typeface="Calibri"/>
              </a:rPr>
              <a:t>3 класса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D45D0A"/>
                </a:solidFill>
                <a:latin typeface="Calibri"/>
              </a:rPr>
              <a:t>256×256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971800"/>
            <a:ext cx="5577840" cy="548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1752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Оптимизатор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01752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AdamW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11880"/>
            <a:ext cx="5577840" cy="548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657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1·10⁻⁴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51960"/>
            <a:ext cx="5577840" cy="548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9768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Эпохи / batch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42976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100 /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971800"/>
            <a:ext cx="5577840" cy="548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Функция потерь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01752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Dice-BCE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611880"/>
            <a:ext cx="5577840" cy="548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657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Веса классов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657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вода 0,3 · нефть 9,8 · лёд 1,2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251960"/>
            <a:ext cx="5577840" cy="548640"/>
          </a:xfrm>
          <a:prstGeom prst="rect">
            <a:avLst/>
          </a:prstGeom>
          <a:solidFill>
            <a:srgbClr val="F4F6F8"/>
          </a:solidFill>
          <a:ln w="508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29768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GPU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2976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RTX 3090, CUDA 12.1</a:t>
            </a:r>
          </a:p>
        </p:txBody>
      </p:sp>
      <p:pic>
        <p:nvPicPr>
          <p:cNvPr id="40" name="Picture 39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2472" y="5029200"/>
            <a:ext cx="3976576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8. Результаты: тестовая выборка Кольского залива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ADC8E6"/>
                </a:solidFill>
                <a:latin typeface="Calibri"/>
              </a:rPr>
              <a:t>412 тайлов, не участвовавших в обучении и валидации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9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20116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B2E4F"/>
                </a:solidFill>
                <a:latin typeface="Calibri"/>
              </a:rPr>
              <a:t>0,89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6596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F1 (нефть)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80160"/>
            <a:ext cx="20116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3258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A5EA8"/>
                </a:solidFill>
                <a:latin typeface="Calibri"/>
              </a:rPr>
              <a:t>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96596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mIoU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280160"/>
            <a:ext cx="20116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3258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A7A3C"/>
                </a:solidFill>
                <a:latin typeface="Calibri"/>
              </a:rPr>
              <a:t>95,8 %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96596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743200"/>
            <a:ext cx="173736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43200"/>
            <a:ext cx="17373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2743200"/>
            <a:ext cx="118872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2743200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2743200"/>
            <a:ext cx="118872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743200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743200"/>
            <a:ext cx="100584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743200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743200"/>
            <a:ext cx="100584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2743200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IoU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82112"/>
            <a:ext cx="17373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182112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2E4F"/>
                </a:solidFill>
                <a:latin typeface="Calibri"/>
              </a:rPr>
              <a:t>Вода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3182112"/>
            <a:ext cx="118872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1821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3182112"/>
            <a:ext cx="118872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1821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3182112"/>
            <a:ext cx="10058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31821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77840" y="3182112"/>
            <a:ext cx="10058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1821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39312"/>
            <a:ext cx="1737360" cy="457200"/>
          </a:xfrm>
          <a:prstGeom prst="rect">
            <a:avLst/>
          </a:prstGeom>
          <a:solidFill>
            <a:srgbClr val="E8F4EB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639312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Нефть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94560" y="3639312"/>
            <a:ext cx="1188720" cy="457200"/>
          </a:xfrm>
          <a:prstGeom prst="rect">
            <a:avLst/>
          </a:prstGeom>
          <a:solidFill>
            <a:srgbClr val="E8F4EB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94560" y="36393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3639312"/>
            <a:ext cx="1188720" cy="457200"/>
          </a:xfrm>
          <a:prstGeom prst="rect">
            <a:avLst/>
          </a:prstGeom>
          <a:solidFill>
            <a:srgbClr val="E8F4EB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3280" y="36393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0,87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3639312"/>
            <a:ext cx="1005840" cy="457200"/>
          </a:xfrm>
          <a:prstGeom prst="rect">
            <a:avLst/>
          </a:prstGeom>
          <a:solidFill>
            <a:srgbClr val="E8F4EB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36393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0,89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77840" y="3639312"/>
            <a:ext cx="1005840" cy="457200"/>
          </a:xfrm>
          <a:prstGeom prst="rect">
            <a:avLst/>
          </a:prstGeom>
          <a:solidFill>
            <a:srgbClr val="E8F4EB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0" y="36393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0,81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096512"/>
            <a:ext cx="17373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096512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2E4F"/>
                </a:solidFill>
                <a:latin typeface="Calibri"/>
              </a:rPr>
              <a:t>Лёд + суша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94560" y="4096512"/>
            <a:ext cx="118872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94560" y="40965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83280" y="4096512"/>
            <a:ext cx="118872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83280" y="40965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4096512"/>
            <a:ext cx="10058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0" y="40965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77840" y="4096512"/>
            <a:ext cx="10058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77840" y="40965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4553712"/>
            <a:ext cx="1737360" cy="45720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553712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2E4F"/>
                </a:solidFill>
                <a:latin typeface="Calibri"/>
              </a:rPr>
              <a:t>Среднее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94560" y="4553712"/>
            <a:ext cx="1188720" cy="45720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94560" y="45537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83280" y="4553712"/>
            <a:ext cx="1188720" cy="45720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83280" y="4553712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4553712"/>
            <a:ext cx="1005840" cy="45720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0" y="45537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77840" y="4553712"/>
            <a:ext cx="1005840" cy="45720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577840" y="4553712"/>
            <a:ext cx="1005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0,87</a:t>
            </a:r>
          </a:p>
        </p:txBody>
      </p:sp>
      <p:pic>
        <p:nvPicPr>
          <p:cNvPr id="68" name="Picture 6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44121"/>
            <a:ext cx="4937760" cy="44269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9. Сравнительный анализ с альтернативными методами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Метод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280160"/>
            <a:ext cx="137160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280160"/>
            <a:ext cx="13716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280160"/>
            <a:ext cx="128016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280160"/>
            <a:ext cx="12801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1280160"/>
            <a:ext cx="109728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280160"/>
            <a:ext cx="1097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1280160"/>
            <a:ext cx="1097280" cy="43891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280160"/>
            <a:ext cx="1097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mIoU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719072"/>
            <a:ext cx="25603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719072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2E4F"/>
                </a:solidFill>
                <a:latin typeface="Calibri"/>
              </a:rPr>
              <a:t>Пороговый Оцу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719072"/>
            <a:ext cx="137160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1719072"/>
            <a:ext cx="1371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0,75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1719072"/>
            <a:ext cx="12801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719072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0" y="1719072"/>
            <a:ext cx="10972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71907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0,71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1719072"/>
            <a:ext cx="10972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171907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221992"/>
            <a:ext cx="256032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221992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2E4F"/>
                </a:solidFill>
                <a:latin typeface="Calibri"/>
              </a:rPr>
              <a:t>Адапт. порог μ−kσ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221992"/>
            <a:ext cx="137160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17520" y="2221992"/>
            <a:ext cx="1371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221992"/>
            <a:ext cx="128016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2221992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0,79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2221992"/>
            <a:ext cx="109728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222199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2221992"/>
            <a:ext cx="109728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222199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0,68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724912"/>
            <a:ext cx="25603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2724912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2E4F"/>
                </a:solidFill>
                <a:latin typeface="Calibri"/>
              </a:rPr>
              <a:t>GLCM + CNN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2724912"/>
            <a:ext cx="137160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2724912"/>
            <a:ext cx="1371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2724912"/>
            <a:ext cx="12801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2724912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0,78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2724912"/>
            <a:ext cx="10972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0" y="272491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66560" y="2724912"/>
            <a:ext cx="10972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6560" y="272491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227832"/>
            <a:ext cx="256032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227832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2E4F"/>
                </a:solidFill>
                <a:latin typeface="Calibri"/>
              </a:rPr>
              <a:t>U-Net (бинарный)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227832"/>
            <a:ext cx="137160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7520" y="3227832"/>
            <a:ext cx="1371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0" y="3227832"/>
            <a:ext cx="128016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89120" y="3227832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0" y="3227832"/>
            <a:ext cx="109728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322783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0,85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66560" y="3227832"/>
            <a:ext cx="1097280" cy="502920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66560" y="322783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0,75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3730752"/>
            <a:ext cx="2560320" cy="502920"/>
          </a:xfrm>
          <a:prstGeom prst="rect">
            <a:avLst/>
          </a:prstGeom>
          <a:solidFill>
            <a:srgbClr val="D4E8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3730752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DeepLabV3+ (наш)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3730752"/>
            <a:ext cx="1371600" cy="502920"/>
          </a:xfrm>
          <a:prstGeom prst="rect">
            <a:avLst/>
          </a:prstGeom>
          <a:solidFill>
            <a:srgbClr val="D4E8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17520" y="3730752"/>
            <a:ext cx="1371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0,91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89120" y="3730752"/>
            <a:ext cx="1280160" cy="502920"/>
          </a:xfrm>
          <a:prstGeom prst="rect">
            <a:avLst/>
          </a:prstGeom>
          <a:solidFill>
            <a:srgbClr val="D4E8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89120" y="3730752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0,87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0" y="3730752"/>
            <a:ext cx="1097280" cy="502920"/>
          </a:xfrm>
          <a:prstGeom prst="rect">
            <a:avLst/>
          </a:prstGeom>
          <a:solidFill>
            <a:srgbClr val="D4E8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0" y="373075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3730752"/>
            <a:ext cx="1097280" cy="502920"/>
          </a:xfrm>
          <a:prstGeom prst="rect">
            <a:avLst/>
          </a:prstGeom>
          <a:solidFill>
            <a:srgbClr val="D4E8FF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0" y="3730752"/>
            <a:ext cx="1097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45D0A"/>
                </a:solidFill>
                <a:latin typeface="Calibri"/>
              </a:rPr>
              <a:t>0,82</a:t>
            </a:r>
          </a:p>
        </p:txBody>
      </p:sp>
      <p:pic>
        <p:nvPicPr>
          <p:cNvPr id="68" name="Picture 67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725310"/>
            <a:ext cx="3749039" cy="195602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57200" y="4617720"/>
            <a:ext cx="7315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45D0A"/>
                </a:solidFill>
                <a:latin typeface="Calibri"/>
              </a:rPr>
              <a:t>Прирост F1 относительно метода Оцу: +0,18  ·  Лучший результат среди всех 5 методов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10. Переносимость методики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ADC8E6"/>
                </a:solidFill>
                <a:latin typeface="Calibri"/>
              </a:rPr>
              <a:t>Проверка на двух дополнительных арктических портах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11 / 14</a:t>
            </a:r>
          </a:p>
        </p:txBody>
      </p:sp>
      <p:pic>
        <p:nvPicPr>
          <p:cNvPr id="9" name="Picture 8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65169"/>
            <a:ext cx="5303520" cy="303058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035040" y="1280160"/>
            <a:ext cx="1920240" cy="14173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8192" y="1353312"/>
            <a:ext cx="1783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Кольский залив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(регион обучения)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2" y="192024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F1 = 0,89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80160"/>
            <a:ext cx="1920240" cy="14173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353312"/>
            <a:ext cx="1783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Варандей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(Печорское море)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192024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A5EA8"/>
                </a:solidFill>
                <a:latin typeface="Calibri"/>
              </a:rPr>
              <a:t>F1 = 0,84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1280160"/>
            <a:ext cx="1920240" cy="14173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2992" y="1353312"/>
            <a:ext cx="1783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Сабетта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(Карское море)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192024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D45D0A"/>
                </a:solidFill>
                <a:latin typeface="Calibri"/>
              </a:rPr>
              <a:t>F1 = 0,76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01752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Закономерная деградация качества при удалении от региона обучения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Тип ложных целей разный по портам: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    • Печенга — ветровые тени, биоплёнки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    • Варандей — сезонный первогодний лёд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    • Сабетта — жировой лёд, припай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Методика применима; для ледовых акваторий нужно дообучение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11. Ограничения и угрозы валидности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12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657600" cy="1920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3657600" cy="3657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474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Обучающая выборка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4381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Основа — Средиземное море;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арктических сцен только 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657600" cy="1920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25880"/>
            <a:ext cx="3657600" cy="3657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344168"/>
            <a:ext cx="3474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Разметка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1783080"/>
            <a:ext cx="34381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Один аннотатор, без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межэкспертного согласия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25880"/>
            <a:ext cx="3657600" cy="1920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25880"/>
            <a:ext cx="3657600" cy="3657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344168"/>
            <a:ext cx="3474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Верификация нефти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783080"/>
            <a:ext cx="34381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Только SAR + медиа;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нет химических замеров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3657600" cy="1920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93008"/>
            <a:ext cx="3474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Статистика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931920"/>
            <a:ext cx="34381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Один запуск обучения;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нет bootstrapping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474720"/>
            <a:ext cx="3657600" cy="1920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474720"/>
            <a:ext cx="3657600" cy="3657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93008"/>
            <a:ext cx="3474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Переносимость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931920"/>
            <a:ext cx="34381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Варандей — 6 сцен,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Сабетта — 5 сцен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474720"/>
            <a:ext cx="3657600" cy="1920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474720"/>
            <a:ext cx="3657600" cy="3657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493008"/>
            <a:ext cx="3474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Физическая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интерпретация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3931920"/>
            <a:ext cx="34381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Нет оценки типа и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толщины нефтепродукта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12. 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57432" cy="12700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Байханов В. К.  ·  Автоматическое детектирование нефтяных разливов · 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13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4F6F8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Цель достигнута  ·  F1 (нефть) = 0,89  ≥  целевого 0,85  ·  Все 4 задачи решены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502920" cy="658368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502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2240280"/>
            <a:ext cx="10744200" cy="658368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28600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Систематизированы ограничения 4 поколений методов;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обоснован выбор DeepLabV3+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44952"/>
            <a:ext cx="502920" cy="658368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44952"/>
            <a:ext cx="502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3044952"/>
            <a:ext cx="10744200" cy="658368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90672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Комбинированный датасет: 1125 сцен, 4128 тайлов;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оригинальная 3-классовая разметка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9624"/>
            <a:ext cx="502920" cy="658368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849624"/>
            <a:ext cx="502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849624"/>
            <a:ext cx="10744200" cy="658368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89534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Программный прототип: 65 с/сцена;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код опубликован в открытом доступе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54296"/>
            <a:ext cx="502920" cy="658368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54296"/>
            <a:ext cx="502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4654296"/>
            <a:ext cx="10744200" cy="658368"/>
          </a:xfrm>
          <a:prstGeom prst="rect">
            <a:avLst/>
          </a:prstGeom>
          <a:solidFill>
            <a:srgbClr val="F4F6F8"/>
          </a:solidFill>
          <a:ln w="381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700016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F1=0,89; mIoU=0,82; превосходство над всеми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4 альтернативными методами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577840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Практическая применимость: Росприроднадзор · МЧС · Морспасслужба · Росатом / СМП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383280"/>
            <a:ext cx="12191695" cy="25400"/>
          </a:xfrm>
          <a:prstGeom prst="rect">
            <a:avLst/>
          </a:prstGeom>
          <a:solidFill>
            <a:srgbClr val="D45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B2E4F"/>
                </a:solidFill>
                <a:latin typeface="Calibri"/>
              </a:rPr>
              <a:t>Спасибо за внимание!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444444"/>
                </a:solidFill>
                <a:latin typeface="Calibri"/>
              </a:rPr>
              <a:t>Готов ответить на вопросы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703320"/>
            <a:ext cx="18288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49039"/>
            <a:ext cx="1828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45D0A"/>
                </a:solidFill>
                <a:latin typeface="Calibri"/>
              </a:rPr>
              <a:t>0,89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43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F1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нефть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3703320"/>
            <a:ext cx="18288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3749039"/>
            <a:ext cx="1828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45D0A"/>
                </a:solidFill>
                <a:latin typeface="Calibri"/>
              </a:rPr>
              <a:t>0,82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4343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mIoU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703320"/>
            <a:ext cx="18288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749039"/>
            <a:ext cx="1828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45D0A"/>
                </a:solidFill>
                <a:latin typeface="Calibri"/>
              </a:rPr>
              <a:t>95,8%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343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3703320"/>
            <a:ext cx="18288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49039"/>
            <a:ext cx="1828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45D0A"/>
                </a:solidFill>
                <a:latin typeface="Calibri"/>
              </a:rPr>
              <a:t>65 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4343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Скорость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обработки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703320"/>
            <a:ext cx="18288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3749039"/>
            <a:ext cx="1828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45D0A"/>
                </a:solidFill>
                <a:latin typeface="Calibri"/>
              </a:rPr>
              <a:t>1 125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4343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Сцен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0B2E4F"/>
                </a:solidFill>
                <a:latin typeface="Calibri"/>
              </a:rPr>
              <a:t>в датасете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Байханов Владислав Камолович  ·  ВКР  ·  СПбГУ,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