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Санкт-Петербургский государственный университет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411480"/>
            <a:ext cx="1371600" cy="411480"/>
          </a:xfrm>
          <a:prstGeom prst="roundRect">
            <a:avLst/>
          </a:prstGeom>
          <a:solidFill>
            <a:srgbClr val="0E2447"/>
          </a:solidFill>
          <a:ln w="12700">
            <a:solidFill>
              <a:srgbClr val="4B6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Arial"/>
              </a:rPr>
              <a:t>Июнь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8FB4F5"/>
                </a:solidFill>
                <a:latin typeface="Arial"/>
              </a:rPr>
              <a:t>ВЫПУСКНАЯ КВАЛИФИКАЦИОННАЯ РАБОТА · МАГИСТЕРСКАЯ ДИССЕРТАЦИЯ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Разработка системы автоматического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детектирования нефтяных разливов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в акваториях арктических портов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по данным спутниковой радиолокационной съёмки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Байханов
Владислав Камолович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Выпускник магистратуры,
программа «Искусственный
интеллект и наука о данных»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Митько
Арсений Валерьевич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Научный руководитель,
к.т.н., доцент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6851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Филиппова
Надежда Анатольевна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6851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Рецензент,
д.т.н., профессор, МАДИ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Актуальность и проблема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2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82296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&gt; 700 тыс. т/год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углеводородов в Мировой океан
ежегодно; доля Арктики растёт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2152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02152" y="1417320"/>
            <a:ext cx="82296" cy="1207008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0752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7A"/>
                </a:solidFill>
                <a:latin typeface="Arial"/>
              </a:rPr>
              <a:t>В 5–10 раз медленнее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разлагается нефть в холодных
водах → долгосрочный ущерб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734056"/>
            <a:ext cx="82296" cy="1207008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5331F"/>
                </a:solidFill>
                <a:latin typeface="Arial"/>
              </a:rPr>
              <a:t>&gt; 80 % времени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облачность и полярная ночь:
оптические спутники бесполезны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02152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2152" y="2734056"/>
            <a:ext cx="82296" cy="1207008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0752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52"/>
                </a:solidFill>
                <a:latin typeface="Arial"/>
              </a:rPr>
              <a:t>Sentinel-1 SAR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0752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всепогодный круглосуточный
мониторинг — единственный выход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17320"/>
            <a:ext cx="5577840" cy="2523744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1417320"/>
            <a:ext cx="82296" cy="2523744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6002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B5331F"/>
                </a:solidFill>
                <a:latin typeface="Arial"/>
              </a:rPr>
              <a:t>Главная проблема: ложные цели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212848"/>
            <a:ext cx="5120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937"/>
                </a:solidFill>
                <a:latin typeface="Arial"/>
              </a:rPr>
              <a:t>Лёд, биоплёнки и штиль дают тёмные пятна — неотличимые от нефти на SAR-снимке. У классических методов до 70 % ложных срабатываний.
→ Нужна трёхклассовая модель: вода / нефть / лёд+суша.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078224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Кольский залив, разлив мазута 11.09.2024 — иллюстрация работы модели (схема: слева сцена, справа сегментация)</a:t>
            </a:r>
          </a:p>
        </p:txBody>
      </p:sp>
      <p:pic>
        <p:nvPicPr>
          <p:cNvPr id="28" name="Picture 27" descr="fig_ko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0966" y="4407408"/>
            <a:ext cx="4985308" cy="21488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Цель и задачи работы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14173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Цель: </a:t>
            </a:r>
            <a:r>
              <a:rPr sz="1600" b="0" i="0">
                <a:solidFill>
                  <a:srgbClr val="1F2937"/>
                </a:solidFill>
                <a:latin typeface="Arial"/>
              </a:rPr>
              <a:t>автоматизация детектирования нефтяных разливов в акваториях арктических портов по данным Sentinel-1 за счёт трёхклассовой нейросетевой модели семантической сегментации, обеспечивающей F1-меру для класса «нефть» не ниже 0,85.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Задачи: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118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648456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Выявить ограничения существующих методов и обосновать выбор архитектуры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27024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306824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Разработать методику формирования датасета и обучить модель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65192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Реализовать программный прототип — модульный конвейер обработки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58698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Провести экспериментальную оценку и сравнительный анализ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Существующие методы и их ограничения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4 /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27078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15207"/>
                <a:gridCol w="1748332"/>
                <a:gridCol w="1857603"/>
                <a:gridCol w="1966874"/>
                <a:gridCol w="1639062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Метод / работа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Многоклассо-
вость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Учёт ложных
целей льда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Арктич.
данные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Метод Оцу (2024)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U-Net, Krestenitis (2019)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бинарн.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GLCM + CNN (2025)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текстуры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D97706"/>
                          </a:solidFill>
                          <a:latin typeface="Arial"/>
                        </a:rPr>
                        <a:t>частично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DeepLabV3+ scSE (наст. работа)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3 класса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7D52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7D52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7D52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983480"/>
            <a:ext cx="10241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563EB"/>
                </a:solidFill>
                <a:latin typeface="Arial"/>
              </a:rPr>
              <a:t>Вывод: </a:t>
            </a:r>
            <a:r>
              <a:rPr sz="1400" b="0" i="0">
                <a:solidFill>
                  <a:srgbClr val="1F2937"/>
                </a:solidFill>
                <a:latin typeface="Arial"/>
              </a:rPr>
              <a:t>во всех аналогах — бинарная схема, нет отдельного класса льда → до 70 % ложных тревог в арктических акваториях.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Конвейер обработки SAR-данных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5 / 13</a:t>
            </a:r>
          </a:p>
        </p:txBody>
      </p:sp>
      <p:pic>
        <p:nvPicPr>
          <p:cNvPr id="7" name="Picture 6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49677"/>
            <a:ext cx="11475720" cy="41473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Предобработка и датасет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6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Предобработка снимка — 6 шагов (ESA SNAP)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938528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1920240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Apply Orbit File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уточнение орбиты спутника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15184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596896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Thermal Noise Removal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удаление шума сенсора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29184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3273552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Калибровка → σ⁰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перевод в физическую величину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968496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3950208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Фильтр Ли 7×7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подавление зернистости (спекл)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645152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4626864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Range-Doppler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геопривязка к местности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321808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8" y="5303520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Перевод в дБ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логарифмическая шкала яркости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371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Датасет и обучение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1874519"/>
            <a:ext cx="5257800" cy="132588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1874519"/>
            <a:ext cx="82296" cy="1325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1993392"/>
            <a:ext cx="49377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F2937"/>
                </a:solidFill>
                <a:latin typeface="Arial"/>
              </a:rPr>
              <a:t>1125 снимков → 4128 фрагментов 256×256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1112 — открытый набор (переразмечен) +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13 — собственные снимки Кольского залива.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Деление 70 / 20 / 10 на уровне снимков.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337560"/>
            <a:ext cx="5257800" cy="914400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3337560"/>
            <a:ext cx="82296" cy="91440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3456432"/>
            <a:ext cx="4937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B5331F"/>
                </a:solidFill>
                <a:latin typeface="Arial"/>
              </a:rPr>
              <a:t>Дисбаланс классов: </a:t>
            </a:r>
            <a:r>
              <a:rPr sz="1300" b="0" i="0">
                <a:solidFill>
                  <a:srgbClr val="1F2937"/>
                </a:solidFill>
                <a:latin typeface="Arial"/>
              </a:rPr>
              <a:t>нефть &lt; 2,4 % пикселей.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Решение: взвешенная Dice-BCE, вес «нефти» = 9,8.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462272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F2937"/>
                </a:solidFill>
                <a:latin typeface="Arial"/>
              </a:rPr>
              <a:t>Сходимость: лучшее mIoU = 0,84 на 78-й эпохе</a:t>
            </a:r>
          </a:p>
        </p:txBody>
      </p:sp>
      <p:pic>
        <p:nvPicPr>
          <p:cNvPr id="28" name="Picture 27" descr="fig_tra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3888" y="4800600"/>
            <a:ext cx="3508744" cy="137160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640080" y="6382512"/>
            <a:ext cx="10424160" cy="38404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6382512"/>
            <a:ext cx="82296" cy="3840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6400800"/>
            <a:ext cx="102412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Модель: </a:t>
            </a:r>
            <a:r>
              <a:rPr sz="1100" b="0" i="0">
                <a:solidFill>
                  <a:srgbClr val="1F2937"/>
                </a:solidFill>
                <a:latin typeface="Arial"/>
              </a:rPr>
              <a:t>DeepLabV3+ (энкодер ResNet-50) + scSE-внимание · сегментация на 3 класса: вода / нефть / лёд+суша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Результаты на тестовой выборке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7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82296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5564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563EB"/>
                </a:solidFill>
                <a:latin typeface="Arial"/>
              </a:rPr>
              <a:t>F1 = 0,89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042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класс «нефть»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3464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834640"/>
            <a:ext cx="82296" cy="105156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94436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7A"/>
                </a:solidFill>
                <a:latin typeface="Arial"/>
              </a:rPr>
              <a:t>mIoU = 0,82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9300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средняя по классам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6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23360"/>
            <a:ext cx="82296" cy="105156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13308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52"/>
                </a:solidFill>
                <a:latin typeface="Arial"/>
              </a:rPr>
              <a:t>95,8 %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8172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общая точность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57800"/>
            <a:ext cx="4846320" cy="96012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257800"/>
            <a:ext cx="82296" cy="96012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413248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52"/>
                </a:solidFill>
                <a:latin typeface="Arial"/>
              </a:rPr>
              <a:t>Целевой критерий F1 ≥ 0,85 выполнен ✓</a:t>
            </a:r>
          </a:p>
        </p:txBody>
      </p:sp>
      <p:pic>
        <p:nvPicPr>
          <p:cNvPr id="22" name="Picture 21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1755" y="1554480"/>
            <a:ext cx="5201529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Сравнение с методами-аналогами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8 / 13</a:t>
            </a:r>
          </a:p>
        </p:txBody>
      </p:sp>
      <p:pic>
        <p:nvPicPr>
          <p:cNvPr id="7" name="Picture 6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9327"/>
            <a:ext cx="7315200" cy="38166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20116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+0,18 к F1</a:t>
            </a:r>
            <a:r>
              <a:rPr sz="1500" b="0">
                <a:solidFill>
                  <a:srgbClr val="1F2937"/>
                </a:solidFill>
                <a:latin typeface="Arial"/>
              </a:rPr>
              <a:t> по сравнению с пороговым методом Оцу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Превосходство</a:t>
            </a:r>
            <a:r>
              <a:rPr sz="1500" b="0">
                <a:solidFill>
                  <a:srgbClr val="1F2937"/>
                </a:solidFill>
                <a:latin typeface="Arial"/>
              </a:rPr>
              <a:t> над всеми 4 альтернативными методами по всем метрикам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Прирост</a:t>
            </a:r>
            <a:r>
              <a:rPr sz="1500" b="0">
                <a:solidFill>
                  <a:srgbClr val="1F2937"/>
                </a:solidFill>
                <a:latin typeface="Arial"/>
              </a:rPr>
              <a:t> за счёт scSE-внимания и трёхклассовой схемы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Переносимость на другие акватории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9 / 13</a:t>
            </a:r>
          </a:p>
        </p:txBody>
      </p:sp>
      <p:pic>
        <p:nvPicPr>
          <p:cNvPr id="7" name="Picture 6" descr="fig_port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87583"/>
            <a:ext cx="7315200" cy="41801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920240"/>
            <a:ext cx="35661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Кольский залив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0,89 (обучение)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Варандей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0,84 (перенос)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Сабетта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0,76 (перенос)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4206240"/>
            <a:ext cx="3520440" cy="182880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4206240"/>
            <a:ext cx="82296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4370832"/>
            <a:ext cx="3154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Вывод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Методика принципиально применима; для тяжёлых ледовых акваторий требуется целевое дообучение.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ВЕТРОВЫЕ ТЕНИ И БИОГЕННЫЕ ПЛЁНКИ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Порт Печенга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10 / 13</a:t>
            </a:r>
          </a:p>
        </p:txBody>
      </p:sp>
      <p:pic>
        <p:nvPicPr>
          <p:cNvPr id="8" name="Picture 7" descr="fig_pechen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770" y="1325880"/>
            <a:ext cx="67437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ПЕРВОГОДНИЙ ДРЕЙФУЮЩИЙ ЛЁД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Терминал Варандей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11 / 13</a:t>
            </a:r>
          </a:p>
        </p:txBody>
      </p:sp>
      <p:pic>
        <p:nvPicPr>
          <p:cNvPr id="8" name="Picture 7" descr="fig_varand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770" y="1325880"/>
            <a:ext cx="67437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ЖИРОВОЙ И НИЛАСОВЫЙ ЛЁД, ПРИПАЙ — НАИБОЛЕЕ СЛОЖНАЯ АКВАТОРИЯ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Порт Сабетта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12 / 13</a:t>
            </a:r>
          </a:p>
        </p:txBody>
      </p:sp>
      <p:pic>
        <p:nvPicPr>
          <p:cNvPr id="8" name="Picture 7" descr="fig_sabet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770" y="1325880"/>
            <a:ext cx="67437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Заключение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86868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86868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27632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Цель достигнута: </a:t>
            </a:r>
            <a:r>
              <a:rPr sz="1700" b="0" i="0">
                <a:solidFill>
                  <a:srgbClr val="1F2937"/>
                </a:solidFill>
                <a:latin typeface="Arial"/>
              </a:rPr>
              <a:t>F1 = 0,89 при целевом критерии ≥ 0,85. Все четыре задачи решены.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24328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Систематизированы ограничения методов, обоснован выбор архитектуры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729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91256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Создан комбинированный датасет с оригинальной трёхклассовой разметкой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989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Реализован программный прототип-конвейер обработки SAR-сцен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0682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25112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Экспериментально подтверждено превосходство над пороговыми методами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029200"/>
            <a:ext cx="10927080" cy="11887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29200"/>
            <a:ext cx="82296" cy="1188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19379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Практическая значимость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Применимость в системах экологического мониторинга арктических портов — в интересах Росприроднадзора, МЧС, «Морспасслужбы» и мониторинга Северного морского пути.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Спасибо за внимание!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9FB2D0"/>
                </a:solidFill>
                <a:latin typeface="Arial"/>
              </a:rPr>
              <a:t>Готов ответить на ваши вопросы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572000"/>
            <a:ext cx="38100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Байханов Владислав Камолович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2D0"/>
                </a:solidFill>
                <a:latin typeface="Arial"/>
              </a:rPr>
              <a:t>Санкт-Петербургский государственный университет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