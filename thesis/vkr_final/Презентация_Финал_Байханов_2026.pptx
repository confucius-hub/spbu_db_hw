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4572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300" b="1" i="0">
                <a:solidFill>
                  <a:srgbClr val="FFFFFF"/>
                </a:solidFill>
                <a:latin typeface="Arial"/>
              </a:rPr>
              <a:t>Санкт-Петербургский государственный университет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362895" y="411480"/>
            <a:ext cx="1371600" cy="411480"/>
          </a:xfrm>
          <a:prstGeom prst="roundRect">
            <a:avLst/>
          </a:prstGeom>
          <a:solidFill>
            <a:srgbClr val="0E2447"/>
          </a:solidFill>
          <a:ln w="12700">
            <a:solidFill>
              <a:srgbClr val="4B6A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>
                <a:solidFill>
                  <a:srgbClr val="FFFFFF"/>
                </a:solidFill>
                <a:latin typeface="Arial"/>
              </a:rPr>
              <a:t>Июнь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515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8FB4F5"/>
                </a:solidFill>
                <a:latin typeface="Arial"/>
              </a:rPr>
              <a:t>ВЫПУСКНАЯ КВАЛИФИКАЦИОННАЯ РАБОТА · МАГИСТЕРСКАЯ ДИССЕРТАЦИЯ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2240280"/>
            <a:ext cx="109728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Автоматическое детектирование нефтяных разливов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в акваториях арктических портов по данным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200"/>
              </a:spcAft>
            </a:pPr>
            <a:r>
              <a:rPr sz="3300" b="1" i="0">
                <a:solidFill>
                  <a:srgbClr val="FFFFFF"/>
                </a:solidFill>
                <a:latin typeface="Arial"/>
              </a:rPr>
              <a:t>спутниковой радиолокационной съёмки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0467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FFFFFF"/>
                </a:solidFill>
                <a:latin typeface="Arial"/>
              </a:rPr>
              <a:t>Байханов
Владислав Камолович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Выпускник магистратуры,
программа «Искусственный
интеллект и наука о данных»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73659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Митько
Арсений Валерьевич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3659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Научный руководитель,
к.т.н., доцент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503920" y="4892040"/>
            <a:ext cx="38100" cy="12801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68512" y="4892040"/>
            <a:ext cx="338328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C9D6EC"/>
                </a:solidFill>
                <a:latin typeface="Arial"/>
              </a:rPr>
              <a:t>Филиппова
Наталья Алексеевна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68512" y="5715000"/>
            <a:ext cx="33832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9FB2D0"/>
                </a:solidFill>
                <a:latin typeface="Arial"/>
              </a:rPr>
              <a:t>Рецензент,
д.т.н., профессор, МАДИ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Актуальность и проблема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2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54480"/>
            <a:ext cx="5394960" cy="2926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700 тыс. т/год</a:t>
            </a:r>
            <a:r>
              <a:rPr sz="1500" b="0">
                <a:solidFill>
                  <a:srgbClr val="1F2937"/>
                </a:solidFill>
                <a:latin typeface="Arial"/>
              </a:rPr>
              <a:t> углеводородов попадает в Мировой океан; доля Арктики растёт из-за СМП и шельфа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 5–10 раз медленнее</a:t>
            </a:r>
            <a:r>
              <a:rPr sz="1500" b="0">
                <a:solidFill>
                  <a:srgbClr val="1F2937"/>
                </a:solidFill>
                <a:latin typeface="Arial"/>
              </a:rPr>
              <a:t> разлагается нефть в холодных водах → долговременное загрязнение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&gt; 80 % времени</a:t>
            </a:r>
            <a:r>
              <a:rPr sz="1500" b="0">
                <a:solidFill>
                  <a:srgbClr val="1F2937"/>
                </a:solidFill>
                <a:latin typeface="Arial"/>
              </a:rPr>
              <a:t> — облачность и полярная ночь: оптические спутники бесполезны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1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Sentinel-1 (SAR)</a:t>
            </a:r>
            <a:r>
              <a:rPr sz="1500" b="0">
                <a:solidFill>
                  <a:srgbClr val="1F2937"/>
                </a:solidFill>
                <a:latin typeface="Arial"/>
              </a:rPr>
              <a:t> — всепогодный круглосуточный мониторинг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4892040"/>
            <a:ext cx="5394960" cy="128016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4892040"/>
            <a:ext cx="82296" cy="128016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5029200"/>
            <a:ext cx="502920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B5331F"/>
                </a:solidFill>
                <a:latin typeface="Arial"/>
              </a:rPr>
              <a:t>Главная проблема: ложные цели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Лёд, биоплёнки и штиль дают тёмные пятна, неотличимые от нефти. У классических методов — до 70 % ложных срабатываний.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50876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1" i="0">
                <a:solidFill>
                  <a:srgbClr val="6B7280"/>
                </a:solidFill>
                <a:latin typeface="Arial"/>
              </a:rPr>
              <a:t>Реальный разлив мазута, Кольский залив, август 2024</a:t>
            </a:r>
          </a:p>
        </p:txBody>
      </p:sp>
      <p:pic>
        <p:nvPicPr>
          <p:cNvPr id="12" name="Picture 11" descr="fig_ko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63640" y="3346293"/>
            <a:ext cx="5394960" cy="1354134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Цель и задачи работы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3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14173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14173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00200"/>
            <a:ext cx="1042416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Цель: </a:t>
            </a:r>
            <a:r>
              <a:rPr sz="1600" b="0" i="0">
                <a:solidFill>
                  <a:srgbClr val="1F2937"/>
                </a:solidFill>
                <a:latin typeface="Arial"/>
              </a:rPr>
              <a:t>автоматизация детектирования нефтяных разливов в акваториях арктических портов по данным Sentinel-1 за счёт трёхклассовой нейросетевой модели семантической сегментации, обеспечивающей F1-меру для класса «нефть» не ниже 0,85.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15468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2563EB"/>
                </a:solidFill>
                <a:latin typeface="Arial"/>
              </a:rPr>
              <a:t>Задачи: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61188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3648456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Выявить ограничения существующих методов и обосновать выбор архитектуры</a:t>
            </a:r>
          </a:p>
        </p:txBody>
      </p:sp>
      <p:sp>
        <p:nvSpPr>
          <p:cNvPr id="13" name="Oval 12"/>
          <p:cNvSpPr/>
          <p:nvPr/>
        </p:nvSpPr>
        <p:spPr>
          <a:xfrm>
            <a:off x="640080" y="4270248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80160" y="4306824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Разработать методику формирования датасета и обучить модель</a:t>
            </a:r>
          </a:p>
        </p:txBody>
      </p:sp>
      <p:sp>
        <p:nvSpPr>
          <p:cNvPr id="15" name="Oval 14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4965192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Реализовать программный прототип — модульный конвейер обработки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558698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5623560"/>
            <a:ext cx="100584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Провести экспериментальную оценку и сравнительный анализ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Научная новизна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4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82296" cy="42062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563EB"/>
                </a:solidFill>
                <a:latin typeface="Arial"/>
              </a:rPr>
              <a:t>Трёхклассовая схема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вода / нефть / лёд + суша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Вместо бинарной «нефть — фон» из всех известных работ. Начальные формы льда вынесены в отдельный класс — прямая борьба с главным источником ложных тревог в Арктике.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343400" y="1600200"/>
            <a:ext cx="82296" cy="42062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1772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7A"/>
                </a:solidFill>
                <a:latin typeface="Arial"/>
              </a:rPr>
              <a:t>Арктический датасет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методика разметки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1772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Полигональная разметка Кольского залива в QGIS с привлечением метеоданных реанализа ERA5 и навигационных данных AIS.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6720" y="1600200"/>
            <a:ext cx="3520440" cy="42062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6720" y="1600200"/>
            <a:ext cx="82296" cy="420624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21040" y="1920240"/>
            <a:ext cx="306324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2E7D52"/>
                </a:solidFill>
                <a:latin typeface="Arial"/>
              </a:rPr>
              <a:t>Адаптация архитектуры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1">
                <a:solidFill>
                  <a:srgbClr val="6B7280"/>
                </a:solidFill>
                <a:latin typeface="Arial"/>
              </a:rPr>
              <a:t>DeepLabV3+ / scSE / Dice-BCE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21040" y="3017520"/>
            <a:ext cx="3063240" cy="2560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ResNet-50 с блоками внимания scSE адаптирован к одноканальным SAR-данным; дисбаланс классов устранён взвешенной функцией потерь.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Существующие методы и их ограничения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5 / 18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640080" y="1600200"/>
          <a:ext cx="10927078" cy="340156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715207"/>
                <a:gridCol w="1748332"/>
                <a:gridCol w="1857603"/>
                <a:gridCol w="1966874"/>
                <a:gridCol w="1639062"/>
              </a:tblGrid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Метод / работа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Тип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Многоклассо-
вость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Учёт ложных
целей льда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Арктич.
данные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Метод Оцу (2024)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U-Net, Krestenitis (2019)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бинарн.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GLCM + CNN (2025)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текстуры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частично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 μ−1,5σ (практика)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порог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—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DeepLabV3+ scSE (наст. работа)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DL, 3 класса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300" b="0">
                          <a:solidFill>
                            <a:srgbClr val="1F2937"/>
                          </a:solidFill>
                          <a:latin typeface="Arial"/>
                        </a:rPr>
                        <a:t>+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5806440"/>
            <a:ext cx="1088136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Вывод: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во всех аналогах — бинарная схема и нет отдельного класса для льда; именно это даёт до 70 % ложных тревог в арктических акваториях.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Архитектура решения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6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Трёхэтапный модульный конвейер обработки SAR-сцены</a:t>
            </a:r>
          </a:p>
        </p:txBody>
      </p:sp>
      <p:pic>
        <p:nvPicPr>
          <p:cNvPr id="8" name="Picture 7" descr="fig_pipeli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8896" y="2057400"/>
            <a:ext cx="8349448" cy="301752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640080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0080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65 сек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обработка одной сцены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410712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Python · PyTorch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10712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стек реализации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181344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81344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NVIDIA RTX 3090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81344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вычисления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51976" y="5349240"/>
            <a:ext cx="2606040" cy="9601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51976" y="5468112"/>
            <a:ext cx="2606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Открытый код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51976" y="5897880"/>
            <a:ext cx="26060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GitHub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Датасет и обучение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7 /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1125 сцен → 4128 тайлов 256×256</a:t>
            </a:r>
          </a:p>
        </p:txBody>
      </p:sp>
      <p:pic>
        <p:nvPicPr>
          <p:cNvPr id="8" name="Picture 7" descr="fig_class_dis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89070" y="1874519"/>
            <a:ext cx="3348339" cy="3657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" y="5623560"/>
            <a:ext cx="539496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200" b="0" i="0">
                <a:solidFill>
                  <a:srgbClr val="6B7280"/>
                </a:solidFill>
                <a:latin typeface="Arial"/>
              </a:rPr>
              <a:t>1112 сцен MKLab Krestenitis + 13 собственных сцен Кольского залива; деление 70 / 20 / 10 на уровне сцен.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508760"/>
            <a:ext cx="53035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F2937"/>
                </a:solidFill>
                <a:latin typeface="Arial"/>
              </a:rPr>
              <a:t>Сходимость: 78 эпох, лучшее mIoU = 0,84</a:t>
            </a:r>
          </a:p>
        </p:txBody>
      </p:sp>
      <p:pic>
        <p:nvPicPr>
          <p:cNvPr id="11" name="Picture 10" descr="fig_training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2054490"/>
            <a:ext cx="5394960" cy="2108938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309360" y="4617720"/>
            <a:ext cx="5257800" cy="1600200"/>
          </a:xfrm>
          <a:prstGeom prst="roundRect">
            <a:avLst/>
          </a:prstGeom>
          <a:solidFill>
            <a:srgbClr val="FDF0EE"/>
          </a:solidFill>
          <a:ln w="12700">
            <a:solidFill>
              <a:srgbClr val="F0C8C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309360" y="4617720"/>
            <a:ext cx="82296" cy="160020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37960" y="4754880"/>
            <a:ext cx="49377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B5331F"/>
                </a:solidFill>
                <a:latin typeface="Arial"/>
              </a:rPr>
              <a:t>Главная сложность — дисбаланс классов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Пиксели нефти — менее 1 %. Решение: взвешенная Dice-BCE, вес класса «нефть» повышен до 9,8.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Результаты на тестовой выборке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8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82296" cy="105156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175564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563EB"/>
                </a:solidFill>
                <a:latin typeface="Arial"/>
              </a:rPr>
              <a:t>F1 = 0,89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230428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класс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83464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834640"/>
            <a:ext cx="82296" cy="105156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94436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7A"/>
                </a:solidFill>
                <a:latin typeface="Arial"/>
              </a:rPr>
              <a:t>mIoU = 0,82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349300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средняя по классам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023360"/>
            <a:ext cx="4846320" cy="105156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023360"/>
            <a:ext cx="82296" cy="105156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60120" y="4133088"/>
            <a:ext cx="44805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2E7D52"/>
                </a:solidFill>
                <a:latin typeface="Arial"/>
              </a:rPr>
              <a:t>95,8 %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0120" y="4681728"/>
            <a:ext cx="44805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6B7280"/>
                </a:solidFill>
                <a:latin typeface="Arial"/>
              </a:rPr>
              <a:t>общая точность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5257800"/>
            <a:ext cx="4846320" cy="96012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5257800"/>
            <a:ext cx="82296" cy="96012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413248"/>
            <a:ext cx="438912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52"/>
                </a:solidFill>
                <a:latin typeface="Arial"/>
              </a:rPr>
              <a:t>Целевой критерий F1 ≥ 0,85 выполнен ✓</a:t>
            </a:r>
          </a:p>
        </p:txBody>
      </p:sp>
      <p:pic>
        <p:nvPicPr>
          <p:cNvPr id="22" name="Picture 21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31755" y="1554480"/>
            <a:ext cx="5201529" cy="466344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Сравнение с методами-аналогами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9 / 18</a:t>
            </a:r>
          </a:p>
        </p:txBody>
      </p:sp>
      <p:pic>
        <p:nvPicPr>
          <p:cNvPr id="7" name="Picture 6" descr="fig_method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2069327"/>
            <a:ext cx="7315200" cy="381662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011680"/>
            <a:ext cx="3566160" cy="320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+0,18 к F1</a:t>
            </a:r>
            <a:r>
              <a:rPr sz="1500" b="0">
                <a:solidFill>
                  <a:srgbClr val="1F2937"/>
                </a:solidFill>
                <a:latin typeface="Arial"/>
              </a:rPr>
              <a:t> по сравнению с пороговым методом Оцу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Превосходство</a:t>
            </a:r>
            <a:r>
              <a:rPr sz="1500" b="0">
                <a:solidFill>
                  <a:srgbClr val="1F2937"/>
                </a:solidFill>
                <a:latin typeface="Arial"/>
              </a:rPr>
              <a:t> над всеми 4 альтернативными методами по всем метрикам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Прирост</a:t>
            </a:r>
            <a:r>
              <a:rPr sz="1500" b="0">
                <a:solidFill>
                  <a:srgbClr val="1F2937"/>
                </a:solidFill>
                <a:latin typeface="Arial"/>
              </a:rPr>
              <a:t> за счёт scSE-внимания и трёхклассовой схемы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Переносимость на другие акватории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10 / 18</a:t>
            </a:r>
          </a:p>
        </p:txBody>
      </p:sp>
      <p:pic>
        <p:nvPicPr>
          <p:cNvPr id="7" name="Picture 6" descr="fig_ports_f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887583"/>
            <a:ext cx="7315200" cy="418011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1920240"/>
            <a:ext cx="356616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Кольский залив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0,89 (обучение)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Варандей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0,84 (перенос)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400"/>
              </a:spcAft>
            </a:pPr>
            <a:r>
              <a:rPr sz="1600" b="1">
                <a:solidFill>
                  <a:srgbClr val="2563EB"/>
                </a:solidFill>
                <a:latin typeface="Arial"/>
              </a:rPr>
              <a:t>•  </a:t>
            </a:r>
            <a:r>
              <a:rPr sz="1600" b="1">
                <a:solidFill>
                  <a:srgbClr val="1F2937"/>
                </a:solidFill>
                <a:latin typeface="Arial"/>
              </a:rPr>
              <a:t>Сабетта</a:t>
            </a:r>
            <a:r>
              <a:rPr sz="1600" b="0">
                <a:solidFill>
                  <a:srgbClr val="1F2937"/>
                </a:solidFill>
                <a:latin typeface="Arial"/>
              </a:rPr>
              <a:t> — F1 = 0,76 (перенос)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38160" y="4206240"/>
            <a:ext cx="3520440" cy="182880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138160" y="4206240"/>
            <a:ext cx="82296" cy="18288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366760" y="4370832"/>
            <a:ext cx="315468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Вывод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Методика принципиально применима; для тяжёлых ледовых акваторий требуется целевое дообучение.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Типы ложных целей по акваториям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11 / 18</a:t>
            </a:r>
          </a:p>
        </p:txBody>
      </p:sp>
      <p:pic>
        <p:nvPicPr>
          <p:cNvPr id="7" name="Picture 6" descr="fig_varand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737360"/>
            <a:ext cx="5486400" cy="438912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126480" y="6355080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Варандей: разметка look-alike и детекция тёмных зон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3736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737360"/>
            <a:ext cx="82296" cy="1234440"/>
          </a:xfrm>
          <a:prstGeom prst="rect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0195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E7D7A"/>
                </a:solidFill>
                <a:latin typeface="Arial"/>
              </a:rPr>
              <a:t>Печенга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безлёдный тип: ветровые тени и биогенные плёнки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315468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0080" y="3154680"/>
            <a:ext cx="82296" cy="12344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331927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2563EB"/>
                </a:solidFill>
                <a:latin typeface="Arial"/>
              </a:rPr>
              <a:t>Варандей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сезонный первогодний дрейфующий лёд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4572000"/>
            <a:ext cx="5212080" cy="123444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4572000"/>
            <a:ext cx="82296" cy="1234440"/>
          </a:xfrm>
          <a:prstGeom prst="rect">
            <a:avLst/>
          </a:prstGeom>
          <a:solidFill>
            <a:srgbClr val="B533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4736592"/>
            <a:ext cx="4754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700" b="1" i="0">
                <a:solidFill>
                  <a:srgbClr val="B5331F"/>
                </a:solidFill>
                <a:latin typeface="Arial"/>
              </a:rPr>
              <a:t>Сабетта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300"/>
              </a:spcAft>
            </a:pPr>
            <a:r>
              <a:rPr sz="1300" b="0" i="0">
                <a:solidFill>
                  <a:srgbClr val="1F2937"/>
                </a:solidFill>
                <a:latin typeface="Arial"/>
              </a:rPr>
              <a:t>жировой и ниласовый лёд, припай — самая сложная акватория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65760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Заключение</a:t>
            </a:r>
          </a:p>
        </p:txBody>
      </p:sp>
      <p:sp>
        <p:nvSpPr>
          <p:cNvPr id="5" name="Rectangle 4"/>
          <p:cNvSpPr/>
          <p:nvPr/>
        </p:nvSpPr>
        <p:spPr>
          <a:xfrm>
            <a:off x="640080" y="1024128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12 / 18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463040"/>
            <a:ext cx="10927080" cy="868680"/>
          </a:xfrm>
          <a:prstGeom prst="roundRect">
            <a:avLst/>
          </a:prstGeom>
          <a:solidFill>
            <a:srgbClr val="ECF7F0"/>
          </a:solidFill>
          <a:ln w="12700">
            <a:solidFill>
              <a:srgbClr val="C2E5D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463040"/>
            <a:ext cx="82296" cy="868680"/>
          </a:xfrm>
          <a:prstGeom prst="rect">
            <a:avLst/>
          </a:prstGeom>
          <a:solidFill>
            <a:srgbClr val="2E7D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1627632"/>
            <a:ext cx="104241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Цель достигнута: </a:t>
            </a:r>
            <a:r>
              <a:rPr sz="1700" b="0" i="0">
                <a:solidFill>
                  <a:srgbClr val="1F2937"/>
                </a:solidFill>
                <a:latin typeface="Arial"/>
              </a:rPr>
              <a:t>F1 = 0,89 при целевом критерии ≥ 0,85. Все четыре задачи решены.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2606040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624328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Систематизированы ограничения методов, обоснован выбор архитектуры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172968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3191256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Создан комбинированный датасет с оригинальной трёхклассовой разметкой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3739896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3758184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Реализован программный прототип-конвейер, код в открытом доступе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306824"/>
            <a:ext cx="457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700" b="1" i="0">
                <a:solidFill>
                  <a:srgbClr val="2E7D52"/>
                </a:solidFill>
                <a:latin typeface="Arial"/>
              </a:rPr>
              <a:t>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" y="4325112"/>
            <a:ext cx="1033272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0" i="0">
                <a:solidFill>
                  <a:srgbClr val="1F2937"/>
                </a:solidFill>
                <a:latin typeface="Arial"/>
              </a:rPr>
              <a:t>Экспериментально подтверждено превосходство над пороговыми методами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5029200"/>
            <a:ext cx="10927080" cy="1188720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5029200"/>
            <a:ext cx="82296" cy="118872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5193792"/>
            <a:ext cx="104241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2563EB"/>
                </a:solidFill>
                <a:latin typeface="Arial"/>
              </a:rPr>
              <a:t>Практическая значимость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Применимость в системах экологического мониторинга арктических портов — в интересах Росприроднадзора, МЧС, «Морспасслужбы» и мониторинга Северного морского пути.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gradFill rotWithShape="1">
            <a:gsLst>
              <a:gs pos="0">
                <a:srgbClr val="0E2447"/>
              </a:gs>
              <a:gs pos="100000">
                <a:srgbClr val="163A6B"/>
              </a:gs>
            </a:gsLst>
            <a:lin scaled="0" ang="18900000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468880"/>
            <a:ext cx="105156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4600" b="1" i="0">
                <a:solidFill>
                  <a:srgbClr val="FFFFFF"/>
                </a:solidFill>
                <a:latin typeface="Arial"/>
              </a:rPr>
              <a:t>Спасибо за внимание!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56616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 i="0">
                <a:solidFill>
                  <a:srgbClr val="9FB2D0"/>
                </a:solidFill>
                <a:latin typeface="Arial"/>
              </a:rPr>
              <a:t>Готов ответить на ваши вопросы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4572000"/>
            <a:ext cx="38100" cy="100584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05840" y="4572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FFFFFF"/>
                </a:solidFill>
                <a:latin typeface="Arial"/>
              </a:rPr>
              <a:t>Байханов Владислав Камолович</a:t>
            </a:r>
          </a:p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2D0"/>
                </a:solidFill>
                <a:latin typeface="Arial"/>
              </a:rPr>
              <a:t>Санкт-Петербургский государственный университет · 2026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13 / 18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DeepLabV3+ с энкодером ResNet-50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14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691640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80160" y="1673352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Энкодер ResNet-50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извлечение признаков из SAR-тайла 256×256; предобучен на ImageNet, адаптирован к 1-канальному входу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770632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80160" y="2752344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ASPP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Atrous Spatial Pyramid Pooling — параллельные свёртки с коэффициентами разрежения 6/12/18 + image-level pooling: охват разномасштабного контекста пятен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849624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3831336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scSE-внимание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spatial + channel Squeeze-and-Excitation: усиление информативных каналов и пространственных зон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4928616"/>
            <a:ext cx="457200" cy="457200"/>
          </a:xfrm>
          <a:prstGeom prst="ellipse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80160" y="4910328"/>
            <a:ext cx="1024128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Декодер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объединение низко- и высокоуровневых признаков, апсемплинг до исходного разрешения, попиксельная классификация на 3 класса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Функция потерь и гиперпараметры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15 / 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600200"/>
            <a:ext cx="54864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Комбинированная функция потерь Dice-BCE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057400"/>
            <a:ext cx="539496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L = L_Dice + L_BCE с весами классов для устранения дисбаланса. Dice работает с перекрытием масок, BCE — с попиксельной вероятностью.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40080" y="3291840"/>
          <a:ext cx="3657600" cy="18288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94560"/>
                <a:gridCol w="146304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Класс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1">
                          <a:solidFill>
                            <a:srgbClr val="1E40AF"/>
                          </a:solidFill>
                          <a:latin typeface="Arial"/>
                        </a:rPr>
                        <a:t>Вес</a:t>
                      </a:r>
                    </a:p>
                  </a:txBody>
                  <a:tcPr marL="73152" marR="54864" marT="27432" marB="27432" anchor="ctr">
                    <a:solidFill>
                      <a:srgbClr val="DBEAF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вода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0,3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нефть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9,8</a:t>
                      </a:r>
                    </a:p>
                  </a:txBody>
                  <a:tcPr marL="73152" marR="54864" marT="27432" marB="27432" anchor="ctr">
                    <a:solidFill>
                      <a:srgbClr val="F3F6F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200" b="1">
                          <a:solidFill>
                            <a:srgbClr val="1F2937"/>
                          </a:solidFill>
                          <a:latin typeface="Arial"/>
                        </a:rPr>
                        <a:t>лёд + суша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200" b="0">
                          <a:solidFill>
                            <a:srgbClr val="1F2937"/>
                          </a:solidFill>
                          <a:latin typeface="Arial"/>
                        </a:rPr>
                        <a:t>1,2</a:t>
                      </a:r>
                    </a:p>
                  </a:txBody>
                  <a:tcPr marL="73152" marR="54864" marT="27432" marB="27432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400800" y="1600200"/>
            <a:ext cx="51206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600" b="1" i="0">
                <a:solidFill>
                  <a:srgbClr val="1F2937"/>
                </a:solidFill>
                <a:latin typeface="Arial"/>
              </a:rPr>
              <a:t>Параметры обучения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10312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Оптимизатор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0" y="210312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AdamW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670048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Learning rate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670048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0" y="3236976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Weight decay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00" y="3236976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1·10⁻⁴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3803904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Расписание LR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0" y="3803904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ReduceLROnPlateau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370832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Эпохи / batch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0" y="4370832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100 / 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0" y="4937760"/>
            <a:ext cx="2743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6B7280"/>
                </a:solidFill>
                <a:latin typeface="Arial"/>
              </a:rPr>
              <a:t>Аугментации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44000" y="4937760"/>
            <a:ext cx="23774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0" i="0">
                <a:solidFill>
                  <a:srgbClr val="1F2937"/>
                </a:solidFill>
                <a:latin typeface="Arial"/>
              </a:rPr>
              <a:t>повороты, отражения, TTA ×4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Предобработка SAR в ESA SNAP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16 / 18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173736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2821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Apply Orbit File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уточнение параметров орбиты спутника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2450592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441448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Thermal Noise Removal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удаление теплового шума сенсора</a:t>
            </a:r>
          </a:p>
        </p:txBody>
      </p:sp>
      <p:sp>
        <p:nvSpPr>
          <p:cNvPr id="12" name="Oval 11"/>
          <p:cNvSpPr/>
          <p:nvPr/>
        </p:nvSpPr>
        <p:spPr>
          <a:xfrm>
            <a:off x="640080" y="3163824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154680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Радиометрическая калибровка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перевод в σ⁰ (коэффициент обратного рассеяния)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77056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3867912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Фильтр Ли 7×7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подавление спекл-шума с сохранением границ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4590288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81144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Range-Doppler коррекция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геометрическая привязка к местности</a:t>
            </a:r>
          </a:p>
        </p:txBody>
      </p:sp>
      <p:sp>
        <p:nvSpPr>
          <p:cNvPr id="18" name="Oval 17"/>
          <p:cNvSpPr/>
          <p:nvPr/>
        </p:nvSpPr>
        <p:spPr>
          <a:xfrm>
            <a:off x="640080" y="5303520"/>
            <a:ext cx="420624" cy="420624"/>
          </a:xfrm>
          <a:prstGeom prst="ellipse">
            <a:avLst/>
          </a:prstGeom>
          <a:solidFill>
            <a:srgbClr val="2E7D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</a:rPr>
              <a:t>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5294376"/>
            <a:ext cx="1024128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2E7D7A"/>
                </a:solidFill>
                <a:latin typeface="Arial"/>
              </a:rPr>
              <a:t>Перевод в дБ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логарифмическая шкала [−35; 0] дБ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Метрики оценки качества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17 / 18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29384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Precision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верных среди предсказанных пикселей «нефть»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679192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679192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2825496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Recall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найденных среди всех истинных пикселей «нефть»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75304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3575304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3721608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F1-score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гармоническое среднее Precision и Recall — основная метрика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471416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40080" y="4471416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14400" y="4617720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IoU / mIoU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отношение пересечения к объединению масок; mIoU — среднее по классам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367528"/>
            <a:ext cx="10927080" cy="749808"/>
          </a:xfrm>
          <a:prstGeom prst="roundRect">
            <a:avLst/>
          </a:prstGeom>
          <a:solidFill>
            <a:srgbClr val="F3F6FC"/>
          </a:solidFill>
          <a:ln w="12700">
            <a:solidFill>
              <a:srgbClr val="DBEA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5367528"/>
            <a:ext cx="82296" cy="749808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5513832"/>
            <a:ext cx="10424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500" b="1" i="0">
                <a:solidFill>
                  <a:srgbClr val="1E40AF"/>
                </a:solidFill>
                <a:latin typeface="Arial"/>
              </a:rPr>
              <a:t>Accuracy — </a:t>
            </a:r>
            <a:r>
              <a:rPr sz="1500" b="0" i="0">
                <a:solidFill>
                  <a:srgbClr val="1F2937"/>
                </a:solidFill>
                <a:latin typeface="Arial"/>
              </a:rPr>
              <a:t>доля верно классифицированных пикселей всех классов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46304" cy="68580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310896"/>
            <a:ext cx="10058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6B7280"/>
                </a:solidFill>
                <a:latin typeface="Arial"/>
              </a:rPr>
              <a:t>РЕЗЕРВНЫЙ СЛАЙД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566928"/>
            <a:ext cx="109728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600"/>
              </a:spcAft>
            </a:pPr>
            <a:r>
              <a:rPr sz="3000" b="1" i="0">
                <a:solidFill>
                  <a:srgbClr val="2563EB"/>
                </a:solidFill>
                <a:latin typeface="Arial"/>
              </a:rPr>
              <a:t>Разбор матрицы ошибок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1225296"/>
            <a:ext cx="2011680" cy="38100"/>
          </a:xfrm>
          <a:prstGeom prst="rect">
            <a:avLst/>
          </a:prstGeom>
          <a:solidFill>
            <a:srgbClr val="2563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1140135" y="6355080"/>
            <a:ext cx="777240" cy="310896"/>
          </a:xfrm>
          <a:prstGeom prst="roundRect">
            <a:avLst/>
          </a:prstGeom>
          <a:solidFill>
            <a:srgbClr val="F3F6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/>
          <a:lstStyle/>
          <a:p>
            <a:pPr algn="ctr"/>
            <a:r>
              <a:rPr sz="1100">
                <a:solidFill>
                  <a:srgbClr val="6B7280"/>
                </a:solidFill>
                <a:latin typeface="Arial"/>
              </a:rPr>
              <a:t>18 / 18</a:t>
            </a:r>
          </a:p>
        </p:txBody>
      </p:sp>
      <p:pic>
        <p:nvPicPr>
          <p:cNvPr id="8" name="Picture 7" descr="fig_confu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1075" y="1554480"/>
            <a:ext cx="5201529" cy="466344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400800" y="1828800"/>
            <a:ext cx="5120640" cy="4114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Основная ошибка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8,4 % пикселей нефти отнесены к «лёд + суша»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Причина</a:t>
            </a:r>
            <a:r>
              <a:rPr sz="1500" b="0">
                <a:solidFill>
                  <a:srgbClr val="1F2937"/>
                </a:solidFill>
                <a:latin typeface="Arial"/>
              </a:rPr>
              <a:t> — физически схожие тёмные сигнатуры обратного рассеяния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«вода»</a:t>
            </a:r>
            <a:r>
              <a:rPr sz="1500" b="0">
                <a:solidFill>
                  <a:srgbClr val="1F2937"/>
                </a:solidFill>
                <a:latin typeface="Arial"/>
              </a:rPr>
              <a:t> распознаётся с точностью 96,2 %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Класс «лёд + суша»</a:t>
            </a:r>
            <a:r>
              <a:rPr sz="1500" b="0">
                <a:solidFill>
                  <a:srgbClr val="1F2937"/>
                </a:solidFill>
                <a:latin typeface="Arial"/>
              </a:rPr>
              <a:t> — 96,0 %; смешение с нефтью лишь 2,7 %</a:t>
            </a:r>
          </a:p>
          <a:p>
            <a:pPr>
              <a:lnSpc>
                <a:spcPct val="105000"/>
              </a:lnSpc>
              <a:spcBef>
                <a:spcPts val="0"/>
              </a:spcBef>
              <a:spcAft>
                <a:spcPts val="1300"/>
              </a:spcAft>
            </a:pPr>
            <a:r>
              <a:rPr sz="1500" b="1">
                <a:solidFill>
                  <a:srgbClr val="2563EB"/>
                </a:solidFill>
                <a:latin typeface="Arial"/>
              </a:rPr>
              <a:t>•  </a:t>
            </a:r>
            <a:r>
              <a:rPr sz="1500" b="1">
                <a:solidFill>
                  <a:srgbClr val="1F2937"/>
                </a:solidFill>
                <a:latin typeface="Arial"/>
              </a:rPr>
              <a:t>Вывод</a:t>
            </a:r>
            <a:r>
              <a:rPr sz="1500" b="0">
                <a:solidFill>
                  <a:srgbClr val="1F2937"/>
                </a:solidFill>
                <a:latin typeface="Arial"/>
              </a:rPr>
              <a:t> — модель устойчиво разделяет три класса; остаточная путаница ожидаема физически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