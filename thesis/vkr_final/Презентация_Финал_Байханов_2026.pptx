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Разработка системы автоматического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детектирования нефтяных разливов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в акваториях арктических портов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по данным 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Надежда Анатольевна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78224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залив, Sentinel-1 2024 — временно́й ряд детектирования разлива мазута 11.09.2024</a:t>
            </a:r>
          </a:p>
        </p:txBody>
      </p:sp>
      <p:pic>
        <p:nvPicPr>
          <p:cNvPr id="28" name="Picture 27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062" y="4407408"/>
            <a:ext cx="8561115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Научная новизна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82296" cy="4206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563EB"/>
                </a:solidFill>
                <a:latin typeface="Arial"/>
              </a:rPr>
              <a:t>Трёхклассовая схема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вода / нефть / лёд + суша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Вместо бинарной «нефть — фон» из всех известных работ. Начальные формы льда вынесены в отдельный класс — прямая борьба с главным источником ложных тревог в Арктике.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00200"/>
            <a:ext cx="82296" cy="42062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7A"/>
                </a:solidFill>
                <a:latin typeface="Arial"/>
              </a:rPr>
              <a:t>Арктический датасет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методика разметки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Полигональная разметка Кольского залива в QGIS с привлечением метеоданных реанализа ERA5 и навигационных данных AIS.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600200"/>
            <a:ext cx="82296" cy="420624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52"/>
                </a:solidFill>
                <a:latin typeface="Arial"/>
              </a:rPr>
              <a:t>Адаптация архитектуры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DeepLabV3+ / scSE / Dice-BCE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ResNet-50 с блоками внимания scSE адаптирован к одноканальным SAR-данным; дисбаланс классов устранён взвешенной функцией потерь.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 μ−1,5σ (практика)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53212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Архитектура решения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Трёхэтапный модульный конвейер обработки SAR-сцены</a:t>
            </a:r>
          </a:p>
        </p:txBody>
      </p:sp>
      <p:pic>
        <p:nvPicPr>
          <p:cNvPr id="8" name="Picture 7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96" y="2057400"/>
            <a:ext cx="8349448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65 сек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обработка одной сцены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Python · PyTorch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стек реализации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NVIDIA RTX 3090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вычисления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1976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Открытый код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GitHub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1125 сцен → 4128 тайлов 256×256</a:t>
            </a:r>
          </a:p>
        </p:txBody>
      </p:sp>
      <p:pic>
        <p:nvPicPr>
          <p:cNvPr id="8" name="Picture 7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070" y="1874519"/>
            <a:ext cx="334833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2356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1112 сцен MKLab Krestenitis + 13 собственных сцен Кольского залива; деление 70 / 20 / 10 на уровне сцен.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Сходимость: 78 эпох, лучшее mIoU = 0,84</a:t>
            </a:r>
          </a:p>
        </p:txBody>
      </p:sp>
      <p:pic>
        <p:nvPicPr>
          <p:cNvPr id="11" name="Picture 10" descr="fig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54490"/>
            <a:ext cx="5394960" cy="210893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4617720"/>
            <a:ext cx="5257800" cy="16002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4617720"/>
            <a:ext cx="82296" cy="16002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331F"/>
                </a:solidFill>
                <a:latin typeface="Arial"/>
              </a:rPr>
              <a:t>Главная сложность — дисбаланс классов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Пиксели нефти — менее 2,4 %. Решение: взвешенная Dice-BCE, вес класса «нефть» повышен до 9,8.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18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18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Типы ложных целей по акваториям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82296" cy="12344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E7D7A"/>
                </a:solidFill>
                <a:latin typeface="Arial"/>
              </a:rPr>
              <a:t>Печенга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безлёдный тип: ветровые тени и биогенные плёнки</a:t>
            </a:r>
          </a:p>
        </p:txBody>
      </p:sp>
      <p:pic>
        <p:nvPicPr>
          <p:cNvPr id="10" name="Picture 9" descr="fig_pechen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8155" y="1737360"/>
            <a:ext cx="1543050" cy="1234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315468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54680"/>
            <a:ext cx="82296" cy="1234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1927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Варандей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сезонный первогодний дрейфующий лёд</a:t>
            </a:r>
          </a:p>
        </p:txBody>
      </p:sp>
      <p:pic>
        <p:nvPicPr>
          <p:cNvPr id="14" name="Picture 13" descr="fig_varand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8155" y="3154680"/>
            <a:ext cx="1543050" cy="12344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40080" y="457200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72000"/>
            <a:ext cx="82296" cy="123444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3659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Сабетта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жировой и ниласовый лёд, припай — самая сложная акватория</a:t>
            </a:r>
          </a:p>
        </p:txBody>
      </p:sp>
      <p:pic>
        <p:nvPicPr>
          <p:cNvPr id="18" name="Picture 17" descr="fig_sabet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8155" y="4572000"/>
            <a:ext cx="154305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прототип-конвейер, код в открытом доступе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DeepLabV3+ с энкодером ResNet-50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14 / 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673352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Энкодер ResNet-50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извлечение признаков из SAR-тайла 256×256; предобучен на ImageNet, адаптирован к 1-канальному входу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752344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ASPP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Atrous Spatial Pyramid Pooling — параллельные свёртки с коэффициентами разрежения 6/12/18 + image-level pooling: охват разномасштабного контекста пятен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31336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scSE-внимание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spatial + channel Squeeze-and-Excitation: усиление информативных каналов и пространственных зон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91032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Декодер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объединение низко- и высокоуровневых признаков, апсемплинг до исходного разрешения, попиксельная классификация на 3 класса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Функция потерь и гиперпараметры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15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Комбинированная функция потерь Dice-BCE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L = L_Dice + L_BCE с весами классов для устранения дисбаланса. Dice работает с перекрытием масок, BCE — с попиксельной вероятностью.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91840"/>
          <a:ext cx="3657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вода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нефть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лёд + суша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Параметры обучения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Оптимизатор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AdamW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Learning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6700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Weight decay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2369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Расписание LR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8039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ReduceLROnPlateau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Эпохи / batch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100 /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Аугментации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49377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повороты, отражения, TTA ×4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SAR в ESA SNAP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16 / 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73736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2821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Apply Orbit File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уточнение параметров орбиты спутника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45059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41448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Thermal Noise Removal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удаление теплового шума сенсора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16382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5468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Радиометрическая калибровка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перевод в σ⁰ (коэффициент обратного рассеяния)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87705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867912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Фильтр Ли 7×7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подавление спекл-шума с сохранением границ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59028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81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Range-Doppler коррекция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геометрическая привязка к местности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30352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29437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Перевод в дБ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логарифмическая шкала [−35; 0] дБ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Метрики оценки качества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938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Precision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верных среди предсказанных пикселей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79192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79192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25496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Recall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найденных среди всех истинных пикселей «нефть»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75304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575304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216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F1-score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гармоническое среднее Precision и Recall — основная метрика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71416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471416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17720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IoU / mIoU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отношение пересечения к объединению масок; mIoU — среднее по классам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67528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367528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13832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Accuracy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верно классифицированных пикселей всех классов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Разбор матрицы ошибок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18 / 18</a:t>
            </a:r>
          </a:p>
        </p:txBody>
      </p:sp>
      <p:pic>
        <p:nvPicPr>
          <p:cNvPr id="8" name="Picture 7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075" y="1554480"/>
            <a:ext cx="5201529" cy="466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Основная ошибка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8,4 % пикселей нефти отнесены к «лёд + суша»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Причина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физически схожие тёмные сигнатуры обратного рассеяния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«вода»</a:t>
            </a:r>
            <a:r>
              <a:rPr sz="1500" b="0">
                <a:solidFill>
                  <a:srgbClr val="1F2937"/>
                </a:solidFill>
                <a:latin typeface="Arial"/>
              </a:rPr>
              <a:t> распознаётся с точностью 96,2 %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«лёд + суша»</a:t>
            </a:r>
            <a:r>
              <a:rPr sz="1500" b="0">
                <a:solidFill>
                  <a:srgbClr val="1F2937"/>
                </a:solidFill>
                <a:latin typeface="Arial"/>
              </a:rPr>
              <a:t> — 96,0 %; смешение с нефтью лишь 2,7 %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Вывод</a:t>
            </a:r>
            <a:r>
              <a:rPr sz="1500" b="0">
                <a:solidFill>
                  <a:srgbClr val="1F2937"/>
                </a:solidFill>
                <a:latin typeface="Arial"/>
              </a:rPr>
              <a:t> — модель устойчиво разделяет три класса; остаточная путаница ожидаема физически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