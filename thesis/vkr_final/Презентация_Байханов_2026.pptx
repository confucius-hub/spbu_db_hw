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E06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ED6EC"/>
                </a:solidFill>
                <a:latin typeface="Calibri"/>
              </a:rPr>
              <a:t>Санкт-Петербургский государственный университет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8FB0CE"/>
                </a:solidFill>
                <a:latin typeface="Calibri"/>
              </a:rPr>
              <a:t>Магистерская программа «Искусственный интеллект и наука о данных»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900" b="1">
                <a:solidFill>
                  <a:srgbClr val="FFFFFF"/>
                </a:solidFill>
                <a:latin typeface="Calibri"/>
              </a:rPr>
              <a:t>Разработка системы автоматического</a:t>
            </a:r>
          </a:p>
          <a:p>
            <a:pPr algn="ctr">
              <a:lnSpc>
                <a:spcPct val="112000"/>
              </a:lnSpc>
            </a:pPr>
            <a:r>
              <a:rPr sz="2900" b="1">
                <a:solidFill>
                  <a:srgbClr val="FFFFFF"/>
                </a:solidFill>
                <a:latin typeface="Calibri"/>
              </a:rPr>
              <a:t>детектирования нефтяных разливов</a:t>
            </a:r>
          </a:p>
          <a:p>
            <a:pPr algn="ctr">
              <a:lnSpc>
                <a:spcPct val="112000"/>
              </a:lnSpc>
            </a:pPr>
            <a:r>
              <a:rPr sz="2900" b="1">
                <a:solidFill>
                  <a:srgbClr val="FFFFFF"/>
                </a:solidFill>
                <a:latin typeface="Calibri"/>
              </a:rPr>
              <a:t>в акваториях арктических портов</a:t>
            </a:r>
          </a:p>
          <a:p>
            <a:pPr algn="ctr">
              <a:lnSpc>
                <a:spcPct val="112000"/>
              </a:lnSpc>
            </a:pPr>
            <a:r>
              <a:rPr sz="2900" b="1">
                <a:solidFill>
                  <a:srgbClr val="FFFFFF"/>
                </a:solidFill>
                <a:latin typeface="Calibri"/>
              </a:rPr>
              <a:t>по данным спутниковой радиолокационной съёмки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E06C18"/>
                </a:solidFill>
                <a:latin typeface="Calibri"/>
              </a:rPr>
              <a:t>Выпускная квалификационная работа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212080"/>
            <a:ext cx="5120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Выполнил: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Байханов Владислав Камолович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21208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Научный руководитель:</a:t>
            </a:r>
          </a:p>
          <a:p>
            <a:pPr algn="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к.т.н., доцент Митько А. 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8FB0CE"/>
                </a:solidFill>
                <a:latin typeface="Calibri"/>
              </a:rPr>
              <a:t>Санкт-Петербург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6C18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5720"/>
            <a:ext cx="104241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Актуальность и научно-техническая 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713232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ED6EC"/>
                </a:solidFill>
                <a:latin typeface="Calibri"/>
              </a:rPr>
              <a:t>Зачем нужно детектировать нефть в Арктике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3A3A3A"/>
                </a:solidFill>
                <a:latin typeface="Calibri"/>
              </a:rPr>
              <a:t>•  В Мировой океан ежегодно попадает &gt; 700 тыс. т углеводородов; доля Арктики растёт из-за Севморпути и шельфа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3A3A3A"/>
                </a:solidFill>
                <a:latin typeface="Calibri"/>
              </a:rPr>
              <a:t>•  При t &lt; +5 °C нефть разлагается в 5–10 раз медленнее → долговременное загрязнение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3A3A3A"/>
                </a:solidFill>
                <a:latin typeface="Calibri"/>
              </a:rPr>
              <a:t>•  &gt; 80 % времени — облачность и полярная ночь → оптика не работает, нужен радар (SAR)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3A3A3A"/>
                </a:solidFill>
                <a:latin typeface="Calibri"/>
              </a:rPr>
              <a:t>•  Sentinel-1 SAR — всепогодный круглосуточный мониторинг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3A3A3A"/>
                </a:solidFill>
                <a:latin typeface="Calibri"/>
              </a:rPr>
              <a:t>•  Проблема: природные «двойники» нефти (лёд, биоплёнки, штиль) → до 70 % ложных срабатываний</a:t>
            </a:r>
          </a:p>
        </p:txBody>
      </p:sp>
      <p:sp>
        <p:nvSpPr>
          <p:cNvPr id="8" name="Rectangle 7"/>
          <p:cNvSpPr/>
          <p:nvPr/>
        </p:nvSpPr>
        <p:spPr>
          <a:xfrm>
            <a:off x="7178040" y="1417320"/>
            <a:ext cx="4572000" cy="21488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1554480"/>
            <a:ext cx="42062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0B2E4F"/>
                </a:solidFill>
                <a:latin typeface="Calibri"/>
              </a:rPr>
              <a:t>Крупные инциденты: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0B2E4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0B2E4F"/>
                </a:solidFill>
                <a:latin typeface="Calibri"/>
              </a:rPr>
              <a:t>• Норильск, 2020 — ≈21 тыс. т, ущерб 146 млрд ₽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0B2E4F"/>
                </a:solidFill>
                <a:latin typeface="Calibri"/>
              </a:rPr>
              <a:t>• Кольский залив, 11.09.2024 — разлив мазута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0B2E4F"/>
                </a:solidFill>
                <a:latin typeface="Calibri"/>
              </a:rPr>
              <a:t>• Бухта Тикси, 2026 — керосин на льду</a:t>
            </a:r>
          </a:p>
        </p:txBody>
      </p:sp>
      <p:pic>
        <p:nvPicPr>
          <p:cNvPr id="10" name="Picture 9" descr="fig_ko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4363974"/>
            <a:ext cx="4572000" cy="11475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9A9A"/>
                </a:solidFill>
                <a:latin typeface="Calibri"/>
              </a:rPr>
              <a:t>Байханов В. К.  •  ВКР  •  СПбГУ,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A9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6C18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5720"/>
            <a:ext cx="104241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Цель, объект и задачи исследования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201400" cy="13716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107899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E4F"/>
                </a:solidFill>
                <a:latin typeface="Calibri"/>
              </a:rPr>
              <a:t>Цель — автоматизация процесса детектирования нефтяных разливов в акваториях арктических портов по данным Sentinel-1 за счёт нейросетевой трёхклассовой модели семантической сегментации, обеспечивающей F1 ≥ 0,85 для класса «нефть».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71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06C18"/>
                </a:solidFill>
                <a:latin typeface="Calibri"/>
              </a:rPr>
              <a:t>Задачи: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0">
                <a:solidFill>
                  <a:srgbClr val="3A3A3A"/>
                </a:solidFill>
                <a:latin typeface="Calibri"/>
              </a:rPr>
              <a:t>•  Выявить ограничения существующих методов детектирования по SAR-данным в Арктике и обосновать выбор архитектуры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0">
                <a:solidFill>
                  <a:srgbClr val="3A3A3A"/>
                </a:solidFill>
                <a:latin typeface="Calibri"/>
              </a:rPr>
              <a:t>•  Разработать методику формирования размеченного датасета и обучить нейросетевую модель сегментации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0">
                <a:solidFill>
                  <a:srgbClr val="3A3A3A"/>
                </a:solidFill>
                <a:latin typeface="Calibri"/>
              </a:rPr>
              <a:t>•  Реализовать программный прототип в виде модульного конвейера обработки спутниковых снимков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0">
                <a:solidFill>
                  <a:srgbClr val="3A3A3A"/>
                </a:solidFill>
                <a:latin typeface="Calibri"/>
              </a:rPr>
              <a:t>•  Провести экспериментальную оценку качества и сравнительный анализ с альтернативными методами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9A9A"/>
                </a:solidFill>
                <a:latin typeface="Calibri"/>
              </a:rPr>
              <a:t>Байханов В. К.  •  ВКР  •  СПбГУ,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A9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6C18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5720"/>
            <a:ext cx="104241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Научная новизна: трёхклассовая сегментация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713232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ED6EC"/>
                </a:solidFill>
                <a:latin typeface="Calibri"/>
              </a:rPr>
              <a:t>Ключевое отличие от всех существующих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3A3A3A"/>
                </a:solidFill>
                <a:latin typeface="Calibri"/>
              </a:rPr>
              <a:t>Было (бинарная схема):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394960" cy="109728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029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3A3A3A"/>
                </a:solidFill>
                <a:latin typeface="Calibri"/>
              </a:rPr>
              <a:t>нефть  /  фон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3A3A3A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3A3A3A"/>
                </a:solidFill>
                <a:latin typeface="Calibri"/>
              </a:rPr>
              <a:t>лёд и биоплёнки путаются с нефтью → ложные тревоги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06C18"/>
                </a:solidFill>
                <a:latin typeface="Calibri"/>
              </a:rPr>
              <a:t>Стало (наш подход):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5440680" cy="109728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5120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E4F"/>
                </a:solidFill>
                <a:latin typeface="Calibri"/>
              </a:rPr>
              <a:t>вода  /  нефть  /  лёд + суша</a:t>
            </a:r>
          </a:p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E4F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E4F"/>
                </a:solidFill>
                <a:latin typeface="Calibri"/>
              </a:rPr>
              <a:t>лёд вынесен в отдельный класс → меньше ложных срабатываний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46120"/>
            <a:ext cx="11155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0">
                <a:solidFill>
                  <a:srgbClr val="3A3A3A"/>
                </a:solidFill>
                <a:latin typeface="Calibri"/>
              </a:rPr>
              <a:t>•  Впервые для арктической задачи начальные формы льда выделены в самостоятельный класс сегментации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0">
                <a:solidFill>
                  <a:srgbClr val="3A3A3A"/>
                </a:solidFill>
                <a:latin typeface="Calibri"/>
              </a:rPr>
              <a:t>•  Методика формирования арктического подмножества: полигональная разметка Кольского залива в QGIS с учётом реанализа ERA5 и данных AIS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0">
                <a:solidFill>
                  <a:srgbClr val="3A3A3A"/>
                </a:solidFill>
                <a:latin typeface="Calibri"/>
              </a:rPr>
              <a:t>•  Архитектура DeepLabV3+ (ResNet-50 + scSE) адаптирована к одноканальным SAR-данным C-диапазона; функция потерь Dice-BCE с весами классов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9A9A"/>
                </a:solidFill>
                <a:latin typeface="Calibri"/>
              </a:rPr>
              <a:t>Байханов В. К.  •  ВКР  •  СПбГУ,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A9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6C18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5720"/>
            <a:ext cx="104241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Архитектура программного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713232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ED6EC"/>
                </a:solidFill>
                <a:latin typeface="Calibri"/>
              </a:rPr>
              <a:t>Трёхэтапный модульный конвейер обработки SAR</a:t>
            </a:r>
          </a:p>
        </p:txBody>
      </p:sp>
      <p:pic>
        <p:nvPicPr>
          <p:cNvPr id="7" name="Picture 6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80591"/>
            <a:ext cx="6766560" cy="24454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55448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•  1. Предобработка (ESA SNAP): 6 шагов — орбита, шумы, калибровка σ⁰, фильтр Ли 7×7, геокоррекция, дБ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•  2. Сегментация: DeepLabV3+ ResNet-50 + scSE → 3 класса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•  3. Верификация: морфология пятна + контекст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•  Скорость: 1 сцена за 65 секунд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•  Реализация: Python, PyTorch 2.1, CUDA 12.1, RTX 3090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9A9A"/>
                </a:solidFill>
                <a:latin typeface="Calibri"/>
              </a:rPr>
              <a:t>Байханов В. К.  •  ВКР  •  СПбГУ,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A9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6C18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5720"/>
            <a:ext cx="104241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Датасет и обучение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760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•  1125 размеченных сцен Sentinel-1: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      – 1112 — открытый набор MKLab Krestenitis (Средиземное море)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      – 13 — собственный поднабор Кольского залива (QGIS)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•  4128 тайлов 256×256, перекрытие 50 %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•  Деление 70 / 20 / 10 на уровне сцен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•  AdamW, lr 1·10⁻⁴, 100 эпох, batch 8, AMP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434840"/>
            <a:ext cx="5760720" cy="155448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553712"/>
            <a:ext cx="5394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0B2E4F"/>
                </a:solidFill>
                <a:latin typeface="Calibri"/>
              </a:rPr>
              <a:t>Главная сложность — дисбаланс классов: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0B2E4F"/>
                </a:solidFill>
                <a:latin typeface="Calibri"/>
              </a:rPr>
              <a:t>«нефть» &lt; 1 % пикселей.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0B2E4F"/>
                </a:solidFill>
                <a:latin typeface="Calibri"/>
              </a:rPr>
              <a:t>Решение: веса классов в Dice-BCE (w_нефть = 9,8)</a:t>
            </a:r>
          </a:p>
        </p:txBody>
      </p:sp>
      <p:pic>
        <p:nvPicPr>
          <p:cNvPr id="9" name="Picture 8" descr="fig_class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717" y="1371600"/>
            <a:ext cx="2134566" cy="2331720"/>
          </a:xfrm>
          <a:prstGeom prst="rect">
            <a:avLst/>
          </a:prstGeom>
        </p:spPr>
      </p:pic>
      <p:pic>
        <p:nvPicPr>
          <p:cNvPr id="10" name="Picture 9" descr="fig_tr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878302"/>
            <a:ext cx="5303520" cy="20731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9A9A"/>
                </a:solidFill>
                <a:latin typeface="Calibri"/>
              </a:rPr>
              <a:t>Байханов В. К.  •  ВКР  •  СПбГУ,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A9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6C18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5720"/>
            <a:ext cx="104241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Результаты на тестовой выборке (Кольский залив)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713232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ED6EC"/>
                </a:solidFill>
                <a:latin typeface="Calibri"/>
              </a:rPr>
              <a:t>412 тайлов, не участвовавших в обучении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920240" cy="13716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0,89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12848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06C18"/>
                </a:solidFill>
                <a:latin typeface="Calibri"/>
              </a:rPr>
              <a:t>F1 (нефть)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371600"/>
            <a:ext cx="1920240" cy="13716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46304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0,82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212848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06C18"/>
                </a:solidFill>
                <a:latin typeface="Calibri"/>
              </a:rPr>
              <a:t>mIoU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1371600"/>
            <a:ext cx="1920240" cy="13716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46304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95,8 %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212848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06C18"/>
                </a:solidFill>
                <a:latin typeface="Calibri"/>
              </a:rPr>
              <a:t>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17520"/>
            <a:ext cx="6126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•  Класс «нефть»: Precision 0,91 · Recall 0,87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•  Основная ошибка: 8,4 % пикселей «нефть» → «лёд + суша» (физически схожие тёмные сигнатуры)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•  Прирост F1 относительно порогового метода Оцу: +0,18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•  Превосходство по всем метрикам над 4 альтернативными методами</a:t>
            </a:r>
          </a:p>
        </p:txBody>
      </p:sp>
      <p:pic>
        <p:nvPicPr>
          <p:cNvPr id="17" name="Picture 16" descr="fig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285" y="1371600"/>
            <a:ext cx="2753750" cy="2468880"/>
          </a:xfrm>
          <a:prstGeom prst="rect">
            <a:avLst/>
          </a:prstGeom>
        </p:spPr>
      </p:pic>
      <p:pic>
        <p:nvPicPr>
          <p:cNvPr id="18" name="Picture 17" descr="fig_metho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225" y="3886200"/>
            <a:ext cx="4293870" cy="22402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9A9A"/>
                </a:solidFill>
                <a:latin typeface="Calibri"/>
              </a:rPr>
              <a:t>Байханов В. К.  •  ВКР  •  СПбГУ,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A9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6C18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5720"/>
            <a:ext cx="104241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Переносимость методики и анализ ложных целей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713232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ED6EC"/>
                </a:solidFill>
                <a:latin typeface="Calibri"/>
              </a:rPr>
              <a:t>Печенга · Варандей · Сабетта</a:t>
            </a:r>
          </a:p>
        </p:txBody>
      </p:sp>
      <p:pic>
        <p:nvPicPr>
          <p:cNvPr id="7" name="Picture 6" descr="fig_ports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35777"/>
            <a:ext cx="5486400" cy="31350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•  Закономерная деградация при удалении от региона обучения: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3A3A3A"/>
                </a:solidFill>
                <a:latin typeface="Calibri"/>
              </a:rPr>
              <a:t>      – Кольский залив — F1 = 0,89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3A3A3A"/>
                </a:solidFill>
                <a:latin typeface="Calibri"/>
              </a:rPr>
              <a:t>      – Варандей (Печорское море) — F1 = 0,84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3A3A3A"/>
                </a:solidFill>
                <a:latin typeface="Calibri"/>
              </a:rPr>
              <a:t>      – Сабетта (Обская губа) — F1 = 0,76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•  Типы ложных целей по акваториям: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3A3A3A"/>
                </a:solidFill>
                <a:latin typeface="Calibri"/>
              </a:rPr>
              <a:t>      – Печенга — ветровые тени, биоплёнки (безлёдный тип)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3A3A3A"/>
                </a:solidFill>
                <a:latin typeface="Calibri"/>
              </a:rPr>
              <a:t>      – Варандей — сезонный первогодний лёд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3A3A3A"/>
                </a:solidFill>
                <a:latin typeface="Calibri"/>
              </a:rPr>
              <a:t>      – Сабетта — жировой/ниласовый лёд, припай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•  Вывод: методика применима, но требует целевого дообучения под ледовые акватории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9A9A"/>
                </a:solidFill>
                <a:latin typeface="Calibri"/>
              </a:rPr>
              <a:t>Байханов В. К.  •  ВКР  •  СПбГУ,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A9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6C18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5720"/>
            <a:ext cx="104241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Заключение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E4F"/>
                </a:solidFill>
                <a:latin typeface="Calibri"/>
              </a:rPr>
              <a:t>Цель достигнута: критерий F1 ≥ 0,85 для класса «нефть» выполнен (F1 = 0,89). Решены все четыре задачи.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3A3A3A"/>
                </a:solidFill>
                <a:latin typeface="Calibri"/>
              </a:rPr>
              <a:t>•  Систематизированы ограничения существующих методов; обоснован выбор DeepLabV3+ (ResNet-50 + scSE)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3A3A3A"/>
                </a:solidFill>
                <a:latin typeface="Calibri"/>
              </a:rPr>
              <a:t>•  Создан комбинированный датасет (1125 сцен, 4128 тайлов) с оригинальной трёхклассовой разметкой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3A3A3A"/>
                </a:solidFill>
                <a:latin typeface="Calibri"/>
              </a:rPr>
              <a:t>•  Реализован программный прототип-конвейер (65 с/сцена); код опубликован в открытом доступе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3A3A3A"/>
                </a:solidFill>
                <a:latin typeface="Calibri"/>
              </a:rPr>
              <a:t>•  Экспериментально подтверждено превосходство над пороговыми и классическими методами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11201400" cy="10058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193792"/>
            <a:ext cx="10789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0B2E4F"/>
                </a:solidFill>
                <a:latin typeface="Calibri"/>
              </a:rPr>
              <a:t>Практическая значимость: применимо в системах экологического мониторинга акваторий арктических портов (Росприроднадзор, МЧС, «Морспасслужба», «Росатом» / Севморпуть).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9A9A"/>
                </a:solidFill>
                <a:latin typeface="Calibri"/>
              </a:rPr>
              <a:t>Байханов В. К.  •  ВКР  •  СПбГУ,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9A9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8100"/>
          </a:xfrm>
          <a:prstGeom prst="rect">
            <a:avLst/>
          </a:prstGeom>
          <a:solidFill>
            <a:srgbClr val="E06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Спасибо за внимание!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BED6EC"/>
                </a:solidFill>
                <a:latin typeface="Calibri"/>
              </a:rPr>
              <a:t>Готов ответить на ваши вопросы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8FB0CE"/>
                </a:solidFill>
                <a:latin typeface="Calibri"/>
              </a:rPr>
              <a:t>Байханов Владислав Камолович</a:t>
            </a:r>
          </a:p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8FB0CE"/>
                </a:solidFill>
                <a:latin typeface="Calibri"/>
              </a:rPr>
              <a:t>Разработка системы автоматического детектирования нефтяных разливов</a:t>
            </a:r>
          </a:p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8FB0CE"/>
                </a:solidFill>
                <a:latin typeface="Calibri"/>
              </a:rPr>
              <a:t>в акваториях арктических портов по данным спутниковой радиолокационной съёмки</a:t>
            </a:r>
          </a:p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8FB0CE"/>
                </a:solidFill>
                <a:latin typeface="Calibri"/>
              </a:rPr>
              <a:t>СПбГУ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