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280"/>
                </a:solidFill>
                <a:latin typeface="Arial"/>
              </a:rPr>
              <a:t>РЕЗЕРВНЫЙ СЛАЙД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DeepLabV3+ с энкодером ResNet-50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25296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1 / 5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73352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Энкодер ResNet-50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извлечение признаков из SAR-тайла 256×256; предобучен на ImageNet, адаптирован к 1-канальному входу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7063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52344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ASPP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Atrous Spatial Pyramid Pooling — параллельные свёртки с коэффициентами разрежения 6/12/18 + image-level pooling: охват разномасштабного контекста пятен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49624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31336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scSE-внимание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spatial + channel Squeeze-and-Excitation: усиление информативных каналов и пространственных зон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92861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910328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Декодер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объединение низко- и высокоуровневых признаков, апсемплинг до исходного разрешения, попиксельная классификация на 3 класса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280"/>
                </a:solidFill>
                <a:latin typeface="Arial"/>
              </a:rPr>
              <a:t>РЕЗЕРВНЫЙ СЛАЙД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Функция потерь и гиперпараметры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25296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2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Arial"/>
              </a:rPr>
              <a:t>Комбинированная функция потерь Dice-BCE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394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L = L_Dice + L_BCE с весами классов для устранения дисбаланса. Dice работает с перекрытием масок, BCE — с попиксельной вероятностью.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291840"/>
          <a:ext cx="3657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40AF"/>
                          </a:solidFill>
                          <a:latin typeface="Arial"/>
                        </a:rPr>
                        <a:t>Класс</a:t>
                      </a:r>
                    </a:p>
                  </a:txBody>
                  <a:tcPr marL="73152" marR="54864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40AF"/>
                          </a:solidFill>
                          <a:latin typeface="Arial"/>
                        </a:rPr>
                        <a:t>Вес</a:t>
                      </a:r>
                    </a:p>
                  </a:txBody>
                  <a:tcPr marL="73152" marR="54864" marT="27432" marB="27432" anchor="ctr">
                    <a:solidFill>
                      <a:srgbClr val="DBEA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вода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0,3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нефть</a:t>
                      </a:r>
                    </a:p>
                  </a:txBody>
                  <a:tcPr marL="73152" marR="54864" marT="27432" marB="27432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9,8</a:t>
                      </a:r>
                    </a:p>
                  </a:txBody>
                  <a:tcPr marL="73152" marR="54864" marT="27432" marB="27432" anchor="ctr"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лёд + суша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Arial"/>
              </a:rPr>
              <a:t>Параметры обучения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Arial"/>
              </a:rPr>
              <a:t>Оптимизатор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103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AdamW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700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Arial"/>
              </a:rPr>
              <a:t>Learning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700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1·10⁻⁴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3697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Arial"/>
              </a:rPr>
              <a:t>Weight decay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23697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1·10⁻⁴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0390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Arial"/>
              </a:rPr>
              <a:t>Расписание LR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80390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ReduceLROnPlateau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708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Arial"/>
              </a:rPr>
              <a:t>Эпохи / batch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3708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100 /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37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Arial"/>
              </a:rPr>
              <a:t>Аугментации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9377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Arial"/>
              </a:rPr>
              <a:t>повороты, отражения, TTA ×4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280"/>
                </a:solidFill>
                <a:latin typeface="Arial"/>
              </a:rPr>
              <a:t>РЕЗЕРВНЫЙ СЛАЙД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Предобработка SAR в ESA SNAP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25296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3 / 5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737360"/>
            <a:ext cx="420624" cy="420624"/>
          </a:xfrm>
          <a:prstGeom prst="ellipse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28216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7A"/>
                </a:solidFill>
                <a:latin typeface="Arial"/>
              </a:rPr>
              <a:t>Apply Orbit File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уточнение параметров орбиты спутника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450592"/>
            <a:ext cx="420624" cy="420624"/>
          </a:xfrm>
          <a:prstGeom prst="ellipse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41448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7A"/>
                </a:solidFill>
                <a:latin typeface="Arial"/>
              </a:rPr>
              <a:t>Thermal Noise Removal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удаление теплового шума сенсора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163824"/>
            <a:ext cx="420624" cy="420624"/>
          </a:xfrm>
          <a:prstGeom prst="ellipse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5468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7A"/>
                </a:solidFill>
                <a:latin typeface="Arial"/>
              </a:rPr>
              <a:t>Радиометрическая калибровка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перевод в σ⁰ (коэффициент обратного рассеяния)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77056"/>
            <a:ext cx="420624" cy="420624"/>
          </a:xfrm>
          <a:prstGeom prst="ellipse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67912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7A"/>
                </a:solidFill>
                <a:latin typeface="Arial"/>
              </a:rPr>
              <a:t>Фильтр Ли 7×7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подавление спекл-шума с сохранением границ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590288"/>
            <a:ext cx="420624" cy="420624"/>
          </a:xfrm>
          <a:prstGeom prst="ellipse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581144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7A"/>
                </a:solidFill>
                <a:latin typeface="Arial"/>
              </a:rPr>
              <a:t>Range-Doppler коррекция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геометрическая привязка к местности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303520"/>
            <a:ext cx="420624" cy="420624"/>
          </a:xfrm>
          <a:prstGeom prst="ellipse">
            <a:avLst/>
          </a:prstGeom>
          <a:solidFill>
            <a:srgbClr val="2E7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94376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7D7A"/>
                </a:solidFill>
                <a:latin typeface="Arial"/>
              </a:rPr>
              <a:t>Перевод в дБ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логарифмическая шкала [−35; 0] дБ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280"/>
                </a:solidFill>
                <a:latin typeface="Arial"/>
              </a:rPr>
              <a:t>РЕЗЕРВНЫЙ СЛАЙД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Метрики оценки качества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25296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4 /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10927080" cy="749808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82296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Precision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доля верных среди предсказанных пикселей «нефть»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79192"/>
            <a:ext cx="10927080" cy="749808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79192"/>
            <a:ext cx="82296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25496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Recall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доля найденных среди всех истинных пикселей «нефть»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75304"/>
            <a:ext cx="10927080" cy="749808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75304"/>
            <a:ext cx="82296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21608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F1-score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гармоническое среднее Precision и Recall — основная метрика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71416"/>
            <a:ext cx="10927080" cy="749808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471416"/>
            <a:ext cx="82296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IoU / mIoU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отношение пересечения к объединению масок; mIoU — среднее по классам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67528"/>
            <a:ext cx="10927080" cy="749808"/>
          </a:xfrm>
          <a:prstGeom prst="roundRect">
            <a:avLst/>
          </a:prstGeom>
          <a:solidFill>
            <a:srgbClr val="F3F6FC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367528"/>
            <a:ext cx="82296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13832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40AF"/>
                </a:solidFill>
                <a:latin typeface="Arial"/>
              </a:rPr>
              <a:t>Accuracy — </a:t>
            </a:r>
            <a:r>
              <a:rPr sz="1500" b="0" i="0">
                <a:solidFill>
                  <a:srgbClr val="1F2937"/>
                </a:solidFill>
                <a:latin typeface="Arial"/>
              </a:rPr>
              <a:t>доля верно классифицированных пикселей всех классов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280"/>
                </a:solidFill>
                <a:latin typeface="Arial"/>
              </a:rPr>
              <a:t>РЕЗЕРВНЫЙ СЛАЙД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563EB"/>
                </a:solidFill>
                <a:latin typeface="Arial"/>
              </a:rPr>
              <a:t>Разбор матрицы ошибок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25296"/>
            <a:ext cx="201168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40135" y="6355080"/>
            <a:ext cx="777240" cy="310896"/>
          </a:xfrm>
          <a:prstGeom prst="roundRect">
            <a:avLst/>
          </a:prstGeom>
          <a:solidFill>
            <a:srgbClr val="F3F6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5 / 5</a:t>
            </a:r>
          </a:p>
        </p:txBody>
      </p:sp>
      <p:pic>
        <p:nvPicPr>
          <p:cNvPr id="8" name="Picture 7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75" y="1554480"/>
            <a:ext cx="5201529" cy="4663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82880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 </a:t>
            </a:r>
            <a:r>
              <a:rPr sz="1500" b="1">
                <a:solidFill>
                  <a:srgbClr val="1F2937"/>
                </a:solidFill>
                <a:latin typeface="Arial"/>
              </a:rPr>
              <a:t>Основная ошибка</a:t>
            </a:r>
            <a:r>
              <a:rPr sz="1500" b="0">
                <a:solidFill>
                  <a:srgbClr val="1F2937"/>
                </a:solidFill>
                <a:latin typeface="Arial"/>
              </a:rPr>
              <a:t> — 8,4 % пикселей нефти отнесены к «лёд + суша»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 </a:t>
            </a:r>
            <a:r>
              <a:rPr sz="1500" b="1">
                <a:solidFill>
                  <a:srgbClr val="1F2937"/>
                </a:solidFill>
                <a:latin typeface="Arial"/>
              </a:rPr>
              <a:t>Причина</a:t>
            </a:r>
            <a:r>
              <a:rPr sz="1500" b="0">
                <a:solidFill>
                  <a:srgbClr val="1F2937"/>
                </a:solidFill>
                <a:latin typeface="Arial"/>
              </a:rPr>
              <a:t> — физически схожие тёмные сигнатуры обратного рассеяния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 </a:t>
            </a:r>
            <a:r>
              <a:rPr sz="1500" b="1">
                <a:solidFill>
                  <a:srgbClr val="1F2937"/>
                </a:solidFill>
                <a:latin typeface="Arial"/>
              </a:rPr>
              <a:t>Класс «вода»</a:t>
            </a:r>
            <a:r>
              <a:rPr sz="1500" b="0">
                <a:solidFill>
                  <a:srgbClr val="1F2937"/>
                </a:solidFill>
                <a:latin typeface="Arial"/>
              </a:rPr>
              <a:t> распознаётся с точностью 96,2 %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 </a:t>
            </a:r>
            <a:r>
              <a:rPr sz="1500" b="1">
                <a:solidFill>
                  <a:srgbClr val="1F2937"/>
                </a:solidFill>
                <a:latin typeface="Arial"/>
              </a:rPr>
              <a:t>Класс «лёд + суша»</a:t>
            </a:r>
            <a:r>
              <a:rPr sz="1500" b="0">
                <a:solidFill>
                  <a:srgbClr val="1F2937"/>
                </a:solidFill>
                <a:latin typeface="Arial"/>
              </a:rPr>
              <a:t> — 96,0 %; смешение с нефтью лишь 2,7 %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563EB"/>
                </a:solidFill>
                <a:latin typeface="Arial"/>
              </a:rPr>
              <a:t>•  </a:t>
            </a:r>
            <a:r>
              <a:rPr sz="1500" b="1">
                <a:solidFill>
                  <a:srgbClr val="1F2937"/>
                </a:solidFill>
                <a:latin typeface="Arial"/>
              </a:rPr>
              <a:t>Вывод</a:t>
            </a:r>
            <a:r>
              <a:rPr sz="1500" b="0">
                <a:solidFill>
                  <a:srgbClr val="1F2937"/>
                </a:solidFill>
                <a:latin typeface="Arial"/>
              </a:rPr>
              <a:t> — модель устойчиво разделяет три класса; остаточная путаница ожидаема физически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