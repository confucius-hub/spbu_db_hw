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331720"/>
            <a:ext cx="12191695" cy="3175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55B63"/>
                </a:solidFill>
                <a:latin typeface="Times New Roman"/>
              </a:rPr>
              <a:t>Санкт-Петербургский государственный университет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1F4E79"/>
                </a:solidFill>
                <a:latin typeface="Times New Roman"/>
              </a:rPr>
              <a:t>Разработка системы автоматического детектирования нефтяных разливов</a:t>
            </a:r>
          </a:p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1F4E79"/>
                </a:solidFill>
                <a:latin typeface="Times New Roman"/>
              </a:rPr>
              <a:t>в акваториях арктических портов по данным спутниковых систем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222830"/>
                </a:solidFill>
                <a:latin typeface="Times New Roman"/>
              </a:rPr>
              <a:t>Магистерская диссертация · Прикладная информатика (ИИ и наука о данных)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222830"/>
                </a:solidFill>
                <a:latin typeface="Times New Roman"/>
              </a:rPr>
              <a:t>Выполнил: Байханов Владислав Камолович</a:t>
            </a:r>
          </a:p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222830"/>
                </a:solidFill>
                <a:latin typeface="Times New Roman"/>
              </a:rPr>
              <a:t>Научный руководитель: к.т.н., доцент Митько А. В.</a:t>
            </a:r>
          </a:p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222830"/>
                </a:solidFill>
                <a:latin typeface="Times New Roman"/>
              </a:rPr>
              <a:t>Рецензент: д.т.н., проф. Филиппова Н. А. (МАДИ)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55B63"/>
                </a:solidFill>
                <a:latin typeface="Times New Roman"/>
              </a:rPr>
              <a:t>Санкт-Петербург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Актуальность: нефтяные риски в Арктике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Рост грузопотока СМП: 37,9 млн т (2024) → больше операций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перевалки и бункеровки в портах Мурманск, Сабетта, Дудинка.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Кольский залив, 2024: два разлива мазута за сезон,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источник не установлен своевременно.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Норильск, 29.05.2020: авария ТЭЦ-3 «Норникеля»,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≈21 тыс. т дизеля; Далдыкан → Амбарная → оз. Пясино;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ущерб 146–148 млрд руб.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Оптика (Sentinel-2) и полярная ночь не дают круглосуточный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мониторинг; облачность &gt; 80 % времени.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SAR (Sentinel-1, C-диапазон) — всепогодный круглосуточный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инструмент наблюдения акваторий.</a:t>
            </a:r>
          </a:p>
        </p:txBody>
      </p:sp>
      <p:pic>
        <p:nvPicPr>
          <p:cNvPr id="8" name="Picture 7" descr="fig_noril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79205"/>
            <a:ext cx="5852160" cy="27910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4895635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55B63"/>
                </a:solidFill>
                <a:latin typeface="Times New Roman"/>
              </a:rPr>
              <a:t>Норильск-2020: на SAR доминирует сезонная динамика «лёд → вода»,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55B63"/>
                </a:solidFill>
                <a:latin typeface="Times New Roman"/>
              </a:rPr>
              <a:t>а не плёнка дизеля (мониторинг вёлся оптикой Sentinel-2).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Цель работы и научная новизна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22830"/>
                </a:solidFill>
                <a:latin typeface="Times New Roman"/>
              </a:rPr>
              <a:t>Цель: разработать систему автоматического детектирования нефтяных разливов в акваториях арктических портов по данным Sentinel-1, устойчивую к арктическим ложным целям.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86000"/>
            <a:ext cx="11384280" cy="1905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4E79"/>
                </a:solidFill>
                <a:latin typeface="Times New Roman"/>
              </a:rPr>
              <a:t>Научная новизна: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71800"/>
            <a:ext cx="11338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Трёхклассовая схема разметки SAR: «вода» / «нефть» / «лёд + суша» —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впервые лёд выделен в отдельный класс (в публичных датасетах — бинарно).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830"/>
                </a:solidFill>
                <a:latin typeface="Times New Roman"/>
              </a:rPr>
              <a:t>•  Адаптация DeepLabV3+ к одноканальным SAR-данным VV: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энкодер ResNet-50 + блоки внимания scSE для подавления спекл-шума.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830"/>
                </a:solidFill>
                <a:latin typeface="Times New Roman"/>
              </a:rPr>
              <a:t>•  Интегрированный конвейер с трёхуровневой верификацией: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морфология + метео-контроль ERA5 + сопоставление с АИС судов.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Физика SAR и проблема ложных целей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Эффект Марангони: нефтяная плёнка гасит капиллярные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волны → σ⁰ падает на 10–20 дБ → тёмное пятно.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830"/>
                </a:solidFill>
                <a:latin typeface="Times New Roman"/>
              </a:rPr>
              <a:t>•  Но до 70 % тёмных пятен — НЕ нефть (look-alikes):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начальные формы льда (жировой, нилас, шуга);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ветровые тени (зоны штиля);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биогенные плёнки фитопланктона.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Тёмное пятно — необходимый, но НЕ достаточный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признак нефти.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Ключ к разделению — поляризационная разность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PD = σ⁰_VV − σ⁰_VH и контекст (нейросеть):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нефть 6–10 дБ; молодой лёд &lt; 4 дБ.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94960" cy="393192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Times New Roman"/>
              </a:rPr>
              <a:t>Сравнение тёмных сигнатур в 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Объект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6596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σ⁰ VV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196596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PD (VV−VH)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965960"/>
            <a:ext cx="521208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Объект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σ⁰ VV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196596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Times New Roman"/>
              </a:rPr>
              <a:t>PD (VV−VH)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32888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B02418"/>
                </a:solidFill>
                <a:latin typeface="Times New Roman"/>
              </a:rPr>
              <a:t>Нефтяная плёнка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32888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B02418"/>
                </a:solidFill>
                <a:latin typeface="Times New Roman"/>
              </a:rPr>
              <a:t>низкий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2532888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B02418"/>
                </a:solidFill>
                <a:latin typeface="Times New Roman"/>
              </a:rPr>
              <a:t>6–10 дБ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99816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Молодой лёд (нилас)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99816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низкий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3099816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&lt; 4 дБ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666744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Ветровая тень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66744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низкий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3666744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2–5 дБ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233672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Открытая вода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33672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средний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4233672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222830"/>
                </a:solidFill>
                <a:latin typeface="Times New Roman"/>
              </a:rPr>
              <a:t>3–6 дБ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Контрольные полигоны: Печенга и Варандей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55B63"/>
                </a:solidFill>
                <a:latin typeface="Times New Roman"/>
              </a:rPr>
              <a:t>Разливов в 2022–2025 гг. не было → все тёмные зоны заведомо ложные цели (нулевая гипотеза для проверки специфичности).</a:t>
            </a:r>
          </a:p>
        </p:txBody>
      </p:sp>
      <p:pic>
        <p:nvPicPr>
          <p:cNvPr id="8" name="Picture 7" descr="fig_pechen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5029200" cy="4023360"/>
          </a:xfrm>
          <a:prstGeom prst="rect">
            <a:avLst/>
          </a:prstGeom>
        </p:spPr>
      </p:pic>
      <p:pic>
        <p:nvPicPr>
          <p:cNvPr id="9" name="Picture 8" descr="fig_varand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00200"/>
            <a:ext cx="502920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71500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55B63"/>
                </a:solidFill>
                <a:latin typeface="Times New Roman"/>
              </a:rPr>
              <a:t>Печенга: ветровые тени и биогенные плёнки (безлёдный тип).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71500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55B63"/>
                </a:solidFill>
                <a:latin typeface="Times New Roman"/>
              </a:rPr>
              <a:t>Варандей: сезонный первогодний лёд имитирует нефть.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Контрольный полигон: Сабетта (тяжёлый лёд)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6</a:t>
            </a:r>
          </a:p>
        </p:txBody>
      </p:sp>
      <p:pic>
        <p:nvPicPr>
          <p:cNvPr id="7" name="Picture 6" descr="fig_sabet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188720"/>
            <a:ext cx="617220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4476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55B63"/>
                </a:solidFill>
                <a:latin typeface="Times New Roman"/>
              </a:rPr>
              <a:t>Жировой/ниласовый лёд и припай — сильнейшие двойники нефти.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Times New Roman"/>
              </a:rPr>
              <a:t>Полный спектр ложных целей: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874519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9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74519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2830"/>
                </a:solidFill>
                <a:latin typeface="Times New Roman"/>
              </a:rPr>
              <a:t>Печенга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874519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B63"/>
                </a:solidFill>
                <a:latin typeface="Times New Roman"/>
              </a:rPr>
              <a:t>ветер, биоплёнки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441448"/>
            <a:ext cx="4480560" cy="566928"/>
          </a:xfrm>
          <a:prstGeom prst="rect">
            <a:avLst/>
          </a:prstGeom>
          <a:solidFill>
            <a:srgbClr val="E9EDF2"/>
          </a:solidFill>
          <a:ln w="9525">
            <a:solidFill>
              <a:srgbClr val="E9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441448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2830"/>
                </a:solidFill>
                <a:latin typeface="Times New Roman"/>
              </a:rPr>
              <a:t>Варандей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41448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B63"/>
                </a:solidFill>
                <a:latin typeface="Times New Roman"/>
              </a:rPr>
              <a:t>сезонный лёд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008376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9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008376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2830"/>
                </a:solidFill>
                <a:latin typeface="Times New Roman"/>
              </a:rPr>
              <a:t>Сабетта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08376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B63"/>
                </a:solidFill>
                <a:latin typeface="Times New Roman"/>
              </a:rPr>
              <a:t>жировой лёд, припай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23360"/>
            <a:ext cx="4572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830"/>
                </a:solidFill>
                <a:latin typeface="Times New Roman"/>
              </a:rPr>
              <a:t>Вывод: бинарный порог даёт ложные срабатывания на всех трёх акваториях. Необходимо явное выделение льда в отдельный класс и контекстная верификация.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Архитектура: трёхэтапный конвейер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7</a:t>
            </a:r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88" y="1371600"/>
            <a:ext cx="10120543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SNAP: калибровка к σ⁰, фильтр Lee 7×7, Range-Doppler коррекция.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PyTorch: DeepLabV3+ / ResNet-50 + scSE, 3 класса, TTA.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Верификация: морфология + ERA5 (ветер 3–9 м/с) + АИС судов.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Датасет и обучение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8</a:t>
            </a:r>
          </a:p>
        </p:txBody>
      </p:sp>
      <p:pic>
        <p:nvPicPr>
          <p:cNvPr id="7" name="Picture 6" descr="fig_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25" y="1280160"/>
            <a:ext cx="3850590" cy="4206240"/>
          </a:xfrm>
          <a:prstGeom prst="rect">
            <a:avLst/>
          </a:prstGeom>
        </p:spPr>
      </p:pic>
      <p:pic>
        <p:nvPicPr>
          <p:cNvPr id="8" name="Picture 7" descr="fig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96291"/>
            <a:ext cx="7315200" cy="28595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45720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1125 сцен (MKLab + 13 сцен Кольского залива), 4128 тайлов 256×256.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Дисбаланс компенсирован Dice-BCE с весами (w_нефть = 9,8).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AdamW, lr 1e-4; лучшее val mIoU = 0,84 (эпоха 78); RTX 3090, ~7,5 ч.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Результаты сегментации (Кольский залив)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9</a:t>
            </a:r>
          </a:p>
        </p:txBody>
      </p:sp>
      <p:pic>
        <p:nvPicPr>
          <p:cNvPr id="7" name="Picture 6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9619"/>
            <a:ext cx="5486400" cy="49188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4E79"/>
                </a:solidFill>
                <a:latin typeface="Times New Roman"/>
              </a:rPr>
              <a:t>Тестовая выборка (414 тайлов):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65960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9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830"/>
                </a:solidFill>
                <a:latin typeface="Times New Roman"/>
              </a:rPr>
              <a:t>Общая точность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965960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Times New Roman"/>
              </a:rPr>
              <a:t>95,8 %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532888"/>
            <a:ext cx="5394960" cy="566928"/>
          </a:xfrm>
          <a:prstGeom prst="rect">
            <a:avLst/>
          </a:prstGeom>
          <a:solidFill>
            <a:srgbClr val="E9EDF2"/>
          </a:solidFill>
          <a:ln w="9525">
            <a:solidFill>
              <a:srgbClr val="E9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32888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830"/>
                </a:solidFill>
                <a:latin typeface="Times New Roman"/>
              </a:rPr>
              <a:t>mIoU (3 класса)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32888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Times New Roman"/>
              </a:rPr>
              <a:t>0,82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099816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9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099816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830"/>
                </a:solidFill>
                <a:latin typeface="Times New Roman"/>
              </a:rPr>
              <a:t>F1 «нефть»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099816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Times New Roman"/>
              </a:rPr>
              <a:t>0,89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66744"/>
            <a:ext cx="5394960" cy="566928"/>
          </a:xfrm>
          <a:prstGeom prst="rect">
            <a:avLst/>
          </a:prstGeom>
          <a:solidFill>
            <a:srgbClr val="E9EDF2"/>
          </a:solidFill>
          <a:ln w="9525">
            <a:solidFill>
              <a:srgbClr val="E9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666744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830"/>
                </a:solidFill>
                <a:latin typeface="Times New Roman"/>
              </a:rPr>
              <a:t>Precision «нефть»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666744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Times New Roman"/>
              </a:rPr>
              <a:t>0,911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233672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9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233672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830"/>
                </a:solidFill>
                <a:latin typeface="Times New Roman"/>
              </a:rPr>
              <a:t>Recall «нефть»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233672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Times New Roman"/>
              </a:rPr>
              <a:t>0,875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02920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B02418"/>
                </a:solidFill>
                <a:latin typeface="Times New Roman"/>
              </a:rPr>
              <a:t>Основная ошибка: 8,4 % пикселей «нефть» → «лёд + суша» — физическая близость откликов нефти и молодого льда.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Перенос на порты и сравнение с аналогами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10</a:t>
            </a:r>
          </a:p>
        </p:txBody>
      </p:sp>
      <p:pic>
        <p:nvPicPr>
          <p:cNvPr id="7" name="Picture 6" descr="fig_port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19794"/>
            <a:ext cx="5852160" cy="3344091"/>
          </a:xfrm>
          <a:prstGeom prst="rect">
            <a:avLst/>
          </a:prstGeom>
        </p:spPr>
      </p:pic>
      <p:pic>
        <p:nvPicPr>
          <p:cNvPr id="8" name="Picture 7" descr="fig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12897"/>
            <a:ext cx="5669280" cy="29578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39496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55B63"/>
                </a:solidFill>
                <a:latin typeface="Times New Roman"/>
              </a:rPr>
              <a:t>Деградация F1: Кольский 0,89 → Варандей 0,84 → Сабетта 0,76.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3949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55B63"/>
                </a:solidFill>
                <a:latin typeface="Times New Roman"/>
              </a:rPr>
              <a:t>DeepLabV3+ scSE превосходит аналоги (F1 = 0,89).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897880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55B63"/>
                </a:solidFill>
                <a:latin typeface="Times New Roman"/>
              </a:rPr>
              <a:t>Рост ложных срабатываний на Сабетте (FP 1,4 % → 6,2 %) — на участках шуги и ниласа; подтверждает необходимость дообучения на арктических данных.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B63"/>
                </a:solidFill>
                <a:latin typeface="Times New Roman"/>
              </a:rPr>
              <a:t>В. К. Байханов · СПбГУ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5B63"/>
                </a:solidFill>
                <a:latin typeface="Times New Roman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Подтверждён основной тезис: тёмное пятно в SAR — необходимый, но не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достаточный признак нефти (Печенга, Варандей, Сабетта — все ложные цели).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Норильск-2020 показал предел C-SAR для дизеля на реках при ледоходе —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обоснован фокус на морских акваториях и выделение льда в отдельный класс.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830"/>
                </a:solidFill>
                <a:latin typeface="Times New Roman"/>
              </a:rPr>
              <a:t>•  Обучена модель DeepLabV3+ (ResNet-50 + scSE), трёхклассовая разметка: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точность 95,8 %, mIoU 0,82, F1 «нефть» = 0,89 (Кольский залив).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Перенос на порты: F1 0,84 (Варандей) и 0,76 (Сабетта) —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приоритет дальнейшей работы: расширение арктического датасета.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830"/>
                </a:solidFill>
                <a:latin typeface="Times New Roman"/>
              </a:rPr>
              <a:t>•  Подход превзошёл 4 метода-аналога (0,89 против 0,71–0,86)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222830"/>
                </a:solidFill>
                <a:latin typeface="Times New Roman"/>
              </a:rPr>
              <a:t>–  и обеспечил разделение нефти и арктических ложных целей.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47120" cy="25400"/>
          </a:xfrm>
          <a:prstGeom prst="rect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4E79"/>
                </a:solidFill>
                <a:latin typeface="Times New Roman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