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850392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42062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65376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762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87168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2608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81328"/>
            <a:ext cx="4206240" cy="233172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8132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86537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0312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7432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96265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109728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932688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8092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Создать и проверить систему, которая по снимкам Sentinel-1 автоматически находит нефтяные разливы в арктических портах и устойчива к ложным целям (молодой лёд, штиль, биоплёнки).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ЗАДАЧИ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0008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59152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Изучить физику радиолокации нефти и систематизировать ложные цели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9776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79776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98648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Реализовать конвейер предобработки снимков Sentinel-1 в ESA SNAP и QGIS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319272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438144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Собрать трёхклассовый датасет: вода / нефть / лёд + суша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58768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77640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Адаптировать и обучить нейросеть DeepLabV3+ под радарные данные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98264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98264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07992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17136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Проверить перенос модели на новые порты и сравнить с аналогами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Нефтяные разливы в Арктике — масштаб проблемы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07208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E3A5F"/>
                </a:solidFill>
                <a:latin typeface="Liberation Serif"/>
              </a:rPr>
              <a:t>700+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тыс. тонн нефти в год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попадает в Мировой океан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39" y="868680"/>
            <a:ext cx="2807208" cy="5486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2C5282"/>
                </a:solidFill>
                <a:latin typeface="Liberation Serif"/>
              </a:rPr>
              <a:t>5–10×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медленнее разлагается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нефть в воде &lt; 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868680"/>
            <a:ext cx="2807208" cy="54864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92400E"/>
                </a:solidFill>
                <a:latin typeface="Liberation Serif"/>
              </a:rPr>
              <a:t>&gt;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времени — облака и ночь: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оптика в Арктике не видит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ДВА ПОКАЗАТЕЛЬНЫХ СЛУЧАЯ В РОССИЙСКОЙ АРКТИКЕ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98064"/>
            <a:ext cx="4160520" cy="187451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98064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Утечка нефтепродуктов при бункеровке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танкера у нефтегавани Мурманска.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Пятно зафиксировано Sentinel-1.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Ист.: Морской вестник, авг. 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798064"/>
            <a:ext cx="4160520" cy="187451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2798064"/>
            <a:ext cx="4160520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май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дизтоплива в реки Далдыкан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и Амбарная. Штраф 146 млрд руб.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Ист.: Росприроднадзор, 2020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ITOPF (2023); Росприроднадзор (2020); Морской вестник (2024); ESA Copernicus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 И 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Радиолокация Sentinel-1 и трёхклассовый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84124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8412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8138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50" b="1">
                <a:solidFill>
                  <a:srgbClr val="1E3A5F"/>
                </a:solidFill>
                <a:latin typeface="Liberation Serif"/>
              </a:rPr>
              <a:t>Почему радар (SAR):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работает круглосуточно и сквозь облака; нефть гасит рябь (эффект Марангони) — на снимке тёмное пятно.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92400E"/>
                </a:solidFill>
                <a:latin typeface="Liberation Serif"/>
              </a:rPr>
              <a:t>Ложные цели: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лёд, штиль и биоплёнки дают такие же пятна (до 70 % тёмных пятен в Арктике — лёд); поэтому лёд выделен в отдельный класс.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416052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Sentinel-1 IW GRD — параметры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167128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9456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19456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Sentinel-1, ESA Copernicus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505456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3288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Диапазон · поляр.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3288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C-band 5.4 ГГц · VV + VH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843784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871216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871216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10 м / пиксель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182112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209544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Объём датасета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209544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~60 сцен Sentinel-1 · ~500 тайлов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520440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47872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Размер тайла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47872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256 × 256 пикселей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858768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8620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Классы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88620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вода · нефть · лёд + суша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" y="4197096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2452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Районы · период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22452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4 акватории · 2022–2025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1783080"/>
            <a:ext cx="4160520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39" name="Picture 3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2" y="2121408"/>
            <a:ext cx="2276870" cy="2487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Copernicus Open Access Hub (ESA); датасет MKLab (Krestenitis et al., 2019)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ПРЕДОБРАБОТКА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Подготовка данных: ESA SNAP и QGIS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5486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877824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Сырой снимок Sentinel-1 нельзя подавать в сеть напрямую: радар содержит шум и геометрические искажения. Подготовка идёт в два этапа.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81328"/>
            <a:ext cx="4160520" cy="28895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81328"/>
            <a:ext cx="41605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1 · ESA SNAP — радиометрия и геометрия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1865376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1865376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92024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90195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Apply Orbit File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уточнение орбиты (ESA ephemeris)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176272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2176272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2231136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21284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Thermal Noise Removal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снятие теплового шума антенны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2487168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487168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42032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5237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Calibration → σ0 (дБ)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коэффициент обратного рассеяния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2798064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" y="2798064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52928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8346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Speckle Filter Lee 7×7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подавление спекл-шума SAR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3108960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" y="3108960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163824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Land-Sea Mask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SRTM 3" + расширение берега 10 пкс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3419856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" y="3419856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347472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4564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Terrain Correction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Range-Doppler, WGS-84, 10 м/пкс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" y="3730752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488" y="3730752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785615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376732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Oil Spill Detection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порог T = μ−1.3σ, VV, бинарная маска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" y="4041648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8" y="4041648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096511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07822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Oil Spill Clustering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мин. кластер ≥ 300 пкс → GeoTIFF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17720" y="1481328"/>
            <a:ext cx="4160520" cy="28895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17720" y="1481328"/>
            <a:ext cx="41605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274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2 · QGIS — разметка и нарезка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27448" y="1865376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27448" y="1865376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27448" y="192024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190195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Загрузка GeoTIFF из SNAP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импорт обработанных сцен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27448" y="2176272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7448" y="2176272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27448" y="2231136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74920" y="221284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Маска суша / вода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береговая линия OSM / GSHHG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27448" y="2487168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2487168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27448" y="2542032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74920" y="25237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Оцифровка эталонов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нефть · лёд · вода по экспертным данным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27448" y="2798064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7448" y="2798064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27448" y="2852928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74920" y="28346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Сборка 3-классовых масок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попиксельная разметка сцен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27448" y="3108960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727448" y="3108960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27448" y="3163824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Нарезка на тайлы 256×256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перекрытие 50 %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27448" y="3419856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27448" y="3419856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27448" y="347472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74920" y="34564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Экспорт GeoTIFF + маски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готовый датасет для обучения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80560"/>
            <a:ext cx="8412480" cy="38404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4480560"/>
            <a:ext cx="109728" cy="38404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53542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6749"/>
                </a:solidFill>
                <a:latin typeface="Liberation Serif"/>
              </a:rPr>
              <a:t>Итог: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из ~60 сцен получено ~500 геопривязанных тайлов 256×256 с разметкой — вход для DeepLabV3+.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ESA SNAP 9.0; QGIS 3.x; SRTM; OpenStreetMap Coastline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Реальные разливы: Кольский залив и Норильск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41248"/>
            <a:ext cx="4315968" cy="397763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41248"/>
            <a:ext cx="4315968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4114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pic>
        <p:nvPicPr>
          <p:cNvPr id="12" name="Picture 11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32355"/>
            <a:ext cx="4169663" cy="10465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048" y="2340864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Временной ряд 11 сцен Sentinel-1 (01.07–30.08.2024): пик 18 авг. — 13.7 % акватории.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651760"/>
            <a:ext cx="407822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679192"/>
            <a:ext cx="39136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Двойная проверка — это НЕ ложная цель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944368"/>
            <a:ext cx="4078224" cy="274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985516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ERA5 (реанализ погоды ECMWF):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ветер 4.8 м/с в диапазоне 3–9 м/с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236976"/>
            <a:ext cx="4078224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278124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AIS (опознавание судов):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судно ≤ 5 км и ≤ 24 ч от пятна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566160"/>
            <a:ext cx="4078224" cy="512064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109728" cy="51206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602736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  <a:latin typeface="Liberation Serif"/>
              </a:rPr>
              <a:t>Результат модели на Кольском заливе: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803904"/>
            <a:ext cx="3840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F1 = 0.89   mIoU = 0.82   Accuracy = 95.8 %   FP = 1.4 %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841248"/>
            <a:ext cx="4133087" cy="397763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36592" y="841248"/>
            <a:ext cx="4133087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877824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29 мая 2020</a:t>
            </a:r>
          </a:p>
        </p:txBody>
      </p:sp>
      <p:pic>
        <p:nvPicPr>
          <p:cNvPr id="27" name="Picture 26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280863"/>
            <a:ext cx="4023360" cy="19188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46320" y="333756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дизтоплива в реки Далдыкан и Амбарная.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Штраф — 146 млрд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6592" y="4133087"/>
            <a:ext cx="4133087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169663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Мониторинг вёлся оптикой Sentinel-2 (разлив на суше);</a:t>
            </a:r>
          </a:p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радар фиксирует ледовую обстановку, не плёнку.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 (ESA / ASF DAAC), обработка ESA SNAP; ERA5 (ECMWF); AIS; Росприроднадзор (2020)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АПРОБАЦИЯ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Перенос модели на новые арктические порты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68680"/>
            <a:ext cx="2807208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Варандей — нефтеналивной терминал НАО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5" y="1179576"/>
            <a:ext cx="262890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095244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5244" y="868680"/>
            <a:ext cx="2807208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9252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Печенга — военно-морской порт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398" y="1179576"/>
            <a:ext cx="262890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025896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25896" y="868680"/>
            <a:ext cx="2807208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Сабетта — ворота арктического СПГ</a:t>
            </a:r>
          </a:p>
        </p:txBody>
      </p:sp>
      <p:pic>
        <p:nvPicPr>
          <p:cNvPr id="20" name="Picture 19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049" y="1179576"/>
            <a:ext cx="2628900" cy="21031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64592" y="3456432"/>
            <a:ext cx="8814816" cy="12984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3456432"/>
            <a:ext cx="109728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51129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92400E"/>
                </a:solidFill>
                <a:latin typeface="Liberation Serif"/>
              </a:rPr>
              <a:t>ПРОБЛЕМА: ТЁМНЫЕ ПЯТНА — НЕ ВСЕГДА НЕФТЬ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822191"/>
            <a:ext cx="416052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Молодой лёд (жировой, нилас, шуга) гасит рябь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так же, как нефть — эффект похожий, но источник другой.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Зоны штиля и биоплёнки — та же картина.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Вывод: 3-классовая модель (лёд = отдельный класс)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снижает ложные тревоги.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93008"/>
            <a:ext cx="4206240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529584"/>
            <a:ext cx="4023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Рост ложных тревог при переносе модели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80390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80390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80390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7822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7822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07822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35254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35254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35254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GRD, ESA Copernicus (2022–2025). FP — доля ложных срабатываний (false positives)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МОДЕЛЬ И 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DeepLabV3+: архитектура, обучение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" y="822960"/>
            <a:ext cx="4983480" cy="40416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498348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859536"/>
            <a:ext cx="4800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Архитектура DeepLabV3+, адаптированная под SAR (1 канал VV дБ)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188720"/>
            <a:ext cx="4800600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2608" y="1188720"/>
            <a:ext cx="109728" cy="5303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243584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Энкодер ResNet-50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1463040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Предобучен ImageNet · 1-канальный вход VV (дБ) · дилатированные свёртки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" y="1773936"/>
            <a:ext cx="4800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1773936"/>
            <a:ext cx="109728" cy="53035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82880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ASPP (r = 6, 12, 18)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048255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Многомасштабный контекст: от малых пятен до протяжённых разливов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359152"/>
            <a:ext cx="4800600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" y="2359152"/>
            <a:ext cx="109728" cy="53035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2414016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76749"/>
                </a:solidFill>
                <a:latin typeface="Liberation Serif"/>
              </a:rPr>
              <a:t>Декодер + блоки внимания scSE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633472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Подавление спекл-шума · усиление нефтяных пятен · 3 класса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2944368"/>
            <a:ext cx="4800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" y="2944368"/>
            <a:ext cx="109728" cy="530352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999232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4A5568"/>
                </a:solidFill>
                <a:latin typeface="Liberation Serif"/>
              </a:rPr>
              <a:t>Функция потерь Dice-BCE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3218687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Веса классов: вода 0.3 / нефть 9.8 / лёд+суша 1.2 (нефть редкий класс)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3547872"/>
            <a:ext cx="4800600" cy="4572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" y="3547872"/>
            <a:ext cx="109728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5844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1E3A5F"/>
                </a:solidFill>
                <a:latin typeface="Liberation Serif"/>
              </a:rPr>
              <a:t>Порог детекции тёмных зон: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T = μ − 1.3σ  (μ, σ — яркость воды в дБ)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" y="4059936"/>
            <a:ext cx="480060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2608" y="4059936"/>
            <a:ext cx="109728" cy="65836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4096512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2C5282"/>
                </a:solidFill>
                <a:latin typeface="Liberation Serif"/>
              </a:rPr>
              <a:t>Обучение: AdamW · CosineAnnealing · 78 эпох · батч 16 · GPU A100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822960"/>
            <a:ext cx="3593592" cy="20665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49240" y="822960"/>
            <a:ext cx="3593592" cy="29260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0680" y="859536"/>
            <a:ext cx="3410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Метрики — Кольский залив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1170432"/>
            <a:ext cx="3593592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49240" y="1170432"/>
            <a:ext cx="109728" cy="53035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04688" y="1207008"/>
            <a:ext cx="12344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216152"/>
            <a:ext cx="2057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76749"/>
                </a:solidFill>
                <a:latin typeface="Liberation Serif"/>
              </a:rPr>
              <a:t>F1 (нефть)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1426464"/>
            <a:ext cx="2057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89 из 100 пятен найдено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49240" y="1737360"/>
            <a:ext cx="3593592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49240" y="1737360"/>
            <a:ext cx="109728" cy="53035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04688" y="1773936"/>
            <a:ext cx="12344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C5282"/>
                </a:solidFill>
                <a:latin typeface="Liberation Serif"/>
              </a:rPr>
              <a:t>0.82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1783080"/>
            <a:ext cx="2057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mIoU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1993391"/>
            <a:ext cx="2057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82 % площади — верно (3 кл.)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2304288"/>
            <a:ext cx="3593592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49240" y="2304288"/>
            <a:ext cx="109728" cy="5303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04688" y="2340864"/>
            <a:ext cx="12344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Liberation Serif"/>
              </a:rPr>
              <a:t>95.8 %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2350008"/>
            <a:ext cx="2057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1E3A5F"/>
                </a:solidFill>
                <a:latin typeface="Liberation Serif"/>
              </a:rPr>
              <a:t>Accuracy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2560320"/>
            <a:ext cx="2057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пикселей верно из 100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49240" y="2962656"/>
            <a:ext cx="3593592" cy="1901952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49240" y="2962656"/>
            <a:ext cx="3593592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999232"/>
            <a:ext cx="3410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без дообучения (zero-shot)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310128"/>
            <a:ext cx="3593592" cy="3840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392424"/>
            <a:ext cx="1508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3392424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73568" y="3392424"/>
            <a:ext cx="868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3730752"/>
            <a:ext cx="359359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58968" y="3813048"/>
            <a:ext cx="1508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95160" y="3813048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73568" y="3813048"/>
            <a:ext cx="868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4151376"/>
            <a:ext cx="3593592" cy="3840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58968" y="4233672"/>
            <a:ext cx="1508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95160" y="4233672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73568" y="4233672"/>
            <a:ext cx="868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58968" y="4562856"/>
            <a:ext cx="3410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FP (false positives) — доля ложных срабатываний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и сравнение с методами-аналогами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786384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ТРИ ЭЛЕМЕНТА НАУЧНОЙ НОВИЗНЫ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60704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60704"/>
            <a:ext cx="457200" cy="106070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08175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170431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3 класса: вода / нефть / лёд+суша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463039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Аналоги (Krestenitis 2019, Brekke 2005) используют 2 класса «нефть / фон». Третий класс льда — единственный способ различить нефть и лёд в Арктике.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12848"/>
            <a:ext cx="4572000" cy="106070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457200" cy="106070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6032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322576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DeepLabV3+ под одноканальный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15184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Входной слой и блоки внимания scSE адаптированы под VV-канал (дБ) вместо стандартных RGB-снимков.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64991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364991"/>
            <a:ext cx="457200" cy="106070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712463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47472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Первая оценка переноса между портами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67328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измерена деградация F1 и рост FP при переносе модели на новые арктические акватории России.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786384"/>
            <a:ext cx="3703320" cy="3456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786384"/>
            <a:ext cx="3703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822960"/>
            <a:ext cx="3520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Сравнение по F1 с аналогами</a:t>
            </a:r>
          </a:p>
        </p:txBody>
      </p:sp>
      <p:pic>
        <p:nvPicPr>
          <p:cNvPr id="28" name="Picture 2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72954"/>
            <a:ext cx="3611880" cy="1884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Сравнение с Otsu; U-Net (Krestenitis 2019); GLCM+CNN; адаптивный порог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Выводы и практическая значимость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14983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014983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Реализован полный конвейер: SNAP/QGIS → DeepLabV3+ → верификация ERA5/AIS.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81912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581912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728216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Собран первый трёхклассовый датасет (~60 сцен Sentinel-1) для российских арктических акваторий.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95144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295144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4144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41448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Достигнуто F1 = 0.89 — выше всех методов-аналогов из литературы.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008376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154680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54680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Метод проверен на 4 портах; деградация при переносе объяснена ложными целями (лёд).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67328"/>
            <a:ext cx="8412480" cy="9326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67328"/>
            <a:ext cx="109728" cy="93268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803904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Практическая значимость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1480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276749"/>
                </a:solidFill>
                <a:latin typeface="Liberation Serif"/>
              </a:rPr>
              <a:t>Система готова к всепогодному автоматическому мониторингу четырёх арктических акваторий России. Перенос без дообучения достигает F1 = 0.84 (Варандей) и F1 = 0.76 (Сабетта). Конвейер открыт к расширению на другие порты.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