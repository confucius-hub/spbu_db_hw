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50292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850392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Разработка системы автоматического детектирования</a:t>
            </a:r>
          </a:p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нефтяных разливов в акваториях арктических портов</a:t>
            </a:r>
          </a:p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по данным спутниковых радиолокационных систем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89888"/>
            <a:ext cx="4206240" cy="24231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89888"/>
            <a:ext cx="420624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42646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50" b="1" i="0">
                <a:solidFill>
                  <a:srgbClr val="FFFFFF"/>
                </a:solidFill>
                <a:latin typeface="Liberation Serif"/>
              </a:rPr>
              <a:t>САНКТ-ПЕТЕРБУРГСКИЙ ГОСУДАРСТВЕННЫЙ УНИВЕРСИТЕТ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719072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2C5282"/>
                </a:solidFill>
                <a:latin typeface="Liberation Serif"/>
              </a:rPr>
              <a:t>Кафедра информатики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993392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Направление: Прикладная информатика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267712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Профиль: Искусственный интеллект и наука о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633472"/>
            <a:ext cx="39776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E3A5F"/>
                </a:solidFill>
                <a:latin typeface="Liberation Serif"/>
              </a:rPr>
              <a:t>Магистерская диссертация ·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389888"/>
            <a:ext cx="4206240" cy="242316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1389888"/>
            <a:ext cx="420624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42646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50" b="1" i="0">
                <a:solidFill>
                  <a:srgbClr val="FFFFFF"/>
                </a:solidFill>
                <a:latin typeface="Liberation Serif"/>
              </a:rPr>
              <a:t>СВЕДЕНИЯ ОБ АВТОРЕ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1719072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Подготовил: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1938528"/>
            <a:ext cx="39776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  <a:latin typeface="Liberation Serif"/>
              </a:rPr>
              <a:t>Байханов Владислав Камолович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2212848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студент группы 24.М81-мм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52374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Научный руководитель: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3168" y="2724912"/>
            <a:ext cx="3977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к.т.н., доцент Митько А. В.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АКТУАЛЬНОСТЬ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Проблематика · Обоснование выбора 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" y="658368"/>
            <a:ext cx="2651760" cy="6400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" y="694944"/>
            <a:ext cx="25603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700+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" y="1298448"/>
            <a:ext cx="2651760" cy="749808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1316736"/>
            <a:ext cx="2542032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750">
                <a:solidFill>
                  <a:srgbClr val="4A5568"/>
                </a:solidFill>
                <a:latin typeface="Liberation Serif"/>
              </a:rPr>
              <a:t>тыс. т нефти в год</a:t>
            </a:r>
          </a:p>
          <a:p>
            <a:pPr algn="ctr">
              <a:spcBef>
                <a:spcPts val="100"/>
              </a:spcBef>
            </a:pPr>
            <a:r>
              <a:rPr sz="750" b="0" i="0">
                <a:solidFill>
                  <a:srgbClr val="4A5568"/>
                </a:solidFill>
                <a:latin typeface="Liberation Serif"/>
              </a:rPr>
              <a:t>попадает в Мировой</a:t>
            </a:r>
          </a:p>
          <a:p>
            <a:pPr algn="ctr">
              <a:spcBef>
                <a:spcPts val="100"/>
              </a:spcBef>
            </a:pPr>
            <a:r>
              <a:rPr sz="750" b="0" i="0">
                <a:solidFill>
                  <a:srgbClr val="4A5568"/>
                </a:solidFill>
                <a:latin typeface="Liberation Serif"/>
              </a:rPr>
              <a:t>океан (ITOPF, 2023)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71800" y="658368"/>
            <a:ext cx="2788920" cy="6400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694944"/>
            <a:ext cx="2697479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5–10×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71800" y="1298448"/>
            <a:ext cx="2788920" cy="749808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1316736"/>
            <a:ext cx="2679191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750">
                <a:solidFill>
                  <a:srgbClr val="4A5568"/>
                </a:solidFill>
                <a:latin typeface="Liberation Serif"/>
              </a:rPr>
              <a:t>медленнее разложение</a:t>
            </a:r>
          </a:p>
          <a:p>
            <a:pPr algn="ctr">
              <a:spcBef>
                <a:spcPts val="100"/>
              </a:spcBef>
            </a:pPr>
            <a:r>
              <a:rPr sz="750" b="0" i="0">
                <a:solidFill>
                  <a:srgbClr val="4A5568"/>
                </a:solidFill>
                <a:latin typeface="Liberation Serif"/>
              </a:rPr>
              <a:t>нефти в арктических</a:t>
            </a:r>
          </a:p>
          <a:p>
            <a:pPr algn="ctr">
              <a:spcBef>
                <a:spcPts val="100"/>
              </a:spcBef>
            </a:pPr>
            <a:r>
              <a:rPr sz="750" b="0" i="0">
                <a:solidFill>
                  <a:srgbClr val="4A5568"/>
                </a:solidFill>
                <a:latin typeface="Liberation Serif"/>
              </a:rPr>
              <a:t>водах (&lt;5 °C)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53328" y="658368"/>
            <a:ext cx="3017520" cy="6400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9048" y="694944"/>
            <a:ext cx="2926079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&gt;80%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53328" y="1298448"/>
            <a:ext cx="3017520" cy="749808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17336" y="1316736"/>
            <a:ext cx="2907791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750">
                <a:solidFill>
                  <a:srgbClr val="4A5568"/>
                </a:solidFill>
                <a:latin typeface="Liberation Serif"/>
              </a:rPr>
              <a:t>облачность — оптика</a:t>
            </a:r>
          </a:p>
          <a:p>
            <a:pPr algn="ctr">
              <a:spcBef>
                <a:spcPts val="100"/>
              </a:spcBef>
            </a:pPr>
            <a:r>
              <a:rPr sz="750" b="0" i="0">
                <a:solidFill>
                  <a:srgbClr val="4A5568"/>
                </a:solidFill>
                <a:latin typeface="Liberation Serif"/>
              </a:rPr>
              <a:t>не работает круглый</a:t>
            </a:r>
          </a:p>
          <a:p>
            <a:pPr algn="ctr">
              <a:spcBef>
                <a:spcPts val="100"/>
              </a:spcBef>
            </a:pPr>
            <a:r>
              <a:rPr sz="750" b="0" i="0">
                <a:solidFill>
                  <a:srgbClr val="4A5568"/>
                </a:solidFill>
                <a:latin typeface="Liberation Serif"/>
              </a:rPr>
              <a:t>год в Арктике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" y="2176272"/>
            <a:ext cx="4206240" cy="2697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" y="2176272"/>
            <a:ext cx="420624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6304" y="2212848"/>
            <a:ext cx="4096511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Почему SAR (радиолокация)?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" y="2496311"/>
            <a:ext cx="3977639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850" b="1">
                <a:solidFill>
                  <a:srgbClr val="2C5282"/>
                </a:solidFill>
                <a:latin typeface="Liberation Serif"/>
              </a:rPr>
              <a:t>▶ Работает 24/7: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полярная ночь не препятствие</a:t>
            </a:r>
          </a:p>
          <a:p>
            <a:pPr algn="l"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▶ Сквозь облака: </a:t>
            </a:r>
            <a:r>
              <a:rPr sz="850">
                <a:solidFill>
                  <a:srgbClr val="4A5568"/>
                </a:solidFill>
                <a:latin typeface="Liberation Serif"/>
              </a:rPr>
              <a:t>C-диапазон (5.405 ГГц) не поглощается</a:t>
            </a:r>
          </a:p>
          <a:p>
            <a:pPr algn="l"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▶ Эффект Марангони: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нефть гасит капиллярные волны → σ⁰ ↓ 10–20 дБ → тёмное пятно</a:t>
            </a:r>
          </a:p>
          <a:p>
            <a:pPr algn="l"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▶ Sentinel-1: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бесплатный архив ESA, 10 м/пкс, повтор ~6 сут</a:t>
            </a:r>
          </a:p>
          <a:p>
            <a:pPr algn="l"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▶ Поляризации VV+VH: </a:t>
            </a:r>
            <a:r>
              <a:rPr sz="850">
                <a:solidFill>
                  <a:srgbClr val="4A5568"/>
                </a:solidFill>
                <a:latin typeface="Liberation Serif"/>
              </a:rPr>
              <a:t>разность PD различает нефть (6–10 дБ) и лёд (&lt;4 дБ)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98848" y="2176272"/>
            <a:ext cx="4572000" cy="2697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98848" y="2176272"/>
            <a:ext cx="4572000" cy="2743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2212848"/>
            <a:ext cx="44622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Арктические порты — зона риска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0288" y="2496311"/>
            <a:ext cx="434340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850" b="1">
                <a:solidFill>
                  <a:srgbClr val="92400E"/>
                </a:solidFill>
                <a:latin typeface="Liberation Serif"/>
              </a:rPr>
              <a:t>● Кольский залив: </a:t>
            </a:r>
            <a:r>
              <a:rPr sz="850">
                <a:solidFill>
                  <a:srgbClr val="4A5568"/>
                </a:solidFill>
                <a:latin typeface="Liberation Serif"/>
              </a:rPr>
              <a:t>~30–40 млн т/год, регулярные бункеровки, разлив авг 2024</a:t>
            </a:r>
          </a:p>
          <a:p>
            <a:pPr algn="l">
              <a:spcBef>
                <a:spcPts val="300"/>
              </a:spcBef>
            </a:pPr>
            <a:r>
              <a:rPr sz="850" b="1">
                <a:solidFill>
                  <a:srgbClr val="92400E"/>
                </a:solidFill>
                <a:latin typeface="Liberation Serif"/>
              </a:rPr>
              <a:t>● Варандей: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морской нефтеналивной терминал Ненецкого АО, ~2 млн т/год</a:t>
            </a:r>
          </a:p>
          <a:p>
            <a:pPr algn="l">
              <a:spcBef>
                <a:spcPts val="300"/>
              </a:spcBef>
            </a:pPr>
            <a:r>
              <a:rPr sz="850" b="1">
                <a:solidFill>
                  <a:srgbClr val="92400E"/>
                </a:solidFill>
                <a:latin typeface="Liberation Serif"/>
              </a:rPr>
              <a:t>● Сабетта: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ворота арктического СПГ (НоваТЭК), Обская губа</a:t>
            </a:r>
          </a:p>
          <a:p>
            <a:pPr algn="l">
              <a:spcBef>
                <a:spcPts val="300"/>
              </a:spcBef>
            </a:pPr>
            <a:r>
              <a:rPr sz="850" b="1">
                <a:solidFill>
                  <a:srgbClr val="92400E"/>
                </a:solidFill>
                <a:latin typeface="Liberation Serif"/>
              </a:rPr>
              <a:t>● Печенга: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военно-морской и рыбный порт, Мурманская обл.</a:t>
            </a:r>
          </a:p>
          <a:p>
            <a:pPr algn="l">
              <a:spcBef>
                <a:spcPts val="300"/>
              </a:spcBef>
            </a:pPr>
            <a:r>
              <a:rPr sz="850" b="1">
                <a:solidFill>
                  <a:srgbClr val="92400E"/>
                </a:solidFill>
                <a:latin typeface="Liberation Serif"/>
              </a:rPr>
              <a:t>● Норильск-2020: </a:t>
            </a:r>
            <a:r>
              <a:rPr sz="850">
                <a:solidFill>
                  <a:srgbClr val="4A5568"/>
                </a:solidFill>
                <a:latin typeface="Liberation Serif"/>
              </a:rPr>
              <a:t>≈21 000 т дизтоплива ТЭЦ-3 НТЭК, штраф 146 млрд руб.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ЦЕЛЬ И ЗАДАЧИ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Цель и задачи исследования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3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" y="667512"/>
            <a:ext cx="8924544" cy="68580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" y="667512"/>
            <a:ext cx="8924544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" y="694944"/>
            <a:ext cx="8732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ЦЕЛЬ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" y="914400"/>
            <a:ext cx="87325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Разработать и верифицировать систему автоматического детектирования нефтяных разливов в акваториях арктических портов по данным Sentinel-1, устойчивую к арктическим ложным целям.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" y="1444752"/>
            <a:ext cx="4315968" cy="914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" y="1444752"/>
            <a:ext cx="329184" cy="9144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" y="1773936"/>
            <a:ext cx="23774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499616"/>
            <a:ext cx="385876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Физика SAR и look-alikes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719072"/>
            <a:ext cx="3858768" cy="6035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Изучить эффект Марангони; систематизировать ложные цели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(лёд, штиль, биоплёнки) для арктических акваторий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8032" y="1444752"/>
            <a:ext cx="4315968" cy="914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28032" y="1444752"/>
            <a:ext cx="329184" cy="91440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82896" y="1773936"/>
            <a:ext cx="23774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1224" y="1499616"/>
            <a:ext cx="385876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Конвейер предобработки ESA SNAP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1719072"/>
            <a:ext cx="3858768" cy="6035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Реализовать 8-шаговый конвейер: орбиты → термошум →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калибровка σ⁰ → фильтр Ли 7×7 → геокоррекция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" y="2414016"/>
            <a:ext cx="4315968" cy="914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" y="2414016"/>
            <a:ext cx="329184" cy="9144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" y="2743200"/>
            <a:ext cx="23774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2468880"/>
            <a:ext cx="385876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Трёхклассовый датасет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2688336"/>
            <a:ext cx="3858768" cy="6035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Сформировать аннотированный датасет: вода / нефть / лёд+суша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(1 125 сцен, 4 128 тайлов 256×256) на базе MKLab + Кольский залив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28032" y="2414016"/>
            <a:ext cx="4315968" cy="914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28032" y="2414016"/>
            <a:ext cx="329184" cy="91440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82896" y="2743200"/>
            <a:ext cx="23774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21224" y="2468880"/>
            <a:ext cx="385876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Адаптация DeepLabV3+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1224" y="2688336"/>
            <a:ext cx="3858768" cy="6035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Модифицировать архитектуру под 1-канальный SAR-вход;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добавить блоки внимания scSE; настроить Dice-BCE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728" y="3383280"/>
            <a:ext cx="4315968" cy="914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9728" y="3383280"/>
            <a:ext cx="329184" cy="91440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4592" y="3712464"/>
            <a:ext cx="23774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Liberation Serif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3438144"/>
            <a:ext cx="385876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76749"/>
                </a:solidFill>
                <a:latin typeface="Liberation Serif"/>
              </a:rPr>
              <a:t>Обучение и перенос модели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3657600"/>
            <a:ext cx="3858768" cy="6035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Обучить на Кольском заливе (78 эпох);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проверить перенос на Варандей, Сабетту, Печенгу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28032" y="3383280"/>
            <a:ext cx="4315968" cy="914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828032" y="3383280"/>
            <a:ext cx="329184" cy="91440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82896" y="3712464"/>
            <a:ext cx="23774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Liberation Serif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21224" y="3438144"/>
            <a:ext cx="385876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76749"/>
                </a:solidFill>
                <a:latin typeface="Liberation Serif"/>
              </a:rPr>
              <a:t>Сравнительный анализ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21224" y="3657600"/>
            <a:ext cx="3858768" cy="6035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Сопоставить с 4 аналогами из литературы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(Отцу, U-Net, GLCM+CNN, адаптивный порог) по F1-score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ДАННЫЕ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Исходные данные и аннотированный датасет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4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" y="658368"/>
            <a:ext cx="4133087" cy="4160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" y="658368"/>
            <a:ext cx="4133087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94944"/>
            <a:ext cx="402335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Sentinel-1 IW GRD — технические параметры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" y="969264"/>
            <a:ext cx="4023360" cy="320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" y="1005840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Спутник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3936" y="1005840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Sentinel-1A/B (ESA Copernicus)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" y="1307592"/>
            <a:ext cx="4023360" cy="3200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" y="1344168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Режим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73936" y="1344168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IW GRD (Interferometric Wide Swath)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" y="1645920"/>
            <a:ext cx="4023360" cy="320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682496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Диапазон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73936" y="1682496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C-band, 5.405 ГГц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6304" y="1984248"/>
            <a:ext cx="4023360" cy="3200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" y="2020824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Поляризация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3936" y="2020824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VV + VH (VV — основной для нефти)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" y="2322576"/>
            <a:ext cx="4023360" cy="320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1168" y="2359152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Разрешение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73936" y="2359152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10 м / пксель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6304" y="2660904"/>
            <a:ext cx="4023360" cy="3200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1168" y="2697480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Полоса охвата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73936" y="2697480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250 км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6304" y="2999232"/>
            <a:ext cx="4023360" cy="320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1168" y="3035808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Тайлы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73936" y="3035808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256 × 256 пкс, 50 % перекрытие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" y="3337560"/>
            <a:ext cx="4023360" cy="3200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168" y="3374136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Сцен (обуч.)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73936" y="3374136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1 125 (MKLab + Кольский залив)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6304" y="3675887"/>
            <a:ext cx="4023360" cy="320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168" y="3712463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Тайлов всего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73936" y="3712463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4 128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6304" y="4014216"/>
            <a:ext cx="4023360" cy="3200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1168" y="4050792"/>
            <a:ext cx="1508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Период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73936" y="4050792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2022–2025 (4 акватории)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07408" y="658368"/>
            <a:ext cx="4626864" cy="4160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407408" y="658368"/>
            <a:ext cx="4626864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98848" y="694944"/>
            <a:ext cx="444398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Распределение классов в датасете</a:t>
            </a:r>
          </a:p>
        </p:txBody>
      </p:sp>
      <p:pic>
        <p:nvPicPr>
          <p:cNvPr id="45" name="Picture 44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743" y="950976"/>
            <a:ext cx="3390193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МЕТОДОЛОГИЯ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Трёхэтапный конвейер обработки SAR-данных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5 / 12</a:t>
            </a:r>
          </a:p>
        </p:txBody>
      </p:sp>
      <p:pic>
        <p:nvPicPr>
          <p:cNvPr id="9" name="Picture 8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845017"/>
            <a:ext cx="8961120" cy="32385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728" y="4343400"/>
            <a:ext cx="8924544" cy="566928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" y="4389120"/>
            <a:ext cx="8732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4A5568"/>
                </a:solidFill>
                <a:latin typeface="Liberation Serif"/>
              </a:rPr>
              <a:t>Этап 1 — ESA SNAP (8 шагов: орбиты → термошум → σ⁰ → фильтр Ли 7×7 → геокоррекция WGS-84)  │  Этап 2 — DeepLabV3+ PyTorch (3 класса, Dice-BCE, TTA)  │  Этап 3 — верификация ERA5 + AIS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АРХИТЕКТУРА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DeepLabV3+ с блоками внимания scSE — адаптация для 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6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" y="658368"/>
            <a:ext cx="2798064" cy="26517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" y="658368"/>
            <a:ext cx="2798064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94944"/>
            <a:ext cx="26883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Энкодер ResNet-50 (модифицирован)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" y="978408"/>
            <a:ext cx="2633472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Предобучен на ImageNet → трансфер весов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Входной слой: conv1 1-канальный (VV σ⁰ дБ)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5 уровней, 64–2048 карт признаков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Дилатированные свёртки в слоях 3–4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Выходной страйд: 16 (высокое разрешение)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90672" y="658368"/>
            <a:ext cx="2798064" cy="26517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90672" y="658368"/>
            <a:ext cx="2798064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63824" y="694944"/>
            <a:ext cx="26883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ASPP — многомасштабный контекст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2112" y="978408"/>
            <a:ext cx="2633472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Atrous Spatial Pyramid Pooling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Ветви с r = 6, 12, 18 (dilated conv)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Глобальный average pooling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Конкатенация → понижение до 256 каналов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Захват объектов от пикселя до 18× рецептивного поля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71616" y="658368"/>
            <a:ext cx="2798064" cy="26517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71616" y="658368"/>
            <a:ext cx="2798064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694944"/>
            <a:ext cx="268833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Декодер + scSE-внимание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3056" y="978408"/>
            <a:ext cx="2633472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Конкатенация со skip-connections (Этап 1)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scSE = Spatial + Channel Squeeze &amp; Excitation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Подавляет спекл, усиливает нефтяные пятна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3 класса: вода · нефть · лёд+суша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▶ Веса: w = 0.3 · 9.8 · 1.2 (компенсация дисбаланса)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" y="3401568"/>
            <a:ext cx="8924544" cy="146304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" y="3401568"/>
            <a:ext cx="8924544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168" y="3429000"/>
            <a:ext cx="8732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Ключевые гиперпараметры обучения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" y="3694176"/>
            <a:ext cx="1432560" cy="11155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3730752"/>
            <a:ext cx="13594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Оптимизатор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" y="3968496"/>
            <a:ext cx="1359408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AdamW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β₁=0.9, β₂=0.999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24584" y="3694176"/>
            <a:ext cx="1432560" cy="11155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70304" y="3730752"/>
            <a:ext cx="13594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LR-расписание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70304" y="3968496"/>
            <a:ext cx="1359408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CosineAnnealing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T_max=78 эпох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2008" y="3694176"/>
            <a:ext cx="1432560" cy="11155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57728" y="3730752"/>
            <a:ext cx="13594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Функция потерь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57728" y="3968496"/>
            <a:ext cx="1359408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Dice-BCE (50/50)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классовые веса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9432" y="3694176"/>
            <a:ext cx="1432560" cy="11155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45152" y="3730752"/>
            <a:ext cx="13594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Батч / GPU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5152" y="3968496"/>
            <a:ext cx="1359408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16 / NVIDIA A100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bf16 mixed prec.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6856" y="3694176"/>
            <a:ext cx="1432560" cy="11155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32576" y="3730752"/>
            <a:ext cx="13594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Аугментация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32576" y="3968496"/>
            <a:ext cx="1359408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flip, rot, масштаб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TTA × 4 поворота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74279" y="3694176"/>
            <a:ext cx="1432560" cy="11155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19999" y="3730752"/>
            <a:ext cx="13594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2C5282"/>
                </a:solidFill>
                <a:latin typeface="Liberation Serif"/>
              </a:rPr>
              <a:t>Early stopping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19999" y="3968496"/>
            <a:ext cx="1359408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patience = 12</a:t>
            </a:r>
          </a:p>
          <a:p>
            <a:pPr algn="l"/>
            <a:r>
              <a:rPr sz="780" b="0" i="0">
                <a:solidFill>
                  <a:srgbClr val="4A5568"/>
                </a:solidFill>
                <a:latin typeface="Liberation Serif"/>
              </a:rPr>
              <a:t>best epoch = 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НАУЧНАЯ НОВИЗНА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Научная новизна работы — отличия от существующих исследований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7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" y="658368"/>
            <a:ext cx="8924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Новизна состоит в адаптации и интеграции апробированных методов для специфики российских арктических акваторий — ни один из трёх компонентов ранее не применялся совместно.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" y="1042415"/>
            <a:ext cx="8924544" cy="117043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" y="1042415"/>
            <a:ext cx="384048" cy="117043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" y="1463039"/>
            <a:ext cx="31089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097280"/>
            <a:ext cx="839419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1E3A5F"/>
                </a:solidFill>
                <a:latin typeface="Liberation Serif"/>
              </a:rPr>
              <a:t>Трёхклассовый датасет для арктической акватории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316736"/>
            <a:ext cx="83941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Все открытые датасеты (SOS Dataset, OSCD, MKLab) используют бинарную схему «нефть / фон».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Введён отдельный класс «лёд + суша» — критично для Арктики: до 70 % тёмных пятен в SAR вызваны начальными формами льда (жировой, нилас, шуга), а не нефтью.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" y="2286000"/>
            <a:ext cx="8924544" cy="11704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" y="2286000"/>
            <a:ext cx="384048" cy="117043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" y="2706624"/>
            <a:ext cx="31089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340864"/>
            <a:ext cx="839419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C5282"/>
                </a:solidFill>
                <a:latin typeface="Liberation Serif"/>
              </a:rPr>
              <a:t>DeepLabV3+ адаптирован для одноканальных SAR-данных + scSE-блоки внимания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560320"/>
            <a:ext cx="83941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Стандартная реализация (Bianchi 2020; Shao 2022) работает с RGB-снимками.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Входной слой перестроен под 1-канальный VV σ⁰ (дБ). Блоки scSE подавляют спекл-шум и усиливают различимость нефть / биогенные плёнки (ключевая look-alike).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" y="3529584"/>
            <a:ext cx="8924544" cy="117043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9728" y="3529584"/>
            <a:ext cx="384048" cy="1170432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" y="3950208"/>
            <a:ext cx="31089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584448"/>
            <a:ext cx="839419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76749"/>
                </a:solidFill>
                <a:latin typeface="Liberation Serif"/>
              </a:rPr>
              <a:t>Первая количественная оценка переноса модели на новые арктические порты России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803904"/>
            <a:ext cx="83941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Модель, обученная на Кольском заливе, впервые проверена на Варандее, Сабетте и Печенге.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Выявлена закономерность деградации: F1 = 0.89 (Кольский) → 0.84 (Варандей) → 0.76 (Сабетта). Количественно оценён рост ложных тревог (FP 1.4 % → 6.2 %).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КЕЙС 1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Кольский залив — базовый порт исследования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8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" y="658368"/>
            <a:ext cx="4663440" cy="23317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" y="658368"/>
            <a:ext cx="466344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94944"/>
            <a:ext cx="455371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Объект и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" y="978408"/>
            <a:ext cx="44348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850" b="1">
                <a:solidFill>
                  <a:srgbClr val="2C5282"/>
                </a:solidFill>
                <a:latin typeface="Liberation Serif"/>
              </a:rPr>
              <a:t>Акватория: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Кольский залив, Мурманская обл., 68.5–69.5°N</a:t>
            </a:r>
          </a:p>
          <a:p>
            <a:pPr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Снимки: </a:t>
            </a:r>
            <a:r>
              <a:rPr sz="850">
                <a:solidFill>
                  <a:srgbClr val="4A5568"/>
                </a:solidFill>
                <a:latin typeface="Liberation Serif"/>
              </a:rPr>
              <a:t>11 сцен Sentinel-1, 01.07–30.08.2024</a:t>
            </a:r>
          </a:p>
          <a:p>
            <a:pPr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Метод детектирования: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Адаптивный порог T = μ − 1.3·σ (VV-канал)</a:t>
            </a:r>
          </a:p>
          <a:p>
            <a:pPr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Клас. дисбаланс: </a:t>
            </a:r>
            <a:r>
              <a:rPr sz="850">
                <a:solidFill>
                  <a:srgbClr val="4A5568"/>
                </a:solidFill>
                <a:latin typeface="Liberation Serif"/>
              </a:rPr>
              <a:t>~78 % вода, 19 % лёд+суша, 2.4 % нефть</a:t>
            </a:r>
          </a:p>
          <a:p>
            <a:pPr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Верификация 1: </a:t>
            </a:r>
            <a:r>
              <a:rPr sz="850">
                <a:solidFill>
                  <a:srgbClr val="4A5568"/>
                </a:solidFill>
                <a:latin typeface="Liberation Serif"/>
              </a:rPr>
              <a:t>Метео-контроль ERA5 — ветер 3–9 м/с (оптимум)</a:t>
            </a:r>
          </a:p>
          <a:p>
            <a:pPr>
              <a:spcBef>
                <a:spcPts val="300"/>
              </a:spcBef>
            </a:pPr>
            <a:r>
              <a:rPr sz="850" b="1">
                <a:solidFill>
                  <a:srgbClr val="2C5282"/>
                </a:solidFill>
                <a:latin typeface="Liberation Serif"/>
              </a:rPr>
              <a:t>Верификация 2: </a:t>
            </a:r>
            <a:r>
              <a:rPr sz="850">
                <a:solidFill>
                  <a:srgbClr val="4A5568"/>
                </a:solidFill>
                <a:latin typeface="Liberation Serif"/>
              </a:rPr>
              <a:t>AIS-трафик — суда ≤5 км / ≤24 ч от аномалии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" y="3090672"/>
            <a:ext cx="4663440" cy="1737360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" y="3090672"/>
            <a:ext cx="4663440" cy="2743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" y="3118104"/>
            <a:ext cx="4480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Реальный инцидент — 11 августа 2024 г.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" y="3401568"/>
            <a:ext cx="4480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При бункеровке судна в порту Мурманска допущена утечка топлива.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Тёмное пятно зафиксировано Sentinel-1 через 7 суток (18 авг.):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1 296 пкс → 13.7 % акватории залива.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AIS-данные подтвердили суда в зоне в момент съёмки.</a:t>
            </a:r>
          </a:p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>Ветер ERA5: 4.8 м/с — в пределах рабочего диапазона 3–9 м/с.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19472" y="658368"/>
            <a:ext cx="4114800" cy="2331720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19472" y="658368"/>
            <a:ext cx="411480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2624" y="694944"/>
            <a:ext cx="40050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Результаты модели (Кольский залив)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74336" y="987552"/>
            <a:ext cx="3977639" cy="30175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7488" y="1033272"/>
            <a:ext cx="2651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F1-score (нефть)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1024128"/>
            <a:ext cx="1188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276749"/>
                </a:solidFill>
                <a:latin typeface="Liberation Serif"/>
              </a:rPr>
              <a:t>0.89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74336" y="1325880"/>
            <a:ext cx="3977639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47488" y="1371600"/>
            <a:ext cx="2651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mIoU (3 класса)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4112" y="1362456"/>
            <a:ext cx="1188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1E3A5F"/>
                </a:solidFill>
                <a:latin typeface="Liberation Serif"/>
              </a:rPr>
              <a:t>0.82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74336" y="1664208"/>
            <a:ext cx="3977639" cy="30175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7488" y="1709928"/>
            <a:ext cx="2651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Точность (Accuracy)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54112" y="1700784"/>
            <a:ext cx="1188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2C5282"/>
                </a:solidFill>
                <a:latin typeface="Liberation Serif"/>
              </a:rPr>
              <a:t>95.8 %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74336" y="2002536"/>
            <a:ext cx="3977639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47488" y="2048255"/>
            <a:ext cx="2651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FP (ложные тревоги)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54112" y="2039112"/>
            <a:ext cx="1188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D97706"/>
                </a:solidFill>
                <a:latin typeface="Liberation Serif"/>
              </a:rPr>
              <a:t>1.4 %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74336" y="2340864"/>
            <a:ext cx="3977639" cy="30175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7488" y="2386584"/>
            <a:ext cx="2651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Best epoch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112" y="2377440"/>
            <a:ext cx="1188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4A5568"/>
                </a:solidFill>
                <a:latin typeface="Liberation Serif"/>
              </a:rPr>
              <a:t>78 / 78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74336" y="2679192"/>
            <a:ext cx="3977639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47488" y="2724912"/>
            <a:ext cx="2651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Параметров модели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54112" y="2715768"/>
            <a:ext cx="1188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 i="0">
                <a:solidFill>
                  <a:srgbClr val="4A5568"/>
                </a:solidFill>
                <a:latin typeface="Liberation Serif"/>
              </a:rPr>
              <a:t>41.2 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19472" y="3090672"/>
            <a:ext cx="4114800" cy="173736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919472" y="3090672"/>
            <a:ext cx="411480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3118104"/>
            <a:ext cx="3931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Перенос на новые порты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0912" y="3401568"/>
            <a:ext cx="3931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1E3A5F"/>
                </a:solidFill>
                <a:latin typeface="Liberation Serif"/>
              </a:rPr>
              <a:t>Модель протестирована на трёх новых акваториях</a:t>
            </a:r>
          </a:p>
          <a:p>
            <a:pPr algn="l"/>
            <a:r>
              <a:rPr sz="850" b="0" i="0">
                <a:solidFill>
                  <a:srgbClr val="1E3A5F"/>
                </a:solidFill>
                <a:latin typeface="Liberation Serif"/>
              </a:rPr>
              <a:t>без дообучения (zero-shot transfer):</a:t>
            </a:r>
          </a:p>
          <a:p>
            <a:pPr algn="l"/>
            <a:r>
              <a:rPr sz="850" b="0" i="0">
                <a:solidFill>
                  <a:srgbClr val="1E3A5F"/>
                </a:solidFill>
                <a:latin typeface="Liberation Serif"/>
              </a:rPr>
              <a:t/>
            </a:r>
          </a:p>
          <a:p>
            <a:pPr algn="l"/>
            <a:r>
              <a:rPr sz="850" b="0" i="0">
                <a:solidFill>
                  <a:srgbClr val="1E3A5F"/>
                </a:solidFill>
                <a:latin typeface="Liberation Serif"/>
              </a:rPr>
              <a:t>  Варандей:  F1 = 0.84  (FP = 1.4 %)</a:t>
            </a:r>
          </a:p>
          <a:p>
            <a:pPr algn="l"/>
            <a:r>
              <a:rPr sz="850" b="0" i="0">
                <a:solidFill>
                  <a:srgbClr val="1E3A5F"/>
                </a:solidFill>
                <a:latin typeface="Liberation Serif"/>
              </a:rPr>
              <a:t>  Сабетта:   F1 = 0.76  (FP = 6.2 %)</a:t>
            </a:r>
          </a:p>
          <a:p>
            <a:pPr algn="l"/>
            <a:r>
              <a:rPr sz="850" b="0" i="0">
                <a:solidFill>
                  <a:srgbClr val="1E3A5F"/>
                </a:solidFill>
                <a:latin typeface="Liberation Serif"/>
              </a:rPr>
              <a:t>  Печенга:   тестовая сцена 2025 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НОВЫЕ ПОРТЫ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SAR-снимки Sentinel-1: Варандей и Печенга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9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58368"/>
            <a:ext cx="4389120" cy="4160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" y="658368"/>
            <a:ext cx="43891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85800"/>
            <a:ext cx="4206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Liberation Serif"/>
              </a:rPr>
              <a:t>Рис. 3.4. Варандей — май 2025 / апрель 2025</a:t>
            </a:r>
          </a:p>
        </p:txBody>
      </p:sp>
      <p:pic>
        <p:nvPicPr>
          <p:cNvPr id="12" name="Picture 11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" y="1035100"/>
            <a:ext cx="4315968" cy="345277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663440" y="658368"/>
            <a:ext cx="4389120" cy="4160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658368"/>
            <a:ext cx="438912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685800"/>
            <a:ext cx="4206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Liberation Serif"/>
              </a:rPr>
              <a:t>Рис. 3.3. Печенга — февраль 2026 / август 2025</a:t>
            </a:r>
          </a:p>
        </p:txBody>
      </p:sp>
      <p:pic>
        <p:nvPicPr>
          <p:cNvPr id="16" name="Picture 15" descr="fig_pechen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1035100"/>
            <a:ext cx="4315968" cy="3452774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91440" y="4828032"/>
            <a:ext cx="8961120" cy="25603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" y="4846320"/>
            <a:ext cx="88239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Тёмные аномалии в VV-канале детектируются адаптивным порогом T = μ − k·σ (k = 1.2–1.3). Стрелки указывают на предполагаемые зоны разливов и look-alike объекты (лёд, тень).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НОВЫЕ ПОРТЫ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SAR-снимки: Сабетта и мотивирующий кейс Норильск-2020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10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58368"/>
            <a:ext cx="4389120" cy="4160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" y="658368"/>
            <a:ext cx="438912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85800"/>
            <a:ext cx="4206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Liberation Serif"/>
              </a:rPr>
              <a:t>Рис. 3.5. Сабетта — октябрь 2022 / декабрь 2025</a:t>
            </a:r>
          </a:p>
        </p:txBody>
      </p:sp>
      <p:pic>
        <p:nvPicPr>
          <p:cNvPr id="12" name="Picture 11" descr="fig_sabet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" y="1035100"/>
            <a:ext cx="4315968" cy="345277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663440" y="658368"/>
            <a:ext cx="4389120" cy="4160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658368"/>
            <a:ext cx="4389120" cy="2743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685800"/>
            <a:ext cx="4206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Liberation Serif"/>
              </a:rPr>
              <a:t>Рис. 3.6. Норильск — 3 июня и 15 июня 2020 (после аварии НТЭК)</a:t>
            </a:r>
          </a:p>
        </p:txBody>
      </p:sp>
      <p:pic>
        <p:nvPicPr>
          <p:cNvPr id="16" name="Picture 15" descr="fig_noril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1732295"/>
            <a:ext cx="4315968" cy="2058384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663440" y="4572000"/>
            <a:ext cx="4389120" cy="246888"/>
          </a:xfrm>
          <a:prstGeom prst="rect">
            <a:avLst/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6592" y="4590288"/>
            <a:ext cx="42519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80" b="0" i="1">
                <a:solidFill>
                  <a:srgbClr val="C53030"/>
                </a:solidFill>
                <a:latin typeface="Liberation Serif"/>
              </a:rPr>
              <a:t>29 мая 2020: ~21 000 т дизтоплива ТЭЦ-3 НТЭК. SAR фиксирует динамику ледохода, не плёнку — основной мониторинг вёлся Sentinel-2.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РЕЗУЛЬТАТЫ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Обучение DeepLabV3+ · Деградация F1 при переносе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11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58368"/>
            <a:ext cx="5257800" cy="4160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" y="658368"/>
            <a:ext cx="525780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85800"/>
            <a:ext cx="5074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Liberation Serif"/>
              </a:rPr>
              <a:t>Кривые обучения (78 эпох) · Loss Dice-BCE · mIoU</a:t>
            </a:r>
          </a:p>
        </p:txBody>
      </p:sp>
      <p:pic>
        <p:nvPicPr>
          <p:cNvPr id="12" name="Picture 11" descr="fig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" y="1789272"/>
            <a:ext cx="5184648" cy="202672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532120" y="658368"/>
            <a:ext cx="3502152" cy="4160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32120" y="658368"/>
            <a:ext cx="3502152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23560" y="685800"/>
            <a:ext cx="33192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Liberation Serif"/>
              </a:rPr>
              <a:t>F1 по портам · Деградация при переносе</a:t>
            </a:r>
          </a:p>
        </p:txBody>
      </p:sp>
      <p:pic>
        <p:nvPicPr>
          <p:cNvPr id="16" name="Picture 15" descr="fig_ports_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8696" y="1274281"/>
            <a:ext cx="3429000" cy="195942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559552" y="3621024"/>
            <a:ext cx="1112520" cy="1143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86983" y="3675887"/>
            <a:ext cx="1075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mIoU = 0.82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86983" y="4114800"/>
            <a:ext cx="1075943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Liberation Serif"/>
              </a:rPr>
              <a:t>тест. выборка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6936" y="3621024"/>
            <a:ext cx="1112520" cy="114300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54367" y="3675887"/>
            <a:ext cx="1075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F1_нефть = 0.89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54367" y="4114800"/>
            <a:ext cx="1075943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Liberation Serif"/>
              </a:rPr>
              <a:t>Кольский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94320" y="3621024"/>
            <a:ext cx="1112520" cy="114300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1752" y="3675887"/>
            <a:ext cx="1075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Liberation Serif"/>
              </a:rPr>
              <a:t>Точность = 95.8%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1752" y="4114800"/>
            <a:ext cx="1075943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Liberation Serif"/>
              </a:rPr>
              <a:t>accuracy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ИТОГИ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Сравнение с методами-аналогами · Выводы · Перспективы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0"/>
            <a:ext cx="8686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658368"/>
            <a:ext cx="5120640" cy="3611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" y="658368"/>
            <a:ext cx="512064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85800"/>
            <a:ext cx="49377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Liberation Serif"/>
              </a:rPr>
              <a:t>Сравнение по F1-score с методами из литературы</a:t>
            </a:r>
          </a:p>
        </p:txBody>
      </p:sp>
      <p:pic>
        <p:nvPicPr>
          <p:cNvPr id="12" name="Picture 11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" y="1211580"/>
            <a:ext cx="5047488" cy="263347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376672" y="658368"/>
            <a:ext cx="3657600" cy="3611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76672" y="658368"/>
            <a:ext cx="365760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9824" y="694944"/>
            <a:ext cx="354787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Выводы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68112" y="978408"/>
            <a:ext cx="3429000" cy="2304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780" b="0">
                <a:solidFill>
                  <a:srgbClr val="1E3A5F"/>
                </a:solidFill>
                <a:latin typeface="Liberation Serif"/>
              </a:rPr>
              <a:t>✓ Трёхэтапный конвейер ESA SNAP → DeepLabV3+ → ERA5/AIS успешно детектирует нефтяные разливы в Арктике</a:t>
            </a:r>
          </a:p>
          <a:p>
            <a:pPr>
              <a:spcBef>
                <a:spcPts val="400"/>
              </a:spcBef>
            </a:pPr>
            <a:r>
              <a:rPr sz="780">
                <a:solidFill>
                  <a:srgbClr val="1E3A5F"/>
                </a:solidFill>
                <a:latin typeface="Liberation Serif"/>
              </a:rPr>
              <a:t>✓ Трёхклассовый датасет (1125 сцен) — первый для российских арктических акваторий</a:t>
            </a:r>
          </a:p>
          <a:p>
            <a:pPr>
              <a:spcBef>
                <a:spcPts val="400"/>
              </a:spcBef>
            </a:pPr>
            <a:r>
              <a:rPr sz="780">
                <a:solidFill>
                  <a:srgbClr val="1E3A5F"/>
                </a:solidFill>
                <a:latin typeface="Liberation Serif"/>
              </a:rPr>
              <a:t>✓ F1=0.89 превосходит все аналоги: Отцу (0.71), U-Net (0.80), GLCM+CNN (0.81)</a:t>
            </a:r>
          </a:p>
          <a:p>
            <a:pPr>
              <a:spcBef>
                <a:spcPts val="400"/>
              </a:spcBef>
            </a:pPr>
            <a:r>
              <a:rPr sz="780">
                <a:solidFill>
                  <a:srgbClr val="1E3A5F"/>
                </a:solidFill>
                <a:latin typeface="Liberation Serif"/>
              </a:rPr>
              <a:t>✓ Перенос модели: F1 0.89 → 0.84 → 0.76 — выявлена закономерность деградации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76672" y="4352544"/>
            <a:ext cx="3657600" cy="475488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76672" y="4352544"/>
            <a:ext cx="3657600" cy="219456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68112" y="4370832"/>
            <a:ext cx="349300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Liberation Serif"/>
              </a:rPr>
              <a:t>Перспективы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8112" y="4572000"/>
            <a:ext cx="3493008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0">
                <a:solidFill>
                  <a:srgbClr val="276749"/>
                </a:solidFill>
                <a:latin typeface="Liberation Serif"/>
              </a:rPr>
              <a:t>Dual-pol (VV+VH) · Дообучение на новых портах · Веб-платформа реального времени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" y="4352544"/>
            <a:ext cx="5120640" cy="475488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4389120"/>
            <a:ext cx="493776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4A5568"/>
                </a:solidFill>
                <a:latin typeface="Liberation Serif"/>
              </a:rPr>
              <a:t>Система обеспечивает автоматическое всепогодное обнаружение нефтяных разливов в арктических акваториях России со значимым превосходством над базовыми методами.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