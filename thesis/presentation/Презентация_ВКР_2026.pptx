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</p:sldIdLst>
  <p:sldSz cx="9144000" cy="51435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image" Target="../media/image3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Relationship Id="rId3" Type="http://schemas.openxmlformats.org/officeDocument/2006/relationships/image" Target="../media/image5.png"/><Relationship Id="rId4" Type="http://schemas.openxmlformats.org/officeDocument/2006/relationships/image" Target="../media/image6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.png"/><Relationship Id="rId3" Type="http://schemas.openxmlformats.org/officeDocument/2006/relationships/image" Target="../media/image8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9.pn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9144000" cy="1188720"/>
          </a:xfrm>
          <a:prstGeom prst="rect">
            <a:avLst/>
          </a:prstGeom>
          <a:solidFill>
            <a:srgbClr val="1E3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188720"/>
            <a:ext cx="9144000" cy="50292"/>
          </a:xfrm>
          <a:prstGeom prst="rect">
            <a:avLst/>
          </a:prstGeom>
          <a:solidFill>
            <a:srgbClr val="C530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320040" y="109728"/>
            <a:ext cx="8503920" cy="102412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650" b="1" i="0">
                <a:solidFill>
                  <a:srgbClr val="FFFFFF"/>
                </a:solidFill>
                <a:latin typeface="Liberation Serif"/>
              </a:rPr>
              <a:t>Разработка системы автоматического детектирования</a:t>
            </a:r>
          </a:p>
          <a:p>
            <a:pPr algn="l">
              <a:spcAft>
                <a:spcPts val="300"/>
              </a:spcAft>
            </a:pPr>
            <a:r>
              <a:rPr sz="1650" b="1" i="0">
                <a:solidFill>
                  <a:srgbClr val="FFFFFF"/>
                </a:solidFill>
                <a:latin typeface="Liberation Serif"/>
              </a:rPr>
              <a:t>нефтяных разливов в акваториях арктических портов</a:t>
            </a:r>
          </a:p>
          <a:p>
            <a:pPr algn="l">
              <a:spcAft>
                <a:spcPts val="300"/>
              </a:spcAft>
            </a:pPr>
            <a:r>
              <a:rPr sz="1650" b="1" i="0">
                <a:solidFill>
                  <a:srgbClr val="FFFFFF"/>
                </a:solidFill>
                <a:latin typeface="Liberation Serif"/>
              </a:rPr>
              <a:t>по данным спутниковых радиолокационных систем</a:t>
            </a:r>
          </a:p>
        </p:txBody>
      </p:sp>
      <p:sp>
        <p:nvSpPr>
          <p:cNvPr id="6" name="Rectangle 5"/>
          <p:cNvSpPr/>
          <p:nvPr/>
        </p:nvSpPr>
        <p:spPr>
          <a:xfrm>
            <a:off x="274320" y="1481328"/>
            <a:ext cx="4206240" cy="2331720"/>
          </a:xfrm>
          <a:prstGeom prst="rect">
            <a:avLst/>
          </a:prstGeom>
          <a:solidFill>
            <a:srgbClr val="F8FA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274320" y="1481328"/>
            <a:ext cx="4206240" cy="274320"/>
          </a:xfrm>
          <a:prstGeom prst="rect">
            <a:avLst/>
          </a:prstGeom>
          <a:solidFill>
            <a:srgbClr val="2C528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384048" y="1517904"/>
            <a:ext cx="3977639" cy="23774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650" b="1" i="0">
                <a:solidFill>
                  <a:srgbClr val="FFFFFF"/>
                </a:solidFill>
                <a:latin typeface="Liberation Serif"/>
              </a:rPr>
              <a:t>САНКТ-ПЕТЕРБУРГСКИЙ ГОСУДАРСТВЕННЫЙ УНИВЕРСИТЕТ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84048" y="1865376"/>
            <a:ext cx="3977639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950" b="0" i="0">
                <a:solidFill>
                  <a:srgbClr val="2C5282"/>
                </a:solidFill>
                <a:latin typeface="Liberation Serif"/>
              </a:rPr>
              <a:t>Кафедра информатики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84048" y="2176272"/>
            <a:ext cx="3977639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950" b="0" i="0">
                <a:solidFill>
                  <a:srgbClr val="4A5568"/>
                </a:solidFill>
                <a:latin typeface="Liberation Serif"/>
              </a:rPr>
              <a:t>Направление: Прикладная информатика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84048" y="2487168"/>
            <a:ext cx="3977639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950" b="0" i="0">
                <a:solidFill>
                  <a:srgbClr val="4A5568"/>
                </a:solidFill>
                <a:latin typeface="Liberation Serif"/>
              </a:rPr>
              <a:t>Профиль: Искусственный интеллект и наука о данных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84048" y="2926080"/>
            <a:ext cx="3977639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050" b="1" i="0">
                <a:solidFill>
                  <a:srgbClr val="1E3A5F"/>
                </a:solidFill>
                <a:latin typeface="Liberation Serif"/>
              </a:rPr>
              <a:t>Магистерская диссертация · 2026</a:t>
            </a:r>
          </a:p>
        </p:txBody>
      </p:sp>
      <p:sp>
        <p:nvSpPr>
          <p:cNvPr id="13" name="Rectangle 12"/>
          <p:cNvSpPr/>
          <p:nvPr/>
        </p:nvSpPr>
        <p:spPr>
          <a:xfrm>
            <a:off x="4663440" y="1481328"/>
            <a:ext cx="4206240" cy="2331720"/>
          </a:xfrm>
          <a:prstGeom prst="rect">
            <a:avLst/>
          </a:prstGeom>
          <a:solidFill>
            <a:srgbClr val="EBF4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4663440" y="1481328"/>
            <a:ext cx="4206240" cy="274320"/>
          </a:xfrm>
          <a:prstGeom prst="rect">
            <a:avLst/>
          </a:prstGeom>
          <a:solidFill>
            <a:srgbClr val="1E3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4773168" y="1517904"/>
            <a:ext cx="3977639" cy="23774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650" b="1" i="0">
                <a:solidFill>
                  <a:srgbClr val="FFFFFF"/>
                </a:solidFill>
                <a:latin typeface="Liberation Serif"/>
              </a:rPr>
              <a:t>СВЕДЕНИЯ ОБ АВТОРЕ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773168" y="1865376"/>
            <a:ext cx="3977639" cy="23774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850" b="0" i="0">
                <a:solidFill>
                  <a:srgbClr val="4A5568"/>
                </a:solidFill>
                <a:latin typeface="Liberation Serif"/>
              </a:rPr>
              <a:t>Подготовил: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773168" y="2103120"/>
            <a:ext cx="3977639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50" b="1" i="0">
                <a:solidFill>
                  <a:srgbClr val="1E3A5F"/>
                </a:solidFill>
                <a:latin typeface="Liberation Serif"/>
              </a:rPr>
              <a:t>Байханов Владислав Камолович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773168" y="2395728"/>
            <a:ext cx="3977639" cy="23774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900" b="0" i="0">
                <a:solidFill>
                  <a:srgbClr val="4A5568"/>
                </a:solidFill>
                <a:latin typeface="Liberation Serif"/>
              </a:rPr>
              <a:t>студент группы 24.М81-мм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773168" y="2743200"/>
            <a:ext cx="3977639" cy="23774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850" b="0" i="0">
                <a:solidFill>
                  <a:srgbClr val="4A5568"/>
                </a:solidFill>
                <a:latin typeface="Liberation Serif"/>
              </a:rPr>
              <a:t>Научный руководитель: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773168" y="2962656"/>
            <a:ext cx="3977639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000" b="0" i="0">
                <a:solidFill>
                  <a:srgbClr val="1E3A5F"/>
                </a:solidFill>
                <a:latin typeface="Liberation Serif"/>
              </a:rPr>
              <a:t>к.т.н., доцент Митько А. В.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229600" y="4864608"/>
            <a:ext cx="868680" cy="237744"/>
          </a:xfrm>
          <a:prstGeom prst="rect">
            <a:avLst/>
          </a:prstGeom>
          <a:noFill/>
        </p:spPr>
        <p:txBody>
          <a:bodyPr wrap="none" anchor="t">
            <a:spAutoFit/>
          </a:bodyPr>
          <a:lstStyle/>
          <a:p>
            <a:pPr algn="r"/>
            <a:r>
              <a:rPr sz="700" b="0" i="0">
                <a:solidFill>
                  <a:srgbClr val="4A5568"/>
                </a:solidFill>
                <a:latin typeface="Liberation Serif"/>
              </a:rPr>
              <a:t>1 / 11</a:t>
            </a:r>
          </a:p>
        </p:txBody>
      </p:sp>
    </p:spTree>
  </p:cSld>
  <p:clrMapOvr>
    <a:masterClrMapping/>
  </p:clrMapOvr>
  <p:transition spd="med">
    <p:fade/>
  </p:transition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9144000" cy="566928"/>
          </a:xfrm>
          <a:prstGeom prst="rect">
            <a:avLst/>
          </a:prstGeom>
          <a:solidFill>
            <a:srgbClr val="1E3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566928"/>
            <a:ext cx="9144000" cy="32004"/>
          </a:xfrm>
          <a:prstGeom prst="rect">
            <a:avLst/>
          </a:prstGeom>
          <a:solidFill>
            <a:srgbClr val="C530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09728" y="82296"/>
            <a:ext cx="1417320" cy="420624"/>
          </a:xfrm>
          <a:prstGeom prst="rect">
            <a:avLst/>
          </a:prstGeom>
          <a:noFill/>
        </p:spPr>
        <p:txBody>
          <a:bodyPr wrap="none" anchor="t">
            <a:spAutoFit/>
          </a:bodyPr>
          <a:lstStyle/>
          <a:p>
            <a:pPr algn="l"/>
            <a:r>
              <a:rPr sz="700" b="1" i="0">
                <a:solidFill>
                  <a:srgbClr val="FFFFFF"/>
                </a:solidFill>
                <a:latin typeface="Liberation Serif"/>
              </a:rPr>
              <a:t>ЦЕЛЬ И ЗАДАЧИ</a:t>
            </a:r>
          </a:p>
        </p:txBody>
      </p:sp>
      <p:sp>
        <p:nvSpPr>
          <p:cNvPr id="6" name="Rectangle 5"/>
          <p:cNvSpPr/>
          <p:nvPr/>
        </p:nvSpPr>
        <p:spPr>
          <a:xfrm>
            <a:off x="1572768" y="100584"/>
            <a:ext cx="18288" cy="36576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618488" y="82296"/>
            <a:ext cx="7406640" cy="420624"/>
          </a:xfrm>
          <a:prstGeom prst="rect">
            <a:avLst/>
          </a:prstGeom>
          <a:noFill/>
        </p:spPr>
        <p:txBody>
          <a:bodyPr wrap="none" anchor="t">
            <a:spAutoFit/>
          </a:bodyPr>
          <a:lstStyle/>
          <a:p>
            <a:pPr algn="l"/>
            <a:r>
              <a:rPr sz="1350" b="1" i="0">
                <a:solidFill>
                  <a:srgbClr val="FFFFFF"/>
                </a:solidFill>
                <a:latin typeface="Liberation Serif"/>
              </a:rPr>
              <a:t>Цель и задачи исследования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229600" y="4864608"/>
            <a:ext cx="868680" cy="237744"/>
          </a:xfrm>
          <a:prstGeom prst="rect">
            <a:avLst/>
          </a:prstGeom>
          <a:noFill/>
        </p:spPr>
        <p:txBody>
          <a:bodyPr wrap="none" anchor="t">
            <a:spAutoFit/>
          </a:bodyPr>
          <a:lstStyle/>
          <a:p>
            <a:pPr algn="r"/>
            <a:r>
              <a:rPr sz="700" b="0" i="0">
                <a:solidFill>
                  <a:srgbClr val="4A5568"/>
                </a:solidFill>
                <a:latin typeface="Liberation Serif"/>
              </a:rPr>
              <a:t>2 / 11</a:t>
            </a:r>
          </a:p>
        </p:txBody>
      </p:sp>
      <p:sp>
        <p:nvSpPr>
          <p:cNvPr id="9" name="Rectangle 8"/>
          <p:cNvSpPr/>
          <p:nvPr/>
        </p:nvSpPr>
        <p:spPr>
          <a:xfrm>
            <a:off x="365760" y="868680"/>
            <a:ext cx="8412480" cy="868680"/>
          </a:xfrm>
          <a:prstGeom prst="rect">
            <a:avLst/>
          </a:prstGeom>
          <a:solidFill>
            <a:srgbClr val="EBF4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365760" y="868680"/>
            <a:ext cx="109728" cy="868680"/>
          </a:xfrm>
          <a:prstGeom prst="rect">
            <a:avLst/>
          </a:prstGeom>
          <a:solidFill>
            <a:srgbClr val="1E3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94360" y="932688"/>
            <a:ext cx="8229600" cy="23774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900" b="1" i="0">
                <a:solidFill>
                  <a:srgbClr val="1E3A5F"/>
                </a:solidFill>
                <a:latin typeface="Liberation Serif"/>
              </a:rPr>
              <a:t>ЦЕЛЬ РАБОТЫ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94360" y="1170432"/>
            <a:ext cx="809244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050" b="0" i="0">
                <a:solidFill>
                  <a:srgbClr val="4A5568"/>
                </a:solidFill>
                <a:latin typeface="Liberation Serif"/>
              </a:rPr>
              <a:t>Создать и проверить систему, которая по снимкам Sentinel-1 автоматически находит нефтяные разливы в арктических портах и устойчива к ложным целям (молодой лёд, штиль, биоплёнки).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65760" y="1938528"/>
            <a:ext cx="841248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900" b="1" i="0">
                <a:solidFill>
                  <a:srgbClr val="2C5282"/>
                </a:solidFill>
                <a:latin typeface="Liberation Serif"/>
              </a:rPr>
              <a:t>ЗАДАЧИ</a:t>
            </a:r>
          </a:p>
        </p:txBody>
      </p:sp>
      <p:sp>
        <p:nvSpPr>
          <p:cNvPr id="14" name="Rectangle 13"/>
          <p:cNvSpPr/>
          <p:nvPr/>
        </p:nvSpPr>
        <p:spPr>
          <a:xfrm>
            <a:off x="365760" y="2240280"/>
            <a:ext cx="8412480" cy="502920"/>
          </a:xfrm>
          <a:prstGeom prst="rect">
            <a:avLst/>
          </a:prstGeom>
          <a:solidFill>
            <a:srgbClr val="F8FA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365760" y="2240280"/>
            <a:ext cx="502920" cy="502920"/>
          </a:xfrm>
          <a:prstGeom prst="rect">
            <a:avLst/>
          </a:prstGeom>
          <a:solidFill>
            <a:srgbClr val="1E3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365760" y="2350008"/>
            <a:ext cx="502920" cy="29260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600" b="1" i="0">
                <a:solidFill>
                  <a:srgbClr val="FFFFFF"/>
                </a:solidFill>
                <a:latin typeface="Liberation Serif"/>
              </a:rPr>
              <a:t>1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005840" y="2359152"/>
            <a:ext cx="7680960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050" b="0" i="0">
                <a:solidFill>
                  <a:srgbClr val="4A5568"/>
                </a:solidFill>
                <a:latin typeface="Liberation Serif"/>
              </a:rPr>
              <a:t>Изучить физику радиолокации нефти и систематизировать ложные цели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65760" y="2779776"/>
            <a:ext cx="8412480" cy="502920"/>
          </a:xfrm>
          <a:prstGeom prst="rect">
            <a:avLst/>
          </a:prstGeom>
          <a:solidFill>
            <a:srgbClr val="F0F4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365760" y="2779776"/>
            <a:ext cx="502920" cy="502920"/>
          </a:xfrm>
          <a:prstGeom prst="rect">
            <a:avLst/>
          </a:prstGeom>
          <a:solidFill>
            <a:srgbClr val="2C528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365760" y="2889504"/>
            <a:ext cx="502920" cy="29260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600" b="1" i="0">
                <a:solidFill>
                  <a:srgbClr val="FFFFFF"/>
                </a:solidFill>
                <a:latin typeface="Liberation Serif"/>
              </a:rPr>
              <a:t>2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005840" y="2898648"/>
            <a:ext cx="7680960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050" b="0" i="0">
                <a:solidFill>
                  <a:srgbClr val="4A5568"/>
                </a:solidFill>
                <a:latin typeface="Liberation Serif"/>
              </a:rPr>
              <a:t>Реализовать конвейер предобработки снимков Sentinel-1 в ESA SNAP и QGIS</a:t>
            </a:r>
          </a:p>
        </p:txBody>
      </p:sp>
      <p:sp>
        <p:nvSpPr>
          <p:cNvPr id="22" name="Rectangle 21"/>
          <p:cNvSpPr/>
          <p:nvPr/>
        </p:nvSpPr>
        <p:spPr>
          <a:xfrm>
            <a:off x="365760" y="3319272"/>
            <a:ext cx="8412480" cy="502920"/>
          </a:xfrm>
          <a:prstGeom prst="rect">
            <a:avLst/>
          </a:prstGeom>
          <a:solidFill>
            <a:srgbClr val="F8FA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365760" y="3319272"/>
            <a:ext cx="502920" cy="502920"/>
          </a:xfrm>
          <a:prstGeom prst="rect">
            <a:avLst/>
          </a:prstGeom>
          <a:solidFill>
            <a:srgbClr val="1E3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365760" y="3429000"/>
            <a:ext cx="502920" cy="29260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600" b="1" i="0">
                <a:solidFill>
                  <a:srgbClr val="FFFFFF"/>
                </a:solidFill>
                <a:latin typeface="Liberation Serif"/>
              </a:rPr>
              <a:t>3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005840" y="3438144"/>
            <a:ext cx="7680960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050" b="0" i="0">
                <a:solidFill>
                  <a:srgbClr val="4A5568"/>
                </a:solidFill>
                <a:latin typeface="Liberation Serif"/>
              </a:rPr>
              <a:t>Собрать трёхклассовый датасет: вода / нефть / лёд + суша</a:t>
            </a:r>
          </a:p>
        </p:txBody>
      </p:sp>
      <p:sp>
        <p:nvSpPr>
          <p:cNvPr id="26" name="Rectangle 25"/>
          <p:cNvSpPr/>
          <p:nvPr/>
        </p:nvSpPr>
        <p:spPr>
          <a:xfrm>
            <a:off x="365760" y="3858768"/>
            <a:ext cx="8412480" cy="502920"/>
          </a:xfrm>
          <a:prstGeom prst="rect">
            <a:avLst/>
          </a:prstGeom>
          <a:solidFill>
            <a:srgbClr val="F0F4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ectangle 26"/>
          <p:cNvSpPr/>
          <p:nvPr/>
        </p:nvSpPr>
        <p:spPr>
          <a:xfrm>
            <a:off x="365760" y="3858768"/>
            <a:ext cx="502920" cy="502920"/>
          </a:xfrm>
          <a:prstGeom prst="rect">
            <a:avLst/>
          </a:prstGeom>
          <a:solidFill>
            <a:srgbClr val="2C528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365760" y="3968496"/>
            <a:ext cx="502920" cy="29260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600" b="1" i="0">
                <a:solidFill>
                  <a:srgbClr val="FFFFFF"/>
                </a:solidFill>
                <a:latin typeface="Liberation Serif"/>
              </a:rPr>
              <a:t>4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005840" y="3977640"/>
            <a:ext cx="7680960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050" b="0" i="0">
                <a:solidFill>
                  <a:srgbClr val="4A5568"/>
                </a:solidFill>
                <a:latin typeface="Liberation Serif"/>
              </a:rPr>
              <a:t>Адаптировать и обучить нейросеть DeepLabV3+ под радарные данные</a:t>
            </a:r>
          </a:p>
        </p:txBody>
      </p:sp>
      <p:sp>
        <p:nvSpPr>
          <p:cNvPr id="30" name="Rectangle 29"/>
          <p:cNvSpPr/>
          <p:nvPr/>
        </p:nvSpPr>
        <p:spPr>
          <a:xfrm>
            <a:off x="365760" y="4398264"/>
            <a:ext cx="8412480" cy="502920"/>
          </a:xfrm>
          <a:prstGeom prst="rect">
            <a:avLst/>
          </a:prstGeom>
          <a:solidFill>
            <a:srgbClr val="F8FA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Rectangle 30"/>
          <p:cNvSpPr/>
          <p:nvPr/>
        </p:nvSpPr>
        <p:spPr>
          <a:xfrm>
            <a:off x="365760" y="4398264"/>
            <a:ext cx="502920" cy="502920"/>
          </a:xfrm>
          <a:prstGeom prst="rect">
            <a:avLst/>
          </a:prstGeom>
          <a:solidFill>
            <a:srgbClr val="1E3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365760" y="4507992"/>
            <a:ext cx="502920" cy="29260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600" b="1" i="0">
                <a:solidFill>
                  <a:srgbClr val="FFFFFF"/>
                </a:solidFill>
                <a:latin typeface="Liberation Serif"/>
              </a:rPr>
              <a:t>5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1005840" y="4517136"/>
            <a:ext cx="7680960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050" b="0" i="0">
                <a:solidFill>
                  <a:srgbClr val="4A5568"/>
                </a:solidFill>
                <a:latin typeface="Liberation Serif"/>
              </a:rPr>
              <a:t>Проверить перенос модели на новые порты и сравнить с аналогами</a:t>
            </a:r>
          </a:p>
        </p:txBody>
      </p:sp>
    </p:spTree>
  </p:cSld>
  <p:clrMapOvr>
    <a:masterClrMapping/>
  </p:clrMapOvr>
  <p:transition spd="med">
    <p:fade/>
  </p:transition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9144000" cy="566928"/>
          </a:xfrm>
          <a:prstGeom prst="rect">
            <a:avLst/>
          </a:prstGeom>
          <a:solidFill>
            <a:srgbClr val="1E3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566928"/>
            <a:ext cx="9144000" cy="32004"/>
          </a:xfrm>
          <a:prstGeom prst="rect">
            <a:avLst/>
          </a:prstGeom>
          <a:solidFill>
            <a:srgbClr val="C530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09728" y="82296"/>
            <a:ext cx="1417320" cy="420624"/>
          </a:xfrm>
          <a:prstGeom prst="rect">
            <a:avLst/>
          </a:prstGeom>
          <a:noFill/>
        </p:spPr>
        <p:txBody>
          <a:bodyPr wrap="none" anchor="t">
            <a:spAutoFit/>
          </a:bodyPr>
          <a:lstStyle/>
          <a:p>
            <a:pPr algn="l"/>
            <a:r>
              <a:rPr sz="700" b="1" i="0">
                <a:solidFill>
                  <a:srgbClr val="FFFFFF"/>
                </a:solidFill>
                <a:latin typeface="Liberation Serif"/>
              </a:rPr>
              <a:t>АКТУАЛЬНОСТЬ</a:t>
            </a:r>
          </a:p>
        </p:txBody>
      </p:sp>
      <p:sp>
        <p:nvSpPr>
          <p:cNvPr id="6" name="Rectangle 5"/>
          <p:cNvSpPr/>
          <p:nvPr/>
        </p:nvSpPr>
        <p:spPr>
          <a:xfrm>
            <a:off x="1572768" y="100584"/>
            <a:ext cx="18288" cy="36576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618488" y="82296"/>
            <a:ext cx="7406640" cy="420624"/>
          </a:xfrm>
          <a:prstGeom prst="rect">
            <a:avLst/>
          </a:prstGeom>
          <a:noFill/>
        </p:spPr>
        <p:txBody>
          <a:bodyPr wrap="none" anchor="t">
            <a:spAutoFit/>
          </a:bodyPr>
          <a:lstStyle/>
          <a:p>
            <a:pPr algn="l"/>
            <a:r>
              <a:rPr sz="1350" b="1" i="0">
                <a:solidFill>
                  <a:srgbClr val="FFFFFF"/>
                </a:solidFill>
                <a:latin typeface="Liberation Serif"/>
              </a:rPr>
              <a:t>Нефтяные разливы в Арктике — масштаб проблемы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229600" y="4864608"/>
            <a:ext cx="868680" cy="237744"/>
          </a:xfrm>
          <a:prstGeom prst="rect">
            <a:avLst/>
          </a:prstGeom>
          <a:noFill/>
        </p:spPr>
        <p:txBody>
          <a:bodyPr wrap="none" anchor="t">
            <a:spAutoFit/>
          </a:bodyPr>
          <a:lstStyle/>
          <a:p>
            <a:pPr algn="r"/>
            <a:r>
              <a:rPr sz="700" b="0" i="0">
                <a:solidFill>
                  <a:srgbClr val="4A5568"/>
                </a:solidFill>
                <a:latin typeface="Liberation Serif"/>
              </a:rPr>
              <a:t>3 / 11</a:t>
            </a:r>
          </a:p>
        </p:txBody>
      </p:sp>
      <p:sp>
        <p:nvSpPr>
          <p:cNvPr id="9" name="Rectangle 8"/>
          <p:cNvSpPr/>
          <p:nvPr/>
        </p:nvSpPr>
        <p:spPr>
          <a:xfrm>
            <a:off x="365760" y="868680"/>
            <a:ext cx="2807208" cy="1417320"/>
          </a:xfrm>
          <a:prstGeom prst="rect">
            <a:avLst/>
          </a:prstGeom>
          <a:solidFill>
            <a:srgbClr val="F8FA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365760" y="868680"/>
            <a:ext cx="2807208" cy="54864"/>
          </a:xfrm>
          <a:prstGeom prst="rect">
            <a:avLst/>
          </a:prstGeom>
          <a:solidFill>
            <a:srgbClr val="1E3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365760" y="1024128"/>
            <a:ext cx="2807208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3000" b="1" i="0">
                <a:solidFill>
                  <a:srgbClr val="1E3A5F"/>
                </a:solidFill>
                <a:latin typeface="Liberation Serif"/>
              </a:rPr>
              <a:t>700+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57200" y="1627632"/>
            <a:ext cx="2624328" cy="5943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950" b="0" i="0">
                <a:solidFill>
                  <a:srgbClr val="4A5568"/>
                </a:solidFill>
                <a:latin typeface="Liberation Serif"/>
              </a:rPr>
              <a:t>тыс. тонн нефти в год</a:t>
            </a:r>
          </a:p>
          <a:p>
            <a:pPr algn="ctr"/>
            <a:r>
              <a:rPr sz="950" b="0" i="0">
                <a:solidFill>
                  <a:srgbClr val="4A5568"/>
                </a:solidFill>
                <a:latin typeface="Liberation Serif"/>
              </a:rPr>
              <a:t>попадает в Мировой океан</a:t>
            </a:r>
          </a:p>
        </p:txBody>
      </p:sp>
      <p:sp>
        <p:nvSpPr>
          <p:cNvPr id="13" name="Rectangle 12"/>
          <p:cNvSpPr/>
          <p:nvPr/>
        </p:nvSpPr>
        <p:spPr>
          <a:xfrm>
            <a:off x="3291839" y="868680"/>
            <a:ext cx="2807208" cy="1417320"/>
          </a:xfrm>
          <a:prstGeom prst="rect">
            <a:avLst/>
          </a:prstGeom>
          <a:solidFill>
            <a:srgbClr val="F8FA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3291839" y="868680"/>
            <a:ext cx="2807208" cy="54864"/>
          </a:xfrm>
          <a:prstGeom prst="rect">
            <a:avLst/>
          </a:prstGeom>
          <a:solidFill>
            <a:srgbClr val="2C528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3291839" y="1024128"/>
            <a:ext cx="2807208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3000" b="1" i="0">
                <a:solidFill>
                  <a:srgbClr val="2C5282"/>
                </a:solidFill>
                <a:latin typeface="Liberation Serif"/>
              </a:rPr>
              <a:t>5–10×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383279" y="1627632"/>
            <a:ext cx="2624328" cy="5943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950" b="0" i="0">
                <a:solidFill>
                  <a:srgbClr val="4A5568"/>
                </a:solidFill>
                <a:latin typeface="Liberation Serif"/>
              </a:rPr>
              <a:t>медленнее разлагается</a:t>
            </a:r>
          </a:p>
          <a:p>
            <a:pPr algn="ctr"/>
            <a:r>
              <a:rPr sz="950" b="0" i="0">
                <a:solidFill>
                  <a:srgbClr val="4A5568"/>
                </a:solidFill>
                <a:latin typeface="Liberation Serif"/>
              </a:rPr>
              <a:t>нефть в воде &lt; 5 °C</a:t>
            </a:r>
          </a:p>
        </p:txBody>
      </p:sp>
      <p:sp>
        <p:nvSpPr>
          <p:cNvPr id="17" name="Rectangle 16"/>
          <p:cNvSpPr/>
          <p:nvPr/>
        </p:nvSpPr>
        <p:spPr>
          <a:xfrm>
            <a:off x="6217920" y="868680"/>
            <a:ext cx="2807208" cy="1417320"/>
          </a:xfrm>
          <a:prstGeom prst="rect">
            <a:avLst/>
          </a:prstGeom>
          <a:solidFill>
            <a:srgbClr val="F8FA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6217920" y="868680"/>
            <a:ext cx="2807208" cy="54864"/>
          </a:xfrm>
          <a:prstGeom prst="rect">
            <a:avLst/>
          </a:prstGeom>
          <a:solidFill>
            <a:srgbClr val="92400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217920" y="1024128"/>
            <a:ext cx="2807208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3000" b="1" i="0">
                <a:solidFill>
                  <a:srgbClr val="92400E"/>
                </a:solidFill>
                <a:latin typeface="Liberation Serif"/>
              </a:rPr>
              <a:t>&gt; 80 %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309359" y="1627632"/>
            <a:ext cx="2624328" cy="5943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950" b="0" i="0">
                <a:solidFill>
                  <a:srgbClr val="4A5568"/>
                </a:solidFill>
                <a:latin typeface="Liberation Serif"/>
              </a:rPr>
              <a:t>времени — облака и ночь:</a:t>
            </a:r>
          </a:p>
          <a:p>
            <a:pPr algn="ctr"/>
            <a:r>
              <a:rPr sz="950" b="0" i="0">
                <a:solidFill>
                  <a:srgbClr val="4A5568"/>
                </a:solidFill>
                <a:latin typeface="Liberation Serif"/>
              </a:rPr>
              <a:t>оптика в Арктике не видит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365760" y="2487168"/>
            <a:ext cx="841248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900" b="1" i="0">
                <a:solidFill>
                  <a:srgbClr val="2C5282"/>
                </a:solidFill>
                <a:latin typeface="Liberation Serif"/>
              </a:rPr>
              <a:t>ДВА ПОКАЗАТЕЛЬНЫХ СЛУЧАЯ В РОССИЙСКОЙ АРКТИКЕ</a:t>
            </a:r>
          </a:p>
        </p:txBody>
      </p:sp>
      <p:sp>
        <p:nvSpPr>
          <p:cNvPr id="22" name="Rectangle 21"/>
          <p:cNvSpPr/>
          <p:nvPr/>
        </p:nvSpPr>
        <p:spPr>
          <a:xfrm>
            <a:off x="365760" y="2798064"/>
            <a:ext cx="4160520" cy="1874519"/>
          </a:xfrm>
          <a:prstGeom prst="rect">
            <a:avLst/>
          </a:prstGeom>
          <a:solidFill>
            <a:srgbClr val="FFFB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365760" y="2798064"/>
            <a:ext cx="4160520" cy="310896"/>
          </a:xfrm>
          <a:prstGeom prst="rect">
            <a:avLst/>
          </a:prstGeom>
          <a:solidFill>
            <a:srgbClr val="92400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475488" y="2834640"/>
            <a:ext cx="393192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950" b="1" i="0">
                <a:solidFill>
                  <a:srgbClr val="FFFFFF"/>
                </a:solidFill>
                <a:latin typeface="Liberation Serif"/>
              </a:rPr>
              <a:t>Кольский залив — август 2024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475488" y="3200400"/>
            <a:ext cx="3931920" cy="1417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950" b="0" i="0">
                <a:solidFill>
                  <a:srgbClr val="4A5568"/>
                </a:solidFill>
                <a:latin typeface="Liberation Serif"/>
              </a:rPr>
              <a:t>Утечка при бункеровке судна в Мурманске.</a:t>
            </a:r>
          </a:p>
          <a:p>
            <a:pPr algn="l"/>
            <a:r>
              <a:rPr sz="950" b="0" i="0">
                <a:solidFill>
                  <a:srgbClr val="4A5568"/>
                </a:solidFill>
                <a:latin typeface="Liberation Serif"/>
              </a:rPr>
              <a:t>Тёмное пятно зафиксировано Sentinel-1:</a:t>
            </a:r>
          </a:p>
          <a:p>
            <a:pPr algn="l"/>
            <a:r>
              <a:rPr sz="950" b="0" i="0">
                <a:solidFill>
                  <a:srgbClr val="4A5568"/>
                </a:solidFill>
                <a:latin typeface="Liberation Serif"/>
              </a:rPr>
              <a:t>около 14 % акватории залива.</a:t>
            </a:r>
          </a:p>
          <a:p>
            <a:pPr algn="l"/>
            <a:r>
              <a:rPr sz="950" b="0" i="0">
                <a:solidFill>
                  <a:srgbClr val="4A5568"/>
                </a:solidFill>
                <a:latin typeface="Liberation Serif"/>
              </a:rPr>
              <a:t>Подтверждён нашей системой (ERA5 + AIS).</a:t>
            </a:r>
          </a:p>
        </p:txBody>
      </p:sp>
      <p:sp>
        <p:nvSpPr>
          <p:cNvPr id="26" name="Rectangle 25"/>
          <p:cNvSpPr/>
          <p:nvPr/>
        </p:nvSpPr>
        <p:spPr>
          <a:xfrm>
            <a:off x="4617720" y="2798064"/>
            <a:ext cx="4160520" cy="1874519"/>
          </a:xfrm>
          <a:prstGeom prst="rect">
            <a:avLst/>
          </a:prstGeom>
          <a:solidFill>
            <a:srgbClr val="FFF5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ectangle 26"/>
          <p:cNvSpPr/>
          <p:nvPr/>
        </p:nvSpPr>
        <p:spPr>
          <a:xfrm>
            <a:off x="4617720" y="2798064"/>
            <a:ext cx="4160520" cy="310896"/>
          </a:xfrm>
          <a:prstGeom prst="rect">
            <a:avLst/>
          </a:prstGeom>
          <a:solidFill>
            <a:srgbClr val="C530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4727448" y="2834640"/>
            <a:ext cx="393192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950" b="1" i="0">
                <a:solidFill>
                  <a:srgbClr val="FFFFFF"/>
                </a:solidFill>
                <a:latin typeface="Liberation Serif"/>
              </a:rPr>
              <a:t>Норильск — май 2020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4727448" y="3200400"/>
            <a:ext cx="3931920" cy="1417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950" b="0" i="0">
                <a:solidFill>
                  <a:srgbClr val="4A5568"/>
                </a:solidFill>
                <a:latin typeface="Liberation Serif"/>
              </a:rPr>
              <a:t>Авария ТЭЦ-3 НТЭК: ≈ 21 000 тонн</a:t>
            </a:r>
          </a:p>
          <a:p>
            <a:pPr algn="l"/>
            <a:r>
              <a:rPr sz="950" b="0" i="0">
                <a:solidFill>
                  <a:srgbClr val="4A5568"/>
                </a:solidFill>
                <a:latin typeface="Liberation Serif"/>
              </a:rPr>
              <a:t>дизтоплива в реки и почву.</a:t>
            </a:r>
          </a:p>
          <a:p>
            <a:pPr algn="l"/>
            <a:r>
              <a:rPr sz="950" b="0" i="0">
                <a:solidFill>
                  <a:srgbClr val="4A5568"/>
                </a:solidFill>
                <a:latin typeface="Liberation Serif"/>
              </a:rPr>
              <a:t>Крупнейший разлив Арктики.</a:t>
            </a:r>
          </a:p>
          <a:p>
            <a:pPr algn="l"/>
            <a:r>
              <a:rPr sz="950" b="0" i="0">
                <a:solidFill>
                  <a:srgbClr val="4A5568"/>
                </a:solidFill>
                <a:latin typeface="Liberation Serif"/>
              </a:rPr>
              <a:t>Штраф — 146 млрд рублей.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109728" y="4873752"/>
            <a:ext cx="7863840" cy="219456"/>
          </a:xfrm>
          <a:prstGeom prst="rect">
            <a:avLst/>
          </a:prstGeom>
          <a:noFill/>
        </p:spPr>
        <p:txBody>
          <a:bodyPr wrap="none" anchor="t">
            <a:spAutoFit/>
          </a:bodyPr>
          <a:lstStyle/>
          <a:p>
            <a:pPr algn="l"/>
            <a:r>
              <a:rPr sz="700" b="0" i="1">
                <a:solidFill>
                  <a:srgbClr val="4A5568"/>
                </a:solidFill>
                <a:latin typeface="Liberation Serif"/>
              </a:rPr>
              <a:t>Источник: ITOPF (2023); Росприроднадзор; данные Sentinel-1, ESA Copernicus</a:t>
            </a:r>
          </a:p>
        </p:txBody>
      </p:sp>
    </p:spTree>
  </p:cSld>
  <p:clrMapOvr>
    <a:masterClrMapping/>
  </p:clrMapOvr>
  <p:transition spd="med">
    <p:fade/>
  </p:transition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9144000" cy="566928"/>
          </a:xfrm>
          <a:prstGeom prst="rect">
            <a:avLst/>
          </a:prstGeom>
          <a:solidFill>
            <a:srgbClr val="1E3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566928"/>
            <a:ext cx="9144000" cy="32004"/>
          </a:xfrm>
          <a:prstGeom prst="rect">
            <a:avLst/>
          </a:prstGeom>
          <a:solidFill>
            <a:srgbClr val="C530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09728" y="82296"/>
            <a:ext cx="1417320" cy="420624"/>
          </a:xfrm>
          <a:prstGeom prst="rect">
            <a:avLst/>
          </a:prstGeom>
          <a:noFill/>
        </p:spPr>
        <p:txBody>
          <a:bodyPr wrap="none" anchor="t">
            <a:spAutoFit/>
          </a:bodyPr>
          <a:lstStyle/>
          <a:p>
            <a:pPr algn="l"/>
            <a:r>
              <a:rPr sz="700" b="1" i="0">
                <a:solidFill>
                  <a:srgbClr val="FFFFFF"/>
                </a:solidFill>
                <a:latin typeface="Liberation Serif"/>
              </a:rPr>
              <a:t>ДАННЫЕ И МЕТОД</a:t>
            </a:r>
          </a:p>
        </p:txBody>
      </p:sp>
      <p:sp>
        <p:nvSpPr>
          <p:cNvPr id="6" name="Rectangle 5"/>
          <p:cNvSpPr/>
          <p:nvPr/>
        </p:nvSpPr>
        <p:spPr>
          <a:xfrm>
            <a:off x="1572768" y="100584"/>
            <a:ext cx="18288" cy="36576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618488" y="82296"/>
            <a:ext cx="7406640" cy="420624"/>
          </a:xfrm>
          <a:prstGeom prst="rect">
            <a:avLst/>
          </a:prstGeom>
          <a:noFill/>
        </p:spPr>
        <p:txBody>
          <a:bodyPr wrap="none" anchor="t">
            <a:spAutoFit/>
          </a:bodyPr>
          <a:lstStyle/>
          <a:p>
            <a:pPr algn="l"/>
            <a:r>
              <a:rPr sz="1350" b="1" i="0">
                <a:solidFill>
                  <a:srgbClr val="FFFFFF"/>
                </a:solidFill>
                <a:latin typeface="Liberation Serif"/>
              </a:rPr>
              <a:t>Радиолокация Sentinel-1 и трёхклассовый датасет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229600" y="4864608"/>
            <a:ext cx="868680" cy="237744"/>
          </a:xfrm>
          <a:prstGeom prst="rect">
            <a:avLst/>
          </a:prstGeom>
          <a:noFill/>
        </p:spPr>
        <p:txBody>
          <a:bodyPr wrap="none" anchor="t">
            <a:spAutoFit/>
          </a:bodyPr>
          <a:lstStyle/>
          <a:p>
            <a:pPr algn="r"/>
            <a:r>
              <a:rPr sz="700" b="0" i="0">
                <a:solidFill>
                  <a:srgbClr val="4A5568"/>
                </a:solidFill>
                <a:latin typeface="Liberation Serif"/>
              </a:rPr>
              <a:t>4 / 11</a:t>
            </a:r>
          </a:p>
        </p:txBody>
      </p:sp>
      <p:sp>
        <p:nvSpPr>
          <p:cNvPr id="9" name="Rectangle 8"/>
          <p:cNvSpPr/>
          <p:nvPr/>
        </p:nvSpPr>
        <p:spPr>
          <a:xfrm>
            <a:off x="365760" y="822960"/>
            <a:ext cx="8412480" cy="841248"/>
          </a:xfrm>
          <a:prstGeom prst="rect">
            <a:avLst/>
          </a:prstGeom>
          <a:solidFill>
            <a:srgbClr val="EBF4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365760" y="822960"/>
            <a:ext cx="109728" cy="841248"/>
          </a:xfrm>
          <a:prstGeom prst="rect">
            <a:avLst/>
          </a:prstGeom>
          <a:solidFill>
            <a:srgbClr val="1E3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94360" y="868680"/>
            <a:ext cx="8138160" cy="7680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950" b="0" i="0">
                <a:solidFill>
                  <a:srgbClr val="4A5568"/>
                </a:solidFill>
                <a:latin typeface="Liberation Serif"/>
              </a:rPr>
              <a:t/>
            </a:r>
            <a:r>
              <a:rPr sz="950" b="1">
                <a:solidFill>
                  <a:srgbClr val="1E3A5F"/>
                </a:solidFill>
                <a:latin typeface="Liberation Serif"/>
              </a:rPr>
              <a:t>Почему радар (SAR):  </a:t>
            </a:r>
            <a:r>
              <a:rPr sz="950">
                <a:solidFill>
                  <a:srgbClr val="4A5568"/>
                </a:solidFill>
                <a:latin typeface="Liberation Serif"/>
              </a:rPr>
              <a:t>работает круглосуточно и сквозь облака; нефть гасит рябь (эффект Марангони) — на снимке тёмное пятно.</a:t>
            </a:r>
          </a:p>
          <a:p>
            <a:pPr>
              <a:spcBef>
                <a:spcPts val="300"/>
              </a:spcBef>
            </a:pPr>
            <a:r>
              <a:rPr sz="950" b="1">
                <a:solidFill>
                  <a:srgbClr val="92400E"/>
                </a:solidFill>
                <a:latin typeface="Liberation Serif"/>
              </a:rPr>
              <a:t>Ложные цели:  </a:t>
            </a:r>
            <a:r>
              <a:rPr sz="950">
                <a:solidFill>
                  <a:srgbClr val="4A5568"/>
                </a:solidFill>
                <a:latin typeface="Liberation Serif"/>
              </a:rPr>
              <a:t>лёд, штиль и биоплёнки дают такие же пятна (до 70 % тёмных пятен в Арктике — лёд); поэтому лёд выделен в отдельный класс.</a:t>
            </a:r>
          </a:p>
        </p:txBody>
      </p:sp>
      <p:sp>
        <p:nvSpPr>
          <p:cNvPr id="12" name="Rectangle 11"/>
          <p:cNvSpPr/>
          <p:nvPr/>
        </p:nvSpPr>
        <p:spPr>
          <a:xfrm>
            <a:off x="365760" y="1783080"/>
            <a:ext cx="4160520" cy="2907792"/>
          </a:xfrm>
          <a:prstGeom prst="rect">
            <a:avLst/>
          </a:prstGeom>
          <a:solidFill>
            <a:srgbClr val="F8FA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365760" y="1783080"/>
            <a:ext cx="4160520" cy="292608"/>
          </a:xfrm>
          <a:prstGeom prst="rect">
            <a:avLst/>
          </a:prstGeom>
          <a:solidFill>
            <a:srgbClr val="1E3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457200" y="1819656"/>
            <a:ext cx="3977639" cy="23774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900" b="1" i="0">
                <a:solidFill>
                  <a:srgbClr val="FFFFFF"/>
                </a:solidFill>
                <a:latin typeface="Liberation Serif"/>
              </a:rPr>
              <a:t>Sentinel-1 IW GRD — параметры данных</a:t>
            </a:r>
          </a:p>
        </p:txBody>
      </p:sp>
      <p:sp>
        <p:nvSpPr>
          <p:cNvPr id="15" name="Rectangle 14"/>
          <p:cNvSpPr/>
          <p:nvPr/>
        </p:nvSpPr>
        <p:spPr>
          <a:xfrm>
            <a:off x="475488" y="2167128"/>
            <a:ext cx="3931920" cy="283464"/>
          </a:xfrm>
          <a:prstGeom prst="rect">
            <a:avLst/>
          </a:prstGeom>
          <a:solidFill>
            <a:srgbClr val="F0F4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566928" y="2194560"/>
            <a:ext cx="1783080" cy="23774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850" b="1" i="0">
                <a:solidFill>
                  <a:srgbClr val="2C5282"/>
                </a:solidFill>
                <a:latin typeface="Liberation Serif"/>
              </a:rPr>
              <a:t>Спутник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2377440" y="2194560"/>
            <a:ext cx="2011680" cy="23774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850" b="0" i="0">
                <a:solidFill>
                  <a:srgbClr val="4A5568"/>
                </a:solidFill>
                <a:latin typeface="Liberation Serif"/>
              </a:rPr>
              <a:t>Sentinel-1, ESA Copernicus</a:t>
            </a:r>
          </a:p>
        </p:txBody>
      </p:sp>
      <p:sp>
        <p:nvSpPr>
          <p:cNvPr id="18" name="Rectangle 17"/>
          <p:cNvSpPr/>
          <p:nvPr/>
        </p:nvSpPr>
        <p:spPr>
          <a:xfrm>
            <a:off x="475488" y="2505456"/>
            <a:ext cx="3931920" cy="283464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566928" y="2532888"/>
            <a:ext cx="1783080" cy="23774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850" b="1" i="0">
                <a:solidFill>
                  <a:srgbClr val="2C5282"/>
                </a:solidFill>
                <a:latin typeface="Liberation Serif"/>
              </a:rPr>
              <a:t>Диапазон · поляр.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2377440" y="2532888"/>
            <a:ext cx="2011680" cy="23774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850" b="0" i="0">
                <a:solidFill>
                  <a:srgbClr val="4A5568"/>
                </a:solidFill>
                <a:latin typeface="Liberation Serif"/>
              </a:rPr>
              <a:t>C-band 5.4 ГГц · VV + VH</a:t>
            </a:r>
          </a:p>
        </p:txBody>
      </p:sp>
      <p:sp>
        <p:nvSpPr>
          <p:cNvPr id="21" name="Rectangle 20"/>
          <p:cNvSpPr/>
          <p:nvPr/>
        </p:nvSpPr>
        <p:spPr>
          <a:xfrm>
            <a:off x="475488" y="2843784"/>
            <a:ext cx="3931920" cy="283464"/>
          </a:xfrm>
          <a:prstGeom prst="rect">
            <a:avLst/>
          </a:prstGeom>
          <a:solidFill>
            <a:srgbClr val="F0F4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566928" y="2871216"/>
            <a:ext cx="1783080" cy="23774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850" b="1" i="0">
                <a:solidFill>
                  <a:srgbClr val="2C5282"/>
                </a:solidFill>
                <a:latin typeface="Liberation Serif"/>
              </a:rPr>
              <a:t>Разрешение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2377440" y="2871216"/>
            <a:ext cx="2011680" cy="23774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850" b="0" i="0">
                <a:solidFill>
                  <a:srgbClr val="4A5568"/>
                </a:solidFill>
                <a:latin typeface="Liberation Serif"/>
              </a:rPr>
              <a:t>10 м / пиксель</a:t>
            </a:r>
          </a:p>
        </p:txBody>
      </p:sp>
      <p:sp>
        <p:nvSpPr>
          <p:cNvPr id="24" name="Rectangle 23"/>
          <p:cNvSpPr/>
          <p:nvPr/>
        </p:nvSpPr>
        <p:spPr>
          <a:xfrm>
            <a:off x="475488" y="3182112"/>
            <a:ext cx="3931920" cy="283464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566928" y="3209544"/>
            <a:ext cx="1783080" cy="23774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850" b="1" i="0">
                <a:solidFill>
                  <a:srgbClr val="2C5282"/>
                </a:solidFill>
                <a:latin typeface="Liberation Serif"/>
              </a:rPr>
              <a:t>Объём датасета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2377440" y="3209544"/>
            <a:ext cx="2011680" cy="23774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850" b="0" i="0">
                <a:solidFill>
                  <a:srgbClr val="4A5568"/>
                </a:solidFill>
                <a:latin typeface="Liberation Serif"/>
              </a:rPr>
              <a:t>1 125 сцен · 4 128 тайлов</a:t>
            </a:r>
          </a:p>
        </p:txBody>
      </p:sp>
      <p:sp>
        <p:nvSpPr>
          <p:cNvPr id="27" name="Rectangle 26"/>
          <p:cNvSpPr/>
          <p:nvPr/>
        </p:nvSpPr>
        <p:spPr>
          <a:xfrm>
            <a:off x="475488" y="3520440"/>
            <a:ext cx="3931920" cy="283464"/>
          </a:xfrm>
          <a:prstGeom prst="rect">
            <a:avLst/>
          </a:prstGeom>
          <a:solidFill>
            <a:srgbClr val="F0F4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566928" y="3547872"/>
            <a:ext cx="1783080" cy="23774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850" b="1" i="0">
                <a:solidFill>
                  <a:srgbClr val="2C5282"/>
                </a:solidFill>
                <a:latin typeface="Liberation Serif"/>
              </a:rPr>
              <a:t>Размер тайла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377440" y="3547872"/>
            <a:ext cx="2011680" cy="23774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850" b="0" i="0">
                <a:solidFill>
                  <a:srgbClr val="4A5568"/>
                </a:solidFill>
                <a:latin typeface="Liberation Serif"/>
              </a:rPr>
              <a:t>256 × 256 пикселей</a:t>
            </a:r>
          </a:p>
        </p:txBody>
      </p:sp>
      <p:sp>
        <p:nvSpPr>
          <p:cNvPr id="30" name="Rectangle 29"/>
          <p:cNvSpPr/>
          <p:nvPr/>
        </p:nvSpPr>
        <p:spPr>
          <a:xfrm>
            <a:off x="475488" y="3858768"/>
            <a:ext cx="3931920" cy="283464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566928" y="3886200"/>
            <a:ext cx="1783080" cy="23774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850" b="1" i="0">
                <a:solidFill>
                  <a:srgbClr val="2C5282"/>
                </a:solidFill>
                <a:latin typeface="Liberation Serif"/>
              </a:rPr>
              <a:t>Классы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2377440" y="3886200"/>
            <a:ext cx="2011680" cy="23774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850" b="0" i="0">
                <a:solidFill>
                  <a:srgbClr val="4A5568"/>
                </a:solidFill>
                <a:latin typeface="Liberation Serif"/>
              </a:rPr>
              <a:t>вода · нефть · лёд + суша</a:t>
            </a:r>
          </a:p>
        </p:txBody>
      </p:sp>
      <p:sp>
        <p:nvSpPr>
          <p:cNvPr id="33" name="Rectangle 32"/>
          <p:cNvSpPr/>
          <p:nvPr/>
        </p:nvSpPr>
        <p:spPr>
          <a:xfrm>
            <a:off x="475488" y="4197096"/>
            <a:ext cx="3931920" cy="283464"/>
          </a:xfrm>
          <a:prstGeom prst="rect">
            <a:avLst/>
          </a:prstGeom>
          <a:solidFill>
            <a:srgbClr val="F0F4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566928" y="4224528"/>
            <a:ext cx="1783080" cy="23774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850" b="1" i="0">
                <a:solidFill>
                  <a:srgbClr val="2C5282"/>
                </a:solidFill>
                <a:latin typeface="Liberation Serif"/>
              </a:rPr>
              <a:t>Районы · период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2377440" y="4224528"/>
            <a:ext cx="2011680" cy="23774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850" b="0" i="0">
                <a:solidFill>
                  <a:srgbClr val="4A5568"/>
                </a:solidFill>
                <a:latin typeface="Liberation Serif"/>
              </a:rPr>
              <a:t>4 акватории · 2022–2025</a:t>
            </a:r>
          </a:p>
        </p:txBody>
      </p:sp>
      <p:sp>
        <p:nvSpPr>
          <p:cNvPr id="36" name="Rectangle 35"/>
          <p:cNvSpPr/>
          <p:nvPr/>
        </p:nvSpPr>
        <p:spPr>
          <a:xfrm>
            <a:off x="4617720" y="1783080"/>
            <a:ext cx="4160520" cy="2907792"/>
          </a:xfrm>
          <a:prstGeom prst="rect">
            <a:avLst/>
          </a:prstGeom>
          <a:solidFill>
            <a:srgbClr val="F8FA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Rectangle 36"/>
          <p:cNvSpPr/>
          <p:nvPr/>
        </p:nvSpPr>
        <p:spPr>
          <a:xfrm>
            <a:off x="4617720" y="1783080"/>
            <a:ext cx="4160520" cy="292608"/>
          </a:xfrm>
          <a:prstGeom prst="rect">
            <a:avLst/>
          </a:prstGeom>
          <a:solidFill>
            <a:srgbClr val="2C528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4709160" y="1819656"/>
            <a:ext cx="3977639" cy="23774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900" b="1" i="0">
                <a:solidFill>
                  <a:srgbClr val="FFFFFF"/>
                </a:solidFill>
                <a:latin typeface="Liberation Serif"/>
              </a:rPr>
              <a:t>Распределение классов в датасете</a:t>
            </a:r>
          </a:p>
        </p:txBody>
      </p:sp>
      <p:pic>
        <p:nvPicPr>
          <p:cNvPr id="39" name="Picture 38" descr="fig_class_dis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554972" y="2121408"/>
            <a:ext cx="2276870" cy="2487168"/>
          </a:xfrm>
          <a:prstGeom prst="rect">
            <a:avLst/>
          </a:prstGeom>
        </p:spPr>
      </p:pic>
      <p:sp>
        <p:nvSpPr>
          <p:cNvPr id="40" name="TextBox 39"/>
          <p:cNvSpPr txBox="1"/>
          <p:nvPr/>
        </p:nvSpPr>
        <p:spPr>
          <a:xfrm>
            <a:off x="109728" y="4873752"/>
            <a:ext cx="7863840" cy="219456"/>
          </a:xfrm>
          <a:prstGeom prst="rect">
            <a:avLst/>
          </a:prstGeom>
          <a:noFill/>
        </p:spPr>
        <p:txBody>
          <a:bodyPr wrap="none" anchor="t">
            <a:spAutoFit/>
          </a:bodyPr>
          <a:lstStyle/>
          <a:p>
            <a:pPr algn="l"/>
            <a:r>
              <a:rPr sz="700" b="0" i="1">
                <a:solidFill>
                  <a:srgbClr val="4A5568"/>
                </a:solidFill>
                <a:latin typeface="Liberation Serif"/>
              </a:rPr>
              <a:t>Источник: Copernicus Open Access Hub (ESA); датасет MKLab (Krestenitis et al., 2019)</a:t>
            </a:r>
          </a:p>
        </p:txBody>
      </p:sp>
    </p:spTree>
  </p:cSld>
  <p:clrMapOvr>
    <a:masterClrMapping/>
  </p:clrMapOvr>
  <p:transition spd="med">
    <p:fade/>
  </p:transition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9144000" cy="566928"/>
          </a:xfrm>
          <a:prstGeom prst="rect">
            <a:avLst/>
          </a:prstGeom>
          <a:solidFill>
            <a:srgbClr val="1E3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566928"/>
            <a:ext cx="9144000" cy="32004"/>
          </a:xfrm>
          <a:prstGeom prst="rect">
            <a:avLst/>
          </a:prstGeom>
          <a:solidFill>
            <a:srgbClr val="C530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09728" y="82296"/>
            <a:ext cx="1417320" cy="420624"/>
          </a:xfrm>
          <a:prstGeom prst="rect">
            <a:avLst/>
          </a:prstGeom>
          <a:noFill/>
        </p:spPr>
        <p:txBody>
          <a:bodyPr wrap="none" anchor="t">
            <a:spAutoFit/>
          </a:bodyPr>
          <a:lstStyle/>
          <a:p>
            <a:pPr algn="l"/>
            <a:r>
              <a:rPr sz="700" b="1" i="0">
                <a:solidFill>
                  <a:srgbClr val="FFFFFF"/>
                </a:solidFill>
                <a:latin typeface="Liberation Serif"/>
              </a:rPr>
              <a:t>ПРЕДОБРАБОТКА</a:t>
            </a:r>
          </a:p>
        </p:txBody>
      </p:sp>
      <p:sp>
        <p:nvSpPr>
          <p:cNvPr id="6" name="Rectangle 5"/>
          <p:cNvSpPr/>
          <p:nvPr/>
        </p:nvSpPr>
        <p:spPr>
          <a:xfrm>
            <a:off x="1572768" y="100584"/>
            <a:ext cx="18288" cy="36576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618488" y="82296"/>
            <a:ext cx="7406640" cy="420624"/>
          </a:xfrm>
          <a:prstGeom prst="rect">
            <a:avLst/>
          </a:prstGeom>
          <a:noFill/>
        </p:spPr>
        <p:txBody>
          <a:bodyPr wrap="none" anchor="t">
            <a:spAutoFit/>
          </a:bodyPr>
          <a:lstStyle/>
          <a:p>
            <a:pPr algn="l"/>
            <a:r>
              <a:rPr sz="1350" b="1" i="0">
                <a:solidFill>
                  <a:srgbClr val="FFFFFF"/>
                </a:solidFill>
                <a:latin typeface="Liberation Serif"/>
              </a:rPr>
              <a:t>Подготовка данных: ESA SNAP и QGIS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229600" y="4864608"/>
            <a:ext cx="868680" cy="237744"/>
          </a:xfrm>
          <a:prstGeom prst="rect">
            <a:avLst/>
          </a:prstGeom>
          <a:noFill/>
        </p:spPr>
        <p:txBody>
          <a:bodyPr wrap="none" anchor="t">
            <a:spAutoFit/>
          </a:bodyPr>
          <a:lstStyle/>
          <a:p>
            <a:pPr algn="r"/>
            <a:r>
              <a:rPr sz="700" b="0" i="0">
                <a:solidFill>
                  <a:srgbClr val="4A5568"/>
                </a:solidFill>
                <a:latin typeface="Liberation Serif"/>
              </a:rPr>
              <a:t>5 / 11</a:t>
            </a:r>
          </a:p>
        </p:txBody>
      </p:sp>
      <p:sp>
        <p:nvSpPr>
          <p:cNvPr id="9" name="Rectangle 8"/>
          <p:cNvSpPr/>
          <p:nvPr/>
        </p:nvSpPr>
        <p:spPr>
          <a:xfrm>
            <a:off x="365760" y="822960"/>
            <a:ext cx="8412480" cy="548640"/>
          </a:xfrm>
          <a:prstGeom prst="rect">
            <a:avLst/>
          </a:prstGeom>
          <a:solidFill>
            <a:srgbClr val="EBF4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365760" y="822960"/>
            <a:ext cx="109728" cy="548640"/>
          </a:xfrm>
          <a:prstGeom prst="rect">
            <a:avLst/>
          </a:prstGeom>
          <a:solidFill>
            <a:srgbClr val="1E3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66928" y="877824"/>
            <a:ext cx="813816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950" b="0" i="0">
                <a:solidFill>
                  <a:srgbClr val="4A5568"/>
                </a:solidFill>
                <a:latin typeface="Liberation Serif"/>
              </a:rPr>
              <a:t>Сырой снимок Sentinel-1 нельзя подавать в сеть напрямую: радар содержит шум и геометрические искажения. Подготовка идёт в два этапа.</a:t>
            </a:r>
          </a:p>
        </p:txBody>
      </p:sp>
      <p:sp>
        <p:nvSpPr>
          <p:cNvPr id="12" name="Rectangle 11"/>
          <p:cNvSpPr/>
          <p:nvPr/>
        </p:nvSpPr>
        <p:spPr>
          <a:xfrm>
            <a:off x="365760" y="1481328"/>
            <a:ext cx="4160520" cy="2798064"/>
          </a:xfrm>
          <a:prstGeom prst="rect">
            <a:avLst/>
          </a:prstGeom>
          <a:solidFill>
            <a:srgbClr val="F8FA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365760" y="1481328"/>
            <a:ext cx="4160520" cy="310896"/>
          </a:xfrm>
          <a:prstGeom prst="rect">
            <a:avLst/>
          </a:prstGeom>
          <a:solidFill>
            <a:srgbClr val="1E3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475488" y="1517904"/>
            <a:ext cx="3977639" cy="23774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850" b="1" i="0">
                <a:solidFill>
                  <a:srgbClr val="FFFFFF"/>
                </a:solidFill>
                <a:latin typeface="Liberation Serif"/>
              </a:rPr>
              <a:t>Этап 1 · ESA SNAP — радиометрия и геометрия</a:t>
            </a:r>
          </a:p>
        </p:txBody>
      </p:sp>
      <p:sp>
        <p:nvSpPr>
          <p:cNvPr id="15" name="Rectangle 14"/>
          <p:cNvSpPr/>
          <p:nvPr/>
        </p:nvSpPr>
        <p:spPr>
          <a:xfrm>
            <a:off x="475488" y="1865376"/>
            <a:ext cx="3941063" cy="347472"/>
          </a:xfrm>
          <a:prstGeom prst="rect">
            <a:avLst/>
          </a:prstGeom>
          <a:solidFill>
            <a:srgbClr val="F0F4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475488" y="1865376"/>
            <a:ext cx="310896" cy="347472"/>
          </a:xfrm>
          <a:prstGeom prst="rect">
            <a:avLst/>
          </a:prstGeom>
          <a:solidFill>
            <a:srgbClr val="2C528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475488" y="1938528"/>
            <a:ext cx="310896" cy="21945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000" b="1" i="0">
                <a:solidFill>
                  <a:srgbClr val="FFFFFF"/>
                </a:solidFill>
                <a:latin typeface="Liberation Serif"/>
              </a:rPr>
              <a:t>1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59536" y="1906524"/>
            <a:ext cx="3520439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850" b="1">
                <a:solidFill>
                  <a:srgbClr val="2C5282"/>
                </a:solidFill>
                <a:latin typeface="Liberation Serif"/>
              </a:rPr>
              <a:t>Apply Orbit File  </a:t>
            </a:r>
            <a:r>
              <a:rPr sz="850">
                <a:solidFill>
                  <a:srgbClr val="4A5568"/>
                </a:solidFill>
                <a:latin typeface="Liberation Serif"/>
              </a:rPr>
              <a:t>— уточнение орбиты спутника</a:t>
            </a:r>
          </a:p>
        </p:txBody>
      </p:sp>
      <p:sp>
        <p:nvSpPr>
          <p:cNvPr id="19" name="Rectangle 18"/>
          <p:cNvSpPr/>
          <p:nvPr/>
        </p:nvSpPr>
        <p:spPr>
          <a:xfrm>
            <a:off x="475488" y="2249424"/>
            <a:ext cx="3941063" cy="347472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475488" y="2249424"/>
            <a:ext cx="310896" cy="347472"/>
          </a:xfrm>
          <a:prstGeom prst="rect">
            <a:avLst/>
          </a:prstGeom>
          <a:solidFill>
            <a:srgbClr val="2C528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475488" y="2322576"/>
            <a:ext cx="310896" cy="21945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000" b="1" i="0">
                <a:solidFill>
                  <a:srgbClr val="FFFFFF"/>
                </a:solidFill>
                <a:latin typeface="Liberation Serif"/>
              </a:rPr>
              <a:t>2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59536" y="2290572"/>
            <a:ext cx="3520439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850" b="1">
                <a:solidFill>
                  <a:srgbClr val="2C5282"/>
                </a:solidFill>
                <a:latin typeface="Liberation Serif"/>
              </a:rPr>
              <a:t>Thermal Noise Removal  </a:t>
            </a:r>
            <a:r>
              <a:rPr sz="850">
                <a:solidFill>
                  <a:srgbClr val="4A5568"/>
                </a:solidFill>
                <a:latin typeface="Liberation Serif"/>
              </a:rPr>
              <a:t>— снятие теплового шума сенсора</a:t>
            </a:r>
          </a:p>
        </p:txBody>
      </p:sp>
      <p:sp>
        <p:nvSpPr>
          <p:cNvPr id="23" name="Rectangle 22"/>
          <p:cNvSpPr/>
          <p:nvPr/>
        </p:nvSpPr>
        <p:spPr>
          <a:xfrm>
            <a:off x="475488" y="2633472"/>
            <a:ext cx="3941063" cy="347472"/>
          </a:xfrm>
          <a:prstGeom prst="rect">
            <a:avLst/>
          </a:prstGeom>
          <a:solidFill>
            <a:srgbClr val="F0F4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475488" y="2633472"/>
            <a:ext cx="310896" cy="347472"/>
          </a:xfrm>
          <a:prstGeom prst="rect">
            <a:avLst/>
          </a:prstGeom>
          <a:solidFill>
            <a:srgbClr val="2C528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475488" y="2706624"/>
            <a:ext cx="310896" cy="21945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000" b="1" i="0">
                <a:solidFill>
                  <a:srgbClr val="FFFFFF"/>
                </a:solidFill>
                <a:latin typeface="Liberation Serif"/>
              </a:rPr>
              <a:t>3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859536" y="2674620"/>
            <a:ext cx="3520439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850" b="1">
                <a:solidFill>
                  <a:srgbClr val="2C5282"/>
                </a:solidFill>
                <a:latin typeface="Liberation Serif"/>
              </a:rPr>
              <a:t>Калибровка → σ0 (дБ)  </a:t>
            </a:r>
            <a:r>
              <a:rPr sz="850">
                <a:solidFill>
                  <a:srgbClr val="4A5568"/>
                </a:solidFill>
                <a:latin typeface="Liberation Serif"/>
              </a:rPr>
              <a:t>— переход к физической яркости</a:t>
            </a:r>
          </a:p>
        </p:txBody>
      </p:sp>
      <p:sp>
        <p:nvSpPr>
          <p:cNvPr id="27" name="Rectangle 26"/>
          <p:cNvSpPr/>
          <p:nvPr/>
        </p:nvSpPr>
        <p:spPr>
          <a:xfrm>
            <a:off x="475488" y="3017520"/>
            <a:ext cx="3941063" cy="347472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ectangle 27"/>
          <p:cNvSpPr/>
          <p:nvPr/>
        </p:nvSpPr>
        <p:spPr>
          <a:xfrm>
            <a:off x="475488" y="3017520"/>
            <a:ext cx="310896" cy="347472"/>
          </a:xfrm>
          <a:prstGeom prst="rect">
            <a:avLst/>
          </a:prstGeom>
          <a:solidFill>
            <a:srgbClr val="2C528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475488" y="3090672"/>
            <a:ext cx="310896" cy="21945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000" b="1" i="0">
                <a:solidFill>
                  <a:srgbClr val="FFFFFF"/>
                </a:solidFill>
                <a:latin typeface="Liberation Serif"/>
              </a:rPr>
              <a:t>4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859536" y="3058668"/>
            <a:ext cx="3520439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850" b="1">
                <a:solidFill>
                  <a:srgbClr val="2C5282"/>
                </a:solidFill>
                <a:latin typeface="Liberation Serif"/>
              </a:rPr>
              <a:t>Speckle-фильтр Lee 7×7  </a:t>
            </a:r>
            <a:r>
              <a:rPr sz="850">
                <a:solidFill>
                  <a:srgbClr val="4A5568"/>
                </a:solidFill>
                <a:latin typeface="Liberation Serif"/>
              </a:rPr>
              <a:t>— подавление зернистого шума</a:t>
            </a:r>
          </a:p>
        </p:txBody>
      </p:sp>
      <p:sp>
        <p:nvSpPr>
          <p:cNvPr id="31" name="Rectangle 30"/>
          <p:cNvSpPr/>
          <p:nvPr/>
        </p:nvSpPr>
        <p:spPr>
          <a:xfrm>
            <a:off x="475488" y="3401568"/>
            <a:ext cx="3941063" cy="347472"/>
          </a:xfrm>
          <a:prstGeom prst="rect">
            <a:avLst/>
          </a:prstGeom>
          <a:solidFill>
            <a:srgbClr val="F0F4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Rectangle 31"/>
          <p:cNvSpPr/>
          <p:nvPr/>
        </p:nvSpPr>
        <p:spPr>
          <a:xfrm>
            <a:off x="475488" y="3401568"/>
            <a:ext cx="310896" cy="347472"/>
          </a:xfrm>
          <a:prstGeom prst="rect">
            <a:avLst/>
          </a:prstGeom>
          <a:solidFill>
            <a:srgbClr val="2C528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475488" y="3474720"/>
            <a:ext cx="310896" cy="21945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000" b="1" i="0">
                <a:solidFill>
                  <a:srgbClr val="FFFFFF"/>
                </a:solidFill>
                <a:latin typeface="Liberation Serif"/>
              </a:rPr>
              <a:t>5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859536" y="3442715"/>
            <a:ext cx="3520439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850" b="1">
                <a:solidFill>
                  <a:srgbClr val="2C5282"/>
                </a:solidFill>
                <a:latin typeface="Liberation Serif"/>
              </a:rPr>
              <a:t>Range-Doppler Terrain Corr.  </a:t>
            </a:r>
            <a:r>
              <a:rPr sz="850">
                <a:solidFill>
                  <a:srgbClr val="4A5568"/>
                </a:solidFill>
                <a:latin typeface="Liberation Serif"/>
              </a:rPr>
              <a:t>— геопривязка по рельефу (SRTM)</a:t>
            </a:r>
          </a:p>
        </p:txBody>
      </p:sp>
      <p:sp>
        <p:nvSpPr>
          <p:cNvPr id="35" name="Rectangle 34"/>
          <p:cNvSpPr/>
          <p:nvPr/>
        </p:nvSpPr>
        <p:spPr>
          <a:xfrm>
            <a:off x="475488" y="3785616"/>
            <a:ext cx="3941063" cy="347472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Rectangle 35"/>
          <p:cNvSpPr/>
          <p:nvPr/>
        </p:nvSpPr>
        <p:spPr>
          <a:xfrm>
            <a:off x="475488" y="3785616"/>
            <a:ext cx="310896" cy="347472"/>
          </a:xfrm>
          <a:prstGeom prst="rect">
            <a:avLst/>
          </a:prstGeom>
          <a:solidFill>
            <a:srgbClr val="2C528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475488" y="3858768"/>
            <a:ext cx="310896" cy="21945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000" b="1" i="0">
                <a:solidFill>
                  <a:srgbClr val="FFFFFF"/>
                </a:solidFill>
                <a:latin typeface="Liberation Serif"/>
              </a:rPr>
              <a:t>6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859536" y="3826764"/>
            <a:ext cx="3520439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850" b="1">
                <a:solidFill>
                  <a:srgbClr val="2C5282"/>
                </a:solidFill>
                <a:latin typeface="Liberation Serif"/>
              </a:rPr>
              <a:t>Лог-шкала [−35; 0] дБ  </a:t>
            </a:r>
            <a:r>
              <a:rPr sz="850">
                <a:solidFill>
                  <a:srgbClr val="4A5568"/>
                </a:solidFill>
                <a:latin typeface="Liberation Serif"/>
              </a:rPr>
              <a:t>— нормировка под вход сети</a:t>
            </a:r>
          </a:p>
        </p:txBody>
      </p:sp>
      <p:sp>
        <p:nvSpPr>
          <p:cNvPr id="39" name="Rectangle 38"/>
          <p:cNvSpPr/>
          <p:nvPr/>
        </p:nvSpPr>
        <p:spPr>
          <a:xfrm>
            <a:off x="4617720" y="1481328"/>
            <a:ext cx="4160520" cy="2798064"/>
          </a:xfrm>
          <a:prstGeom prst="rect">
            <a:avLst/>
          </a:prstGeom>
          <a:solidFill>
            <a:srgbClr val="F8FA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Rectangle 39"/>
          <p:cNvSpPr/>
          <p:nvPr/>
        </p:nvSpPr>
        <p:spPr>
          <a:xfrm>
            <a:off x="4617720" y="1481328"/>
            <a:ext cx="4160520" cy="310896"/>
          </a:xfrm>
          <a:prstGeom prst="rect">
            <a:avLst/>
          </a:prstGeom>
          <a:solidFill>
            <a:srgbClr val="27674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4727448" y="1517904"/>
            <a:ext cx="3977639" cy="23774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850" b="1" i="0">
                <a:solidFill>
                  <a:srgbClr val="FFFFFF"/>
                </a:solidFill>
                <a:latin typeface="Liberation Serif"/>
              </a:rPr>
              <a:t>Этап 2 · QGIS — разметка и нарезка</a:t>
            </a:r>
          </a:p>
        </p:txBody>
      </p:sp>
      <p:sp>
        <p:nvSpPr>
          <p:cNvPr id="42" name="Rectangle 41"/>
          <p:cNvSpPr/>
          <p:nvPr/>
        </p:nvSpPr>
        <p:spPr>
          <a:xfrm>
            <a:off x="4727448" y="1865376"/>
            <a:ext cx="3941063" cy="347472"/>
          </a:xfrm>
          <a:prstGeom prst="rect">
            <a:avLst/>
          </a:prstGeom>
          <a:solidFill>
            <a:srgbClr val="F0F4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Rectangle 42"/>
          <p:cNvSpPr/>
          <p:nvPr/>
        </p:nvSpPr>
        <p:spPr>
          <a:xfrm>
            <a:off x="4727448" y="1865376"/>
            <a:ext cx="310896" cy="347472"/>
          </a:xfrm>
          <a:prstGeom prst="rect">
            <a:avLst/>
          </a:prstGeom>
          <a:solidFill>
            <a:srgbClr val="27674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TextBox 43"/>
          <p:cNvSpPr txBox="1"/>
          <p:nvPr/>
        </p:nvSpPr>
        <p:spPr>
          <a:xfrm>
            <a:off x="4727448" y="1938528"/>
            <a:ext cx="310896" cy="21945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000" b="1" i="0">
                <a:solidFill>
                  <a:srgbClr val="FFFFFF"/>
                </a:solidFill>
                <a:latin typeface="Liberation Serif"/>
              </a:rPr>
              <a:t>1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5111496" y="1906524"/>
            <a:ext cx="3520439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850" b="1">
                <a:solidFill>
                  <a:srgbClr val="276749"/>
                </a:solidFill>
                <a:latin typeface="Liberation Serif"/>
              </a:rPr>
              <a:t>Маска суша / вода  </a:t>
            </a:r>
            <a:r>
              <a:rPr sz="850">
                <a:solidFill>
                  <a:srgbClr val="4A5568"/>
                </a:solidFill>
                <a:latin typeface="Liberation Serif"/>
              </a:rPr>
              <a:t>— береговая линия OSM / GSHHG</a:t>
            </a:r>
          </a:p>
        </p:txBody>
      </p:sp>
      <p:sp>
        <p:nvSpPr>
          <p:cNvPr id="46" name="Rectangle 45"/>
          <p:cNvSpPr/>
          <p:nvPr/>
        </p:nvSpPr>
        <p:spPr>
          <a:xfrm>
            <a:off x="4727448" y="2249424"/>
            <a:ext cx="3941063" cy="347472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Rectangle 46"/>
          <p:cNvSpPr/>
          <p:nvPr/>
        </p:nvSpPr>
        <p:spPr>
          <a:xfrm>
            <a:off x="4727448" y="2249424"/>
            <a:ext cx="310896" cy="347472"/>
          </a:xfrm>
          <a:prstGeom prst="rect">
            <a:avLst/>
          </a:prstGeom>
          <a:solidFill>
            <a:srgbClr val="27674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4727448" y="2322576"/>
            <a:ext cx="310896" cy="21945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000" b="1" i="0">
                <a:solidFill>
                  <a:srgbClr val="FFFFFF"/>
                </a:solidFill>
                <a:latin typeface="Liberation Serif"/>
              </a:rPr>
              <a:t>2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5111496" y="2290572"/>
            <a:ext cx="3520439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850" b="1">
                <a:solidFill>
                  <a:srgbClr val="276749"/>
                </a:solidFill>
                <a:latin typeface="Liberation Serif"/>
              </a:rPr>
              <a:t>Оцифровка эталонов  </a:t>
            </a:r>
            <a:r>
              <a:rPr sz="850">
                <a:solidFill>
                  <a:srgbClr val="4A5568"/>
                </a:solidFill>
                <a:latin typeface="Liberation Serif"/>
              </a:rPr>
              <a:t>— нефть · лёд · вода по экспертным данным</a:t>
            </a:r>
          </a:p>
        </p:txBody>
      </p:sp>
      <p:sp>
        <p:nvSpPr>
          <p:cNvPr id="50" name="Rectangle 49"/>
          <p:cNvSpPr/>
          <p:nvPr/>
        </p:nvSpPr>
        <p:spPr>
          <a:xfrm>
            <a:off x="4727448" y="2633472"/>
            <a:ext cx="3941063" cy="347472"/>
          </a:xfrm>
          <a:prstGeom prst="rect">
            <a:avLst/>
          </a:prstGeom>
          <a:solidFill>
            <a:srgbClr val="F0F4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Rectangle 50"/>
          <p:cNvSpPr/>
          <p:nvPr/>
        </p:nvSpPr>
        <p:spPr>
          <a:xfrm>
            <a:off x="4727448" y="2633472"/>
            <a:ext cx="310896" cy="347472"/>
          </a:xfrm>
          <a:prstGeom prst="rect">
            <a:avLst/>
          </a:prstGeom>
          <a:solidFill>
            <a:srgbClr val="27674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" name="TextBox 51"/>
          <p:cNvSpPr txBox="1"/>
          <p:nvPr/>
        </p:nvSpPr>
        <p:spPr>
          <a:xfrm>
            <a:off x="4727448" y="2706624"/>
            <a:ext cx="310896" cy="21945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000" b="1" i="0">
                <a:solidFill>
                  <a:srgbClr val="FFFFFF"/>
                </a:solidFill>
                <a:latin typeface="Liberation Serif"/>
              </a:rPr>
              <a:t>3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5111496" y="2674620"/>
            <a:ext cx="3520439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850" b="1">
                <a:solidFill>
                  <a:srgbClr val="276749"/>
                </a:solidFill>
                <a:latin typeface="Liberation Serif"/>
              </a:rPr>
              <a:t>Сборка 3-классовых масок  </a:t>
            </a:r>
            <a:r>
              <a:rPr sz="850">
                <a:solidFill>
                  <a:srgbClr val="4A5568"/>
                </a:solidFill>
                <a:latin typeface="Liberation Serif"/>
              </a:rPr>
              <a:t>— попиксельная разметка сцен</a:t>
            </a:r>
          </a:p>
        </p:txBody>
      </p:sp>
      <p:sp>
        <p:nvSpPr>
          <p:cNvPr id="54" name="Rectangle 53"/>
          <p:cNvSpPr/>
          <p:nvPr/>
        </p:nvSpPr>
        <p:spPr>
          <a:xfrm>
            <a:off x="4727448" y="3017520"/>
            <a:ext cx="3941063" cy="347472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Rectangle 54"/>
          <p:cNvSpPr/>
          <p:nvPr/>
        </p:nvSpPr>
        <p:spPr>
          <a:xfrm>
            <a:off x="4727448" y="3017520"/>
            <a:ext cx="310896" cy="347472"/>
          </a:xfrm>
          <a:prstGeom prst="rect">
            <a:avLst/>
          </a:prstGeom>
          <a:solidFill>
            <a:srgbClr val="27674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6" name="TextBox 55"/>
          <p:cNvSpPr txBox="1"/>
          <p:nvPr/>
        </p:nvSpPr>
        <p:spPr>
          <a:xfrm>
            <a:off x="4727448" y="3090672"/>
            <a:ext cx="310896" cy="21945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000" b="1" i="0">
                <a:solidFill>
                  <a:srgbClr val="FFFFFF"/>
                </a:solidFill>
                <a:latin typeface="Liberation Serif"/>
              </a:rPr>
              <a:t>4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5111496" y="3058668"/>
            <a:ext cx="3520439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850" b="1">
                <a:solidFill>
                  <a:srgbClr val="276749"/>
                </a:solidFill>
                <a:latin typeface="Liberation Serif"/>
              </a:rPr>
              <a:t>Нарезка на тайлы 256×256  </a:t>
            </a:r>
            <a:r>
              <a:rPr sz="850">
                <a:solidFill>
                  <a:srgbClr val="4A5568"/>
                </a:solidFill>
                <a:latin typeface="Liberation Serif"/>
              </a:rPr>
              <a:t>— перекрытие 50 %</a:t>
            </a:r>
          </a:p>
        </p:txBody>
      </p:sp>
      <p:sp>
        <p:nvSpPr>
          <p:cNvPr id="58" name="Rectangle 57"/>
          <p:cNvSpPr/>
          <p:nvPr/>
        </p:nvSpPr>
        <p:spPr>
          <a:xfrm>
            <a:off x="4727448" y="3401568"/>
            <a:ext cx="3941063" cy="347472"/>
          </a:xfrm>
          <a:prstGeom prst="rect">
            <a:avLst/>
          </a:prstGeom>
          <a:solidFill>
            <a:srgbClr val="F0F4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9" name="Rectangle 58"/>
          <p:cNvSpPr/>
          <p:nvPr/>
        </p:nvSpPr>
        <p:spPr>
          <a:xfrm>
            <a:off x="4727448" y="3401568"/>
            <a:ext cx="310896" cy="347472"/>
          </a:xfrm>
          <a:prstGeom prst="rect">
            <a:avLst/>
          </a:prstGeom>
          <a:solidFill>
            <a:srgbClr val="27674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0" name="TextBox 59"/>
          <p:cNvSpPr txBox="1"/>
          <p:nvPr/>
        </p:nvSpPr>
        <p:spPr>
          <a:xfrm>
            <a:off x="4727448" y="3474720"/>
            <a:ext cx="310896" cy="21945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000" b="1" i="0">
                <a:solidFill>
                  <a:srgbClr val="FFFFFF"/>
                </a:solidFill>
                <a:latin typeface="Liberation Serif"/>
              </a:rPr>
              <a:t>5</a:t>
            </a:r>
          </a:p>
        </p:txBody>
      </p:sp>
      <p:sp>
        <p:nvSpPr>
          <p:cNvPr id="61" name="TextBox 60"/>
          <p:cNvSpPr txBox="1"/>
          <p:nvPr/>
        </p:nvSpPr>
        <p:spPr>
          <a:xfrm>
            <a:off x="5111496" y="3442715"/>
            <a:ext cx="3520439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850" b="1">
                <a:solidFill>
                  <a:srgbClr val="276749"/>
                </a:solidFill>
                <a:latin typeface="Liberation Serif"/>
              </a:rPr>
              <a:t>Экспорт GeoTIFF + маски  </a:t>
            </a:r>
            <a:r>
              <a:rPr sz="850">
                <a:solidFill>
                  <a:srgbClr val="4A5568"/>
                </a:solidFill>
                <a:latin typeface="Liberation Serif"/>
              </a:rPr>
              <a:t>— готовый датасет для обучения</a:t>
            </a:r>
          </a:p>
        </p:txBody>
      </p:sp>
      <p:sp>
        <p:nvSpPr>
          <p:cNvPr id="62" name="Rectangle 61"/>
          <p:cNvSpPr/>
          <p:nvPr/>
        </p:nvSpPr>
        <p:spPr>
          <a:xfrm>
            <a:off x="365760" y="4407408"/>
            <a:ext cx="8412480" cy="384048"/>
          </a:xfrm>
          <a:prstGeom prst="rect">
            <a:avLst/>
          </a:prstGeom>
          <a:solidFill>
            <a:srgbClr val="F0FF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3" name="Rectangle 62"/>
          <p:cNvSpPr/>
          <p:nvPr/>
        </p:nvSpPr>
        <p:spPr>
          <a:xfrm>
            <a:off x="365760" y="4407408"/>
            <a:ext cx="109728" cy="384048"/>
          </a:xfrm>
          <a:prstGeom prst="rect">
            <a:avLst/>
          </a:prstGeom>
          <a:solidFill>
            <a:srgbClr val="27674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4" name="TextBox 63"/>
          <p:cNvSpPr txBox="1"/>
          <p:nvPr/>
        </p:nvSpPr>
        <p:spPr>
          <a:xfrm>
            <a:off x="566928" y="4462272"/>
            <a:ext cx="81381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00" b="1">
                <a:solidFill>
                  <a:srgbClr val="276749"/>
                </a:solidFill>
                <a:latin typeface="Liberation Serif"/>
              </a:rPr>
              <a:t>Итог:  </a:t>
            </a:r>
            <a:r>
              <a:rPr sz="900">
                <a:solidFill>
                  <a:srgbClr val="4A5568"/>
                </a:solidFill>
                <a:latin typeface="Liberation Serif"/>
              </a:rPr>
              <a:t>из 1 125 сцен получено 4 128 геопривязанных тайлов 256×256 с масками — вход для DeepLabV3+.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109728" y="4873752"/>
            <a:ext cx="7863840" cy="219456"/>
          </a:xfrm>
          <a:prstGeom prst="rect">
            <a:avLst/>
          </a:prstGeom>
          <a:noFill/>
        </p:spPr>
        <p:txBody>
          <a:bodyPr wrap="none" anchor="t">
            <a:spAutoFit/>
          </a:bodyPr>
          <a:lstStyle/>
          <a:p>
            <a:pPr algn="l"/>
            <a:r>
              <a:rPr sz="700" b="0" i="1">
                <a:solidFill>
                  <a:srgbClr val="4A5568"/>
                </a:solidFill>
                <a:latin typeface="Liberation Serif"/>
              </a:rPr>
              <a:t>Источник: ESA SNAP 9.0; QGIS 3.x; SRTM; OpenStreetMap Coastline</a:t>
            </a:r>
          </a:p>
        </p:txBody>
      </p:sp>
    </p:spTree>
  </p:cSld>
  <p:clrMapOvr>
    <a:masterClrMapping/>
  </p:clrMapOvr>
  <p:transition spd="med">
    <p:fade/>
  </p:transition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9144000" cy="566928"/>
          </a:xfrm>
          <a:prstGeom prst="rect">
            <a:avLst/>
          </a:prstGeom>
          <a:solidFill>
            <a:srgbClr val="1E3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566928"/>
            <a:ext cx="9144000" cy="32004"/>
          </a:xfrm>
          <a:prstGeom prst="rect">
            <a:avLst/>
          </a:prstGeom>
          <a:solidFill>
            <a:srgbClr val="C530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09728" y="82296"/>
            <a:ext cx="1417320" cy="420624"/>
          </a:xfrm>
          <a:prstGeom prst="rect">
            <a:avLst/>
          </a:prstGeom>
          <a:noFill/>
        </p:spPr>
        <p:txBody>
          <a:bodyPr wrap="none" anchor="t">
            <a:spAutoFit/>
          </a:bodyPr>
          <a:lstStyle/>
          <a:p>
            <a:pPr algn="l"/>
            <a:r>
              <a:rPr sz="700" b="1" i="0">
                <a:solidFill>
                  <a:srgbClr val="FFFFFF"/>
                </a:solidFill>
                <a:latin typeface="Liberation Serif"/>
              </a:rPr>
              <a:t>КЕЙС A</a:t>
            </a:r>
          </a:p>
        </p:txBody>
      </p:sp>
      <p:sp>
        <p:nvSpPr>
          <p:cNvPr id="6" name="Rectangle 5"/>
          <p:cNvSpPr/>
          <p:nvPr/>
        </p:nvSpPr>
        <p:spPr>
          <a:xfrm>
            <a:off x="1572768" y="100584"/>
            <a:ext cx="18288" cy="36576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618488" y="82296"/>
            <a:ext cx="7406640" cy="420624"/>
          </a:xfrm>
          <a:prstGeom prst="rect">
            <a:avLst/>
          </a:prstGeom>
          <a:noFill/>
        </p:spPr>
        <p:txBody>
          <a:bodyPr wrap="none" anchor="t">
            <a:spAutoFit/>
          </a:bodyPr>
          <a:lstStyle/>
          <a:p>
            <a:pPr algn="l"/>
            <a:r>
              <a:rPr sz="1350" b="1" i="0">
                <a:solidFill>
                  <a:srgbClr val="FFFFFF"/>
                </a:solidFill>
                <a:latin typeface="Liberation Serif"/>
              </a:rPr>
              <a:t>Реальные разливы: Кольский залив и Норильск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229600" y="4864608"/>
            <a:ext cx="868680" cy="237744"/>
          </a:xfrm>
          <a:prstGeom prst="rect">
            <a:avLst/>
          </a:prstGeom>
          <a:noFill/>
        </p:spPr>
        <p:txBody>
          <a:bodyPr wrap="none" anchor="t">
            <a:spAutoFit/>
          </a:bodyPr>
          <a:lstStyle/>
          <a:p>
            <a:pPr algn="r"/>
            <a:r>
              <a:rPr sz="700" b="0" i="0">
                <a:solidFill>
                  <a:srgbClr val="4A5568"/>
                </a:solidFill>
                <a:latin typeface="Liberation Serif"/>
              </a:rPr>
              <a:t>6 / 11</a:t>
            </a:r>
          </a:p>
        </p:txBody>
      </p:sp>
      <p:sp>
        <p:nvSpPr>
          <p:cNvPr id="9" name="Rectangle 8"/>
          <p:cNvSpPr/>
          <p:nvPr/>
        </p:nvSpPr>
        <p:spPr>
          <a:xfrm>
            <a:off x="274320" y="841248"/>
            <a:ext cx="4315968" cy="3977639"/>
          </a:xfrm>
          <a:prstGeom prst="rect">
            <a:avLst/>
          </a:prstGeom>
          <a:solidFill>
            <a:srgbClr val="FFFB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274320" y="841248"/>
            <a:ext cx="4315968" cy="310896"/>
          </a:xfrm>
          <a:prstGeom prst="rect">
            <a:avLst/>
          </a:prstGeom>
          <a:solidFill>
            <a:srgbClr val="92400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384048" y="877824"/>
            <a:ext cx="411480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950" b="1" i="0">
                <a:solidFill>
                  <a:srgbClr val="FFFFFF"/>
                </a:solidFill>
                <a:latin typeface="Liberation Serif"/>
              </a:rPr>
              <a:t>Кольский залив — август 2024</a:t>
            </a:r>
          </a:p>
        </p:txBody>
      </p:sp>
      <p:pic>
        <p:nvPicPr>
          <p:cNvPr id="12" name="Picture 11" descr="fig_kola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13963" y="1207008"/>
            <a:ext cx="3436680" cy="1481328"/>
          </a:xfrm>
          <a:prstGeom prst="rect">
            <a:avLst/>
          </a:prstGeom>
        </p:spPr>
      </p:pic>
      <p:sp>
        <p:nvSpPr>
          <p:cNvPr id="13" name="TextBox 12"/>
          <p:cNvSpPr txBox="1"/>
          <p:nvPr/>
        </p:nvSpPr>
        <p:spPr>
          <a:xfrm>
            <a:off x="384048" y="2724912"/>
            <a:ext cx="41148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850" b="0" i="0">
                <a:solidFill>
                  <a:srgbClr val="4A5568"/>
                </a:solidFill>
                <a:latin typeface="Liberation Serif"/>
              </a:rPr>
              <a:t>Утечка при бункеровке (11 авг.); съёмка 18 авг. — пятно ≈ 14 % акватории.</a:t>
            </a:r>
          </a:p>
        </p:txBody>
      </p:sp>
      <p:sp>
        <p:nvSpPr>
          <p:cNvPr id="14" name="Rectangle 13"/>
          <p:cNvSpPr/>
          <p:nvPr/>
        </p:nvSpPr>
        <p:spPr>
          <a:xfrm>
            <a:off x="384048" y="3054096"/>
            <a:ext cx="4078224" cy="274320"/>
          </a:xfrm>
          <a:prstGeom prst="rect">
            <a:avLst/>
          </a:prstGeom>
          <a:solidFill>
            <a:srgbClr val="2C528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475488" y="3081528"/>
            <a:ext cx="3913632" cy="21945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850" b="1" i="0">
                <a:solidFill>
                  <a:srgbClr val="FFFFFF"/>
                </a:solidFill>
                <a:latin typeface="Liberation Serif"/>
              </a:rPr>
              <a:t>Двойная проверка — это НЕ ложная цель</a:t>
            </a:r>
          </a:p>
        </p:txBody>
      </p:sp>
      <p:sp>
        <p:nvSpPr>
          <p:cNvPr id="16" name="Rectangle 15"/>
          <p:cNvSpPr/>
          <p:nvPr/>
        </p:nvSpPr>
        <p:spPr>
          <a:xfrm>
            <a:off x="384048" y="3346704"/>
            <a:ext cx="4078224" cy="274320"/>
          </a:xfrm>
          <a:prstGeom prst="rect">
            <a:avLst/>
          </a:prstGeom>
          <a:solidFill>
            <a:srgbClr val="F8FA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493776" y="3387852"/>
            <a:ext cx="3913632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850" b="1">
                <a:solidFill>
                  <a:srgbClr val="2C5282"/>
                </a:solidFill>
                <a:latin typeface="Liberation Serif"/>
              </a:rPr>
              <a:t>ERA5 (реанализ погоды ECMWF):  </a:t>
            </a:r>
            <a:r>
              <a:rPr sz="850">
                <a:solidFill>
                  <a:srgbClr val="4A5568"/>
                </a:solidFill>
                <a:latin typeface="Liberation Serif"/>
              </a:rPr>
              <a:t>ветер 4.8 м/с в диапазоне 3–9 м/с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84048" y="3639312"/>
            <a:ext cx="4078224" cy="274320"/>
          </a:xfrm>
          <a:prstGeom prst="rect">
            <a:avLst/>
          </a:prstGeom>
          <a:solidFill>
            <a:srgbClr val="F0F4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93776" y="3680460"/>
            <a:ext cx="3913632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850" b="1">
                <a:solidFill>
                  <a:srgbClr val="2C5282"/>
                </a:solidFill>
                <a:latin typeface="Liberation Serif"/>
              </a:rPr>
              <a:t>AIS (опознавание судов):  </a:t>
            </a:r>
            <a:r>
              <a:rPr sz="850">
                <a:solidFill>
                  <a:srgbClr val="4A5568"/>
                </a:solidFill>
                <a:latin typeface="Liberation Serif"/>
              </a:rPr>
              <a:t>судно ≤ 5 км и ≤ 24 ч от пятна</a:t>
            </a:r>
          </a:p>
        </p:txBody>
      </p:sp>
      <p:sp>
        <p:nvSpPr>
          <p:cNvPr id="20" name="Rectangle 19"/>
          <p:cNvSpPr/>
          <p:nvPr/>
        </p:nvSpPr>
        <p:spPr>
          <a:xfrm>
            <a:off x="384048" y="3968496"/>
            <a:ext cx="4078224" cy="512064"/>
          </a:xfrm>
          <a:prstGeom prst="rect">
            <a:avLst/>
          </a:prstGeom>
          <a:solidFill>
            <a:srgbClr val="F0FF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384048" y="3968496"/>
            <a:ext cx="109728" cy="512064"/>
          </a:xfrm>
          <a:prstGeom prst="rect">
            <a:avLst/>
          </a:prstGeom>
          <a:solidFill>
            <a:srgbClr val="27674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566928" y="4005072"/>
            <a:ext cx="3840480" cy="20116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800" b="1" i="0">
                <a:solidFill>
                  <a:srgbClr val="276749"/>
                </a:solidFill>
                <a:latin typeface="Liberation Serif"/>
              </a:rPr>
              <a:t>Результат модели на Кольском заливе: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566928" y="4206240"/>
            <a:ext cx="3840480" cy="23774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900" b="1" i="0">
                <a:solidFill>
                  <a:srgbClr val="1E3A5F"/>
                </a:solidFill>
                <a:latin typeface="Liberation Serif"/>
              </a:rPr>
              <a:t>F1 = 0.89   mIoU = 0.82   Accuracy = 95.8 %   FP = 1.4 %</a:t>
            </a:r>
          </a:p>
        </p:txBody>
      </p:sp>
      <p:sp>
        <p:nvSpPr>
          <p:cNvPr id="24" name="Rectangle 23"/>
          <p:cNvSpPr/>
          <p:nvPr/>
        </p:nvSpPr>
        <p:spPr>
          <a:xfrm>
            <a:off x="4736592" y="841248"/>
            <a:ext cx="4133087" cy="3977639"/>
          </a:xfrm>
          <a:prstGeom prst="rect">
            <a:avLst/>
          </a:prstGeom>
          <a:solidFill>
            <a:srgbClr val="FFF5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4736592" y="841248"/>
            <a:ext cx="4133087" cy="310896"/>
          </a:xfrm>
          <a:prstGeom prst="rect">
            <a:avLst/>
          </a:prstGeom>
          <a:solidFill>
            <a:srgbClr val="C530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4846320" y="877824"/>
            <a:ext cx="393192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950" b="1" i="0">
                <a:solidFill>
                  <a:srgbClr val="FFFFFF"/>
                </a:solidFill>
                <a:latin typeface="Liberation Serif"/>
              </a:rPr>
              <a:t>Норильск — 29 мая 2020</a:t>
            </a:r>
          </a:p>
        </p:txBody>
      </p:sp>
      <p:pic>
        <p:nvPicPr>
          <p:cNvPr id="27" name="Picture 26" descr="fig_norilsk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773168" y="1280863"/>
            <a:ext cx="4023360" cy="1918833"/>
          </a:xfrm>
          <a:prstGeom prst="rect">
            <a:avLst/>
          </a:prstGeom>
        </p:spPr>
      </p:pic>
      <p:sp>
        <p:nvSpPr>
          <p:cNvPr id="28" name="TextBox 27"/>
          <p:cNvSpPr txBox="1"/>
          <p:nvPr/>
        </p:nvSpPr>
        <p:spPr>
          <a:xfrm>
            <a:off x="4846320" y="3337560"/>
            <a:ext cx="3931920" cy="7315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900" b="0" i="0">
                <a:solidFill>
                  <a:srgbClr val="4A5568"/>
                </a:solidFill>
                <a:latin typeface="Liberation Serif"/>
              </a:rPr>
              <a:t>Авария ТЭЦ-3 НТЭК: ≈ 21 000 т</a:t>
            </a:r>
          </a:p>
          <a:p>
            <a:pPr algn="l"/>
            <a:r>
              <a:rPr sz="900" b="0" i="0">
                <a:solidFill>
                  <a:srgbClr val="4A5568"/>
                </a:solidFill>
                <a:latin typeface="Liberation Serif"/>
              </a:rPr>
              <a:t>дизтоплива в реки Далдыкан и Амбарная.</a:t>
            </a:r>
          </a:p>
          <a:p>
            <a:pPr algn="l"/>
            <a:r>
              <a:rPr sz="900" b="0" i="0">
                <a:solidFill>
                  <a:srgbClr val="4A5568"/>
                </a:solidFill>
                <a:latin typeface="Liberation Serif"/>
              </a:rPr>
              <a:t>Штраф — 146 млрд руб.</a:t>
            </a:r>
          </a:p>
        </p:txBody>
      </p:sp>
      <p:sp>
        <p:nvSpPr>
          <p:cNvPr id="29" name="Rectangle 28"/>
          <p:cNvSpPr/>
          <p:nvPr/>
        </p:nvSpPr>
        <p:spPr>
          <a:xfrm>
            <a:off x="4736592" y="4133087"/>
            <a:ext cx="4133087" cy="347472"/>
          </a:xfrm>
          <a:prstGeom prst="rect">
            <a:avLst/>
          </a:prstGeom>
          <a:solidFill>
            <a:srgbClr val="F0F4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4846320" y="4169663"/>
            <a:ext cx="393192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800" b="0" i="1">
                <a:solidFill>
                  <a:srgbClr val="C53030"/>
                </a:solidFill>
                <a:latin typeface="Liberation Serif"/>
              </a:rPr>
              <a:t>Мониторинг вёлся оптикой Sentinel-2 (разлив на суше);</a:t>
            </a:r>
          </a:p>
          <a:p>
            <a:pPr algn="l"/>
            <a:r>
              <a:rPr sz="800" b="0" i="1">
                <a:solidFill>
                  <a:srgbClr val="C53030"/>
                </a:solidFill>
                <a:latin typeface="Liberation Serif"/>
              </a:rPr>
              <a:t>радар фиксирует ледовую обстановку, не плёнку.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109728" y="4873752"/>
            <a:ext cx="7863840" cy="219456"/>
          </a:xfrm>
          <a:prstGeom prst="rect">
            <a:avLst/>
          </a:prstGeom>
          <a:noFill/>
        </p:spPr>
        <p:txBody>
          <a:bodyPr wrap="none" anchor="t">
            <a:spAutoFit/>
          </a:bodyPr>
          <a:lstStyle/>
          <a:p>
            <a:pPr algn="l"/>
            <a:r>
              <a:rPr sz="700" b="0" i="1">
                <a:solidFill>
                  <a:srgbClr val="4A5568"/>
                </a:solidFill>
                <a:latin typeface="Liberation Serif"/>
              </a:rPr>
              <a:t>Источник: Sentinel-1 (ESA); ERA5 (ECMWF); AIS; Росприроднадзор (2020). Снимок Кольского — иллюстрация выхода модели</a:t>
            </a:r>
          </a:p>
        </p:txBody>
      </p:sp>
    </p:spTree>
  </p:cSld>
  <p:clrMapOvr>
    <a:masterClrMapping/>
  </p:clrMapOvr>
  <p:transition spd="med">
    <p:fade/>
  </p:transition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9144000" cy="566928"/>
          </a:xfrm>
          <a:prstGeom prst="rect">
            <a:avLst/>
          </a:prstGeom>
          <a:solidFill>
            <a:srgbClr val="1E3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566928"/>
            <a:ext cx="9144000" cy="32004"/>
          </a:xfrm>
          <a:prstGeom prst="rect">
            <a:avLst/>
          </a:prstGeom>
          <a:solidFill>
            <a:srgbClr val="C530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09728" y="82296"/>
            <a:ext cx="1417320" cy="420624"/>
          </a:xfrm>
          <a:prstGeom prst="rect">
            <a:avLst/>
          </a:prstGeom>
          <a:noFill/>
        </p:spPr>
        <p:txBody>
          <a:bodyPr wrap="none" anchor="t">
            <a:spAutoFit/>
          </a:bodyPr>
          <a:lstStyle/>
          <a:p>
            <a:pPr algn="l"/>
            <a:r>
              <a:rPr sz="700" b="1" i="0">
                <a:solidFill>
                  <a:srgbClr val="FFFFFF"/>
                </a:solidFill>
                <a:latin typeface="Liberation Serif"/>
              </a:rPr>
              <a:t>КЕЙС B</a:t>
            </a:r>
          </a:p>
        </p:txBody>
      </p:sp>
      <p:sp>
        <p:nvSpPr>
          <p:cNvPr id="6" name="Rectangle 5"/>
          <p:cNvSpPr/>
          <p:nvPr/>
        </p:nvSpPr>
        <p:spPr>
          <a:xfrm>
            <a:off x="1572768" y="100584"/>
            <a:ext cx="18288" cy="36576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618488" y="82296"/>
            <a:ext cx="7406640" cy="420624"/>
          </a:xfrm>
          <a:prstGeom prst="rect">
            <a:avLst/>
          </a:prstGeom>
          <a:noFill/>
        </p:spPr>
        <p:txBody>
          <a:bodyPr wrap="none" anchor="t">
            <a:spAutoFit/>
          </a:bodyPr>
          <a:lstStyle/>
          <a:p>
            <a:pPr algn="l"/>
            <a:r>
              <a:rPr sz="1350" b="1" i="0">
                <a:solidFill>
                  <a:srgbClr val="FFFFFF"/>
                </a:solidFill>
                <a:latin typeface="Liberation Serif"/>
              </a:rPr>
              <a:t>Ложные цели в действии: Варандей, Печенга, Сабетта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229600" y="4864608"/>
            <a:ext cx="868680" cy="237744"/>
          </a:xfrm>
          <a:prstGeom prst="rect">
            <a:avLst/>
          </a:prstGeom>
          <a:noFill/>
        </p:spPr>
        <p:txBody>
          <a:bodyPr wrap="none" anchor="t">
            <a:spAutoFit/>
          </a:bodyPr>
          <a:lstStyle/>
          <a:p>
            <a:pPr algn="r"/>
            <a:r>
              <a:rPr sz="700" b="0" i="0">
                <a:solidFill>
                  <a:srgbClr val="4A5568"/>
                </a:solidFill>
                <a:latin typeface="Liberation Serif"/>
              </a:rPr>
              <a:t>7 / 11</a:t>
            </a:r>
          </a:p>
        </p:txBody>
      </p:sp>
      <p:sp>
        <p:nvSpPr>
          <p:cNvPr id="9" name="Rectangle 8"/>
          <p:cNvSpPr/>
          <p:nvPr/>
        </p:nvSpPr>
        <p:spPr>
          <a:xfrm>
            <a:off x="164592" y="868680"/>
            <a:ext cx="2807208" cy="2468880"/>
          </a:xfrm>
          <a:prstGeom prst="rect">
            <a:avLst/>
          </a:prstGeom>
          <a:solidFill>
            <a:srgbClr val="F8FA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164592" y="868680"/>
            <a:ext cx="2807208" cy="274320"/>
          </a:xfrm>
          <a:prstGeom prst="rect">
            <a:avLst/>
          </a:prstGeom>
          <a:solidFill>
            <a:srgbClr val="2C528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228600" y="896112"/>
            <a:ext cx="2697479" cy="219456"/>
          </a:xfrm>
          <a:prstGeom prst="rect">
            <a:avLst/>
          </a:prstGeom>
          <a:noFill/>
        </p:spPr>
        <p:txBody>
          <a:bodyPr wrap="none" anchor="t">
            <a:spAutoFit/>
          </a:bodyPr>
          <a:lstStyle/>
          <a:p>
            <a:pPr algn="l"/>
            <a:r>
              <a:rPr sz="750" b="1" i="0">
                <a:solidFill>
                  <a:srgbClr val="FFFFFF"/>
                </a:solidFill>
                <a:latin typeface="Liberation Serif"/>
              </a:rPr>
              <a:t>Варандей — нефтеналивной терминал НАО</a:t>
            </a:r>
          </a:p>
        </p:txBody>
      </p:sp>
      <p:pic>
        <p:nvPicPr>
          <p:cNvPr id="12" name="Picture 11" descr="fig_varandey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53745" y="1179576"/>
            <a:ext cx="2628900" cy="2103120"/>
          </a:xfrm>
          <a:prstGeom prst="rect">
            <a:avLst/>
          </a:prstGeom>
        </p:spPr>
      </p:pic>
      <p:sp>
        <p:nvSpPr>
          <p:cNvPr id="13" name="Rectangle 12"/>
          <p:cNvSpPr/>
          <p:nvPr/>
        </p:nvSpPr>
        <p:spPr>
          <a:xfrm>
            <a:off x="3095244" y="868680"/>
            <a:ext cx="2807208" cy="2468880"/>
          </a:xfrm>
          <a:prstGeom prst="rect">
            <a:avLst/>
          </a:prstGeom>
          <a:solidFill>
            <a:srgbClr val="F8FA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3095244" y="868680"/>
            <a:ext cx="2807208" cy="274320"/>
          </a:xfrm>
          <a:prstGeom prst="rect">
            <a:avLst/>
          </a:prstGeom>
          <a:solidFill>
            <a:srgbClr val="1E3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3159252" y="896112"/>
            <a:ext cx="2697479" cy="219456"/>
          </a:xfrm>
          <a:prstGeom prst="rect">
            <a:avLst/>
          </a:prstGeom>
          <a:noFill/>
        </p:spPr>
        <p:txBody>
          <a:bodyPr wrap="none" anchor="t">
            <a:spAutoFit/>
          </a:bodyPr>
          <a:lstStyle/>
          <a:p>
            <a:pPr algn="l"/>
            <a:r>
              <a:rPr sz="750" b="1" i="0">
                <a:solidFill>
                  <a:srgbClr val="FFFFFF"/>
                </a:solidFill>
                <a:latin typeface="Liberation Serif"/>
              </a:rPr>
              <a:t>Печенга — военно-морской порт</a:t>
            </a:r>
          </a:p>
        </p:txBody>
      </p:sp>
      <p:pic>
        <p:nvPicPr>
          <p:cNvPr id="16" name="Picture 15" descr="fig_pechenga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184398" y="1179576"/>
            <a:ext cx="2628900" cy="2103120"/>
          </a:xfrm>
          <a:prstGeom prst="rect">
            <a:avLst/>
          </a:prstGeom>
        </p:spPr>
      </p:pic>
      <p:sp>
        <p:nvSpPr>
          <p:cNvPr id="17" name="Rectangle 16"/>
          <p:cNvSpPr/>
          <p:nvPr/>
        </p:nvSpPr>
        <p:spPr>
          <a:xfrm>
            <a:off x="6025896" y="868680"/>
            <a:ext cx="2807208" cy="2468880"/>
          </a:xfrm>
          <a:prstGeom prst="rect">
            <a:avLst/>
          </a:prstGeom>
          <a:solidFill>
            <a:srgbClr val="F8FA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6025896" y="868680"/>
            <a:ext cx="2807208" cy="274320"/>
          </a:xfrm>
          <a:prstGeom prst="rect">
            <a:avLst/>
          </a:prstGeom>
          <a:solidFill>
            <a:srgbClr val="92400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089904" y="896112"/>
            <a:ext cx="2697479" cy="219456"/>
          </a:xfrm>
          <a:prstGeom prst="rect">
            <a:avLst/>
          </a:prstGeom>
          <a:noFill/>
        </p:spPr>
        <p:txBody>
          <a:bodyPr wrap="none" anchor="t">
            <a:spAutoFit/>
          </a:bodyPr>
          <a:lstStyle/>
          <a:p>
            <a:pPr algn="l"/>
            <a:r>
              <a:rPr sz="750" b="1" i="0">
                <a:solidFill>
                  <a:srgbClr val="FFFFFF"/>
                </a:solidFill>
                <a:latin typeface="Liberation Serif"/>
              </a:rPr>
              <a:t>Сабетта — ворота арктического СПГ</a:t>
            </a:r>
          </a:p>
        </p:txBody>
      </p:sp>
      <p:pic>
        <p:nvPicPr>
          <p:cNvPr id="20" name="Picture 19" descr="fig_sabetta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115049" y="1179576"/>
            <a:ext cx="2628900" cy="2103120"/>
          </a:xfrm>
          <a:prstGeom prst="rect">
            <a:avLst/>
          </a:prstGeom>
        </p:spPr>
      </p:pic>
      <p:sp>
        <p:nvSpPr>
          <p:cNvPr id="21" name="Rectangle 20"/>
          <p:cNvSpPr/>
          <p:nvPr/>
        </p:nvSpPr>
        <p:spPr>
          <a:xfrm>
            <a:off x="164592" y="3456432"/>
            <a:ext cx="8814816" cy="1298448"/>
          </a:xfrm>
          <a:prstGeom prst="rect">
            <a:avLst/>
          </a:prstGeom>
          <a:solidFill>
            <a:srgbClr val="F0F4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164592" y="3456432"/>
            <a:ext cx="109728" cy="1298448"/>
          </a:xfrm>
          <a:prstGeom prst="rect">
            <a:avLst/>
          </a:prstGeom>
          <a:solidFill>
            <a:srgbClr val="D9770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384048" y="3511296"/>
            <a:ext cx="416052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900" b="1" i="0">
                <a:solidFill>
                  <a:srgbClr val="92400E"/>
                </a:solidFill>
                <a:latin typeface="Liberation Serif"/>
              </a:rPr>
              <a:t>ТЁМНЫЕ ПЯТНА НА НОВЫХ ПОРТАХ — НЕ ВСЕГДА НЕФТЬ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384048" y="3822191"/>
            <a:ext cx="4160520" cy="85953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900" b="0" i="0">
                <a:solidFill>
                  <a:srgbClr val="4A5568"/>
                </a:solidFill>
                <a:latin typeface="Liberation Serif"/>
              </a:rPr>
              <a:t>Молодой лёд (жировой, нилас, шуга) гасит рябь</a:t>
            </a:r>
          </a:p>
          <a:p>
            <a:pPr algn="l"/>
            <a:r>
              <a:rPr sz="900" b="0" i="0">
                <a:solidFill>
                  <a:srgbClr val="4A5568"/>
                </a:solidFill>
                <a:latin typeface="Liberation Serif"/>
              </a:rPr>
              <a:t>так же, как нефть — эффект похожий, но источник другой.</a:t>
            </a:r>
          </a:p>
          <a:p>
            <a:pPr algn="l"/>
            <a:r>
              <a:rPr sz="900" b="0" i="0">
                <a:solidFill>
                  <a:srgbClr val="4A5568"/>
                </a:solidFill>
                <a:latin typeface="Liberation Serif"/>
              </a:rPr>
              <a:t>Зоны штиля и биоплёнки — та же картина.</a:t>
            </a:r>
          </a:p>
          <a:p>
            <a:pPr algn="l"/>
            <a:r>
              <a:rPr sz="900" b="0" i="0">
                <a:solidFill>
                  <a:srgbClr val="4A5568"/>
                </a:solidFill>
                <a:latin typeface="Liberation Serif"/>
              </a:rPr>
              <a:t>Вывод: 3-классовая модель (лёд = отдельный класс)</a:t>
            </a:r>
          </a:p>
          <a:p>
            <a:pPr algn="l"/>
            <a:r>
              <a:rPr sz="900" b="0" i="0">
                <a:solidFill>
                  <a:srgbClr val="4A5568"/>
                </a:solidFill>
                <a:latin typeface="Liberation Serif"/>
              </a:rPr>
              <a:t>снижает ложные тревоги.</a:t>
            </a:r>
          </a:p>
        </p:txBody>
      </p:sp>
      <p:sp>
        <p:nvSpPr>
          <p:cNvPr id="25" name="Rectangle 24"/>
          <p:cNvSpPr/>
          <p:nvPr/>
        </p:nvSpPr>
        <p:spPr>
          <a:xfrm>
            <a:off x="4663440" y="3493008"/>
            <a:ext cx="4206240" cy="1170432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4754880" y="3529584"/>
            <a:ext cx="4023360" cy="23774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900" b="1" i="0">
                <a:solidFill>
                  <a:srgbClr val="1E3A5F"/>
                </a:solidFill>
                <a:latin typeface="Liberation Serif"/>
              </a:rPr>
              <a:t>Рост ложных тревог при переносе модели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4754880" y="3803904"/>
            <a:ext cx="1508760" cy="24688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950" b="1" i="0">
                <a:solidFill>
                  <a:srgbClr val="276749"/>
                </a:solidFill>
                <a:latin typeface="Liberation Serif"/>
              </a:rPr>
              <a:t>Кольский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6291072" y="3803904"/>
            <a:ext cx="1051560" cy="24688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950" b="0" i="0">
                <a:solidFill>
                  <a:srgbClr val="1E3A5F"/>
                </a:solidFill>
                <a:latin typeface="Liberation Serif"/>
              </a:rPr>
              <a:t>F1 = 0.89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7406640" y="3803904"/>
            <a:ext cx="1417320" cy="24688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950" b="0" i="0">
                <a:solidFill>
                  <a:srgbClr val="4A5568"/>
                </a:solidFill>
                <a:latin typeface="Liberation Serif"/>
              </a:rPr>
              <a:t>FP = 1.4 %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4754880" y="4078224"/>
            <a:ext cx="1508760" cy="24688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950" b="1" i="0">
                <a:solidFill>
                  <a:srgbClr val="2C5282"/>
                </a:solidFill>
                <a:latin typeface="Liberation Serif"/>
              </a:rPr>
              <a:t>Варандей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6291072" y="4078224"/>
            <a:ext cx="1051560" cy="24688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950" b="0" i="0">
                <a:solidFill>
                  <a:srgbClr val="1E3A5F"/>
                </a:solidFill>
                <a:latin typeface="Liberation Serif"/>
              </a:rPr>
              <a:t>F1 = 0.84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7406640" y="4078224"/>
            <a:ext cx="1417320" cy="24688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950" b="0" i="0">
                <a:solidFill>
                  <a:srgbClr val="4A5568"/>
                </a:solidFill>
                <a:latin typeface="Liberation Serif"/>
              </a:rPr>
              <a:t>FP = 1.4 %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4754880" y="4352544"/>
            <a:ext cx="1508760" cy="24688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950" b="1" i="0">
                <a:solidFill>
                  <a:srgbClr val="D97706"/>
                </a:solidFill>
                <a:latin typeface="Liberation Serif"/>
              </a:rPr>
              <a:t>Сабетта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6291072" y="4352544"/>
            <a:ext cx="1051560" cy="24688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950" b="0" i="0">
                <a:solidFill>
                  <a:srgbClr val="1E3A5F"/>
                </a:solidFill>
                <a:latin typeface="Liberation Serif"/>
              </a:rPr>
              <a:t>F1 = 0.76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7406640" y="4352544"/>
            <a:ext cx="1417320" cy="24688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950" b="0" i="0">
                <a:solidFill>
                  <a:srgbClr val="92400E"/>
                </a:solidFill>
                <a:latin typeface="Liberation Serif"/>
              </a:rPr>
              <a:t>FP = 6.2 %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109728" y="4873752"/>
            <a:ext cx="7863840" cy="219456"/>
          </a:xfrm>
          <a:prstGeom prst="rect">
            <a:avLst/>
          </a:prstGeom>
          <a:noFill/>
        </p:spPr>
        <p:txBody>
          <a:bodyPr wrap="none" anchor="t">
            <a:spAutoFit/>
          </a:bodyPr>
          <a:lstStyle/>
          <a:p>
            <a:pPr algn="l"/>
            <a:r>
              <a:rPr sz="700" b="0" i="1">
                <a:solidFill>
                  <a:srgbClr val="4A5568"/>
                </a:solidFill>
                <a:latin typeface="Liberation Serif"/>
              </a:rPr>
              <a:t>Источник: Sentinel-1 IW GRD, ESA Copernicus (2022–2025). FP — доля ложных срабатываний (false positives)</a:t>
            </a:r>
          </a:p>
        </p:txBody>
      </p:sp>
    </p:spTree>
  </p:cSld>
  <p:clrMapOvr>
    <a:masterClrMapping/>
  </p:clrMapOvr>
  <p:transition spd="med">
    <p:fade/>
  </p:transition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9144000" cy="566928"/>
          </a:xfrm>
          <a:prstGeom prst="rect">
            <a:avLst/>
          </a:prstGeom>
          <a:solidFill>
            <a:srgbClr val="1E3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566928"/>
            <a:ext cx="9144000" cy="32004"/>
          </a:xfrm>
          <a:prstGeom prst="rect">
            <a:avLst/>
          </a:prstGeom>
          <a:solidFill>
            <a:srgbClr val="C530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09728" y="82296"/>
            <a:ext cx="1417320" cy="420624"/>
          </a:xfrm>
          <a:prstGeom prst="rect">
            <a:avLst/>
          </a:prstGeom>
          <a:noFill/>
        </p:spPr>
        <p:txBody>
          <a:bodyPr wrap="none" anchor="t">
            <a:spAutoFit/>
          </a:bodyPr>
          <a:lstStyle/>
          <a:p>
            <a:pPr algn="l"/>
            <a:r>
              <a:rPr sz="700" b="1" i="0">
                <a:solidFill>
                  <a:srgbClr val="FFFFFF"/>
                </a:solidFill>
                <a:latin typeface="Liberation Serif"/>
              </a:rPr>
              <a:t>МОДЕЛЬ</a:t>
            </a:r>
          </a:p>
        </p:txBody>
      </p:sp>
      <p:sp>
        <p:nvSpPr>
          <p:cNvPr id="6" name="Rectangle 5"/>
          <p:cNvSpPr/>
          <p:nvPr/>
        </p:nvSpPr>
        <p:spPr>
          <a:xfrm>
            <a:off x="1572768" y="100584"/>
            <a:ext cx="18288" cy="36576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618488" y="82296"/>
            <a:ext cx="7406640" cy="420624"/>
          </a:xfrm>
          <a:prstGeom prst="rect">
            <a:avLst/>
          </a:prstGeom>
          <a:noFill/>
        </p:spPr>
        <p:txBody>
          <a:bodyPr wrap="none" anchor="t">
            <a:spAutoFit/>
          </a:bodyPr>
          <a:lstStyle/>
          <a:p>
            <a:pPr algn="l"/>
            <a:r>
              <a:rPr sz="1350" b="1" i="0">
                <a:solidFill>
                  <a:srgbClr val="FFFFFF"/>
                </a:solidFill>
                <a:latin typeface="Liberation Serif"/>
              </a:rPr>
              <a:t>Нейросеть DeepLabV3+, адаптированная под SAR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229600" y="4864608"/>
            <a:ext cx="868680" cy="237744"/>
          </a:xfrm>
          <a:prstGeom prst="rect">
            <a:avLst/>
          </a:prstGeom>
          <a:noFill/>
        </p:spPr>
        <p:txBody>
          <a:bodyPr wrap="none" anchor="t">
            <a:spAutoFit/>
          </a:bodyPr>
          <a:lstStyle/>
          <a:p>
            <a:pPr algn="r"/>
            <a:r>
              <a:rPr sz="700" b="0" i="0">
                <a:solidFill>
                  <a:srgbClr val="4A5568"/>
                </a:solidFill>
                <a:latin typeface="Liberation Serif"/>
              </a:rPr>
              <a:t>8 / 11</a:t>
            </a:r>
          </a:p>
        </p:txBody>
      </p:sp>
      <p:sp>
        <p:nvSpPr>
          <p:cNvPr id="9" name="Rectangle 8"/>
          <p:cNvSpPr/>
          <p:nvPr/>
        </p:nvSpPr>
        <p:spPr>
          <a:xfrm>
            <a:off x="365760" y="868680"/>
            <a:ext cx="2788920" cy="2788920"/>
          </a:xfrm>
          <a:prstGeom prst="rect">
            <a:avLst/>
          </a:prstGeom>
          <a:solidFill>
            <a:srgbClr val="F8FA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365760" y="868680"/>
            <a:ext cx="2788920" cy="310896"/>
          </a:xfrm>
          <a:prstGeom prst="rect">
            <a:avLst/>
          </a:prstGeom>
          <a:solidFill>
            <a:srgbClr val="1E3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57200" y="905256"/>
            <a:ext cx="2624327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950" b="1" i="0">
                <a:solidFill>
                  <a:srgbClr val="FFFFFF"/>
                </a:solidFill>
                <a:latin typeface="Liberation Serif"/>
              </a:rPr>
              <a:t>Энкодер ResNet-50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93776" y="1298448"/>
            <a:ext cx="2569463" cy="23317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950" b="0" i="0">
                <a:solidFill>
                  <a:srgbClr val="4A5568"/>
                </a:solidFill>
                <a:latin typeface="Liberation Serif"/>
              </a:rPr>
              <a:t>Предобучен на ImageNet</a:t>
            </a:r>
          </a:p>
          <a:p>
            <a:pPr algn="l"/>
            <a:r>
              <a:rPr sz="950" b="0" i="0">
                <a:solidFill>
                  <a:srgbClr val="4A5568"/>
                </a:solidFill>
                <a:latin typeface="Liberation Serif"/>
              </a:rPr>
              <a:t/>
            </a:r>
          </a:p>
          <a:p>
            <a:pPr algn="l"/>
            <a:r>
              <a:rPr sz="950" b="0" i="0">
                <a:solidFill>
                  <a:srgbClr val="4A5568"/>
                </a:solidFill>
                <a:latin typeface="Liberation Serif"/>
              </a:rPr>
              <a:t>•  вход перестроен под 1 канал (VV, дБ)</a:t>
            </a:r>
          </a:p>
          <a:p>
            <a:pPr algn="l"/>
            <a:r>
              <a:rPr sz="950" b="0" i="0">
                <a:solidFill>
                  <a:srgbClr val="4A5568"/>
                </a:solidFill>
                <a:latin typeface="Liberation Serif"/>
              </a:rPr>
              <a:t>•  дилатированные свёртки (stride 16)</a:t>
            </a:r>
          </a:p>
          <a:p>
            <a:pPr algn="l"/>
            <a:r>
              <a:rPr sz="950" b="0" i="0">
                <a:solidFill>
                  <a:srgbClr val="4A5568"/>
                </a:solidFill>
                <a:latin typeface="Liberation Serif"/>
              </a:rPr>
              <a:t>•  5 уровней, 64–2048 карт признаков</a:t>
            </a:r>
          </a:p>
        </p:txBody>
      </p:sp>
      <p:sp>
        <p:nvSpPr>
          <p:cNvPr id="13" name="Rectangle 12"/>
          <p:cNvSpPr/>
          <p:nvPr/>
        </p:nvSpPr>
        <p:spPr>
          <a:xfrm>
            <a:off x="3314699" y="868680"/>
            <a:ext cx="2788920" cy="2788920"/>
          </a:xfrm>
          <a:prstGeom prst="rect">
            <a:avLst/>
          </a:prstGeom>
          <a:solidFill>
            <a:srgbClr val="F8FA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3314699" y="868680"/>
            <a:ext cx="2788920" cy="310896"/>
          </a:xfrm>
          <a:prstGeom prst="rect">
            <a:avLst/>
          </a:prstGeom>
          <a:solidFill>
            <a:srgbClr val="2C528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3406139" y="905256"/>
            <a:ext cx="2624327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950" b="1" i="0">
                <a:solidFill>
                  <a:srgbClr val="FFFFFF"/>
                </a:solidFill>
                <a:latin typeface="Liberation Serif"/>
              </a:rPr>
              <a:t>ASPP — многомасштабный контекст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442715" y="1298448"/>
            <a:ext cx="2569463" cy="23317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950" b="0" i="0">
                <a:solidFill>
                  <a:srgbClr val="4A5568"/>
                </a:solidFill>
                <a:latin typeface="Liberation Serif"/>
              </a:rPr>
              <a:t>Atrous Spatial Pyramid Pooling</a:t>
            </a:r>
          </a:p>
          <a:p>
            <a:pPr algn="l"/>
            <a:r>
              <a:rPr sz="950" b="0" i="0">
                <a:solidFill>
                  <a:srgbClr val="4A5568"/>
                </a:solidFill>
                <a:latin typeface="Liberation Serif"/>
              </a:rPr>
              <a:t/>
            </a:r>
          </a:p>
          <a:p>
            <a:pPr algn="l"/>
            <a:r>
              <a:rPr sz="950" b="0" i="0">
                <a:solidFill>
                  <a:srgbClr val="4A5568"/>
                </a:solidFill>
                <a:latin typeface="Liberation Serif"/>
              </a:rPr>
              <a:t>•  ветви r = 6, 12, 18</a:t>
            </a:r>
          </a:p>
          <a:p>
            <a:pPr algn="l"/>
            <a:r>
              <a:rPr sz="950" b="0" i="0">
                <a:solidFill>
                  <a:srgbClr val="4A5568"/>
                </a:solidFill>
                <a:latin typeface="Liberation Serif"/>
              </a:rPr>
              <a:t>•  глобальный average pooling</a:t>
            </a:r>
          </a:p>
          <a:p>
            <a:pPr algn="l"/>
            <a:r>
              <a:rPr sz="950" b="0" i="0">
                <a:solidFill>
                  <a:srgbClr val="4A5568"/>
                </a:solidFill>
                <a:latin typeface="Liberation Serif"/>
              </a:rPr>
              <a:t>•  от пикселя до крупного пятна</a:t>
            </a:r>
          </a:p>
        </p:txBody>
      </p:sp>
      <p:sp>
        <p:nvSpPr>
          <p:cNvPr id="17" name="Rectangle 16"/>
          <p:cNvSpPr/>
          <p:nvPr/>
        </p:nvSpPr>
        <p:spPr>
          <a:xfrm>
            <a:off x="6263640" y="868680"/>
            <a:ext cx="2788920" cy="2788920"/>
          </a:xfrm>
          <a:prstGeom prst="rect">
            <a:avLst/>
          </a:prstGeom>
          <a:solidFill>
            <a:srgbClr val="F8FA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6263640" y="868680"/>
            <a:ext cx="2788920" cy="310896"/>
          </a:xfrm>
          <a:prstGeom prst="rect">
            <a:avLst/>
          </a:prstGeom>
          <a:solidFill>
            <a:srgbClr val="27674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355079" y="905256"/>
            <a:ext cx="2624327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950" b="1" i="0">
                <a:solidFill>
                  <a:srgbClr val="FFFFFF"/>
                </a:solidFill>
                <a:latin typeface="Liberation Serif"/>
              </a:rPr>
              <a:t>Декодер + внимание scSE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391655" y="1298448"/>
            <a:ext cx="2569463" cy="23317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950" b="0" i="0">
                <a:solidFill>
                  <a:srgbClr val="4A5568"/>
                </a:solidFill>
                <a:latin typeface="Liberation Serif"/>
              </a:rPr>
              <a:t>3 класса: вода · нефть · лёд+суша</a:t>
            </a:r>
          </a:p>
          <a:p>
            <a:pPr algn="l"/>
            <a:r>
              <a:rPr sz="950" b="0" i="0">
                <a:solidFill>
                  <a:srgbClr val="4A5568"/>
                </a:solidFill>
                <a:latin typeface="Liberation Serif"/>
              </a:rPr>
              <a:t/>
            </a:r>
          </a:p>
          <a:p>
            <a:pPr algn="l"/>
            <a:r>
              <a:rPr sz="950" b="0" i="0">
                <a:solidFill>
                  <a:srgbClr val="4A5568"/>
                </a:solidFill>
                <a:latin typeface="Liberation Serif"/>
              </a:rPr>
              <a:t>•  scSE подавляет спекл-шум</a:t>
            </a:r>
          </a:p>
          <a:p>
            <a:pPr algn="l"/>
            <a:r>
              <a:rPr sz="950" b="0" i="0">
                <a:solidFill>
                  <a:srgbClr val="4A5568"/>
                </a:solidFill>
                <a:latin typeface="Liberation Serif"/>
              </a:rPr>
              <a:t>•  усиливает нефтяные пятна</a:t>
            </a:r>
          </a:p>
          <a:p>
            <a:pPr algn="l"/>
            <a:r>
              <a:rPr sz="950" b="0" i="0">
                <a:solidFill>
                  <a:srgbClr val="4A5568"/>
                </a:solidFill>
                <a:latin typeface="Liberation Serif"/>
              </a:rPr>
              <a:t>•  потери Dice-BCE, веса 0.3/9.8/1.2</a:t>
            </a:r>
          </a:p>
        </p:txBody>
      </p:sp>
      <p:sp>
        <p:nvSpPr>
          <p:cNvPr id="21" name="Rectangle 20"/>
          <p:cNvSpPr/>
          <p:nvPr/>
        </p:nvSpPr>
        <p:spPr>
          <a:xfrm>
            <a:off x="365760" y="3822191"/>
            <a:ext cx="8412480" cy="822960"/>
          </a:xfrm>
          <a:prstGeom prst="rect">
            <a:avLst/>
          </a:prstGeom>
          <a:solidFill>
            <a:srgbClr val="EBF4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365760" y="3822191"/>
            <a:ext cx="109728" cy="822960"/>
          </a:xfrm>
          <a:prstGeom prst="rect">
            <a:avLst/>
          </a:prstGeom>
          <a:solidFill>
            <a:srgbClr val="1E3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566928" y="3877056"/>
            <a:ext cx="1828800" cy="23774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900" b="1" i="0">
                <a:solidFill>
                  <a:srgbClr val="1E3A5F"/>
                </a:solidFill>
                <a:latin typeface="Liberation Serif"/>
              </a:rPr>
              <a:t>Обучение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566928" y="4114800"/>
            <a:ext cx="822960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000" b="0" i="0">
                <a:solidFill>
                  <a:srgbClr val="4A5568"/>
                </a:solidFill>
                <a:latin typeface="Liberation Serif"/>
              </a:rPr>
              <a:t>AdamW · CosineAnnealing, 78 эпох · батч 16, GPU A100 · аугментация + TTA × 4 · 41.2 млн параметров</a:t>
            </a:r>
          </a:p>
        </p:txBody>
      </p:sp>
    </p:spTree>
  </p:cSld>
  <p:clrMapOvr>
    <a:masterClrMapping/>
  </p:clrMapOvr>
  <p:transition spd="med">
    <p:fade/>
  </p:transition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9144000" cy="566928"/>
          </a:xfrm>
          <a:prstGeom prst="rect">
            <a:avLst/>
          </a:prstGeom>
          <a:solidFill>
            <a:srgbClr val="1E3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566928"/>
            <a:ext cx="9144000" cy="32004"/>
          </a:xfrm>
          <a:prstGeom prst="rect">
            <a:avLst/>
          </a:prstGeom>
          <a:solidFill>
            <a:srgbClr val="C530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09728" y="82296"/>
            <a:ext cx="1417320" cy="420624"/>
          </a:xfrm>
          <a:prstGeom prst="rect">
            <a:avLst/>
          </a:prstGeom>
          <a:noFill/>
        </p:spPr>
        <p:txBody>
          <a:bodyPr wrap="none" anchor="t">
            <a:spAutoFit/>
          </a:bodyPr>
          <a:lstStyle/>
          <a:p>
            <a:pPr algn="l"/>
            <a:r>
              <a:rPr sz="700" b="1" i="0">
                <a:solidFill>
                  <a:srgbClr val="FFFFFF"/>
                </a:solidFill>
                <a:latin typeface="Liberation Serif"/>
              </a:rPr>
              <a:t>РЕЗУЛЬТАТЫ</a:t>
            </a:r>
          </a:p>
        </p:txBody>
      </p:sp>
      <p:sp>
        <p:nvSpPr>
          <p:cNvPr id="6" name="Rectangle 5"/>
          <p:cNvSpPr/>
          <p:nvPr/>
        </p:nvSpPr>
        <p:spPr>
          <a:xfrm>
            <a:off x="1572768" y="100584"/>
            <a:ext cx="18288" cy="36576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618488" y="82296"/>
            <a:ext cx="7406640" cy="420624"/>
          </a:xfrm>
          <a:prstGeom prst="rect">
            <a:avLst/>
          </a:prstGeom>
          <a:noFill/>
        </p:spPr>
        <p:txBody>
          <a:bodyPr wrap="none" anchor="t">
            <a:spAutoFit/>
          </a:bodyPr>
          <a:lstStyle/>
          <a:p>
            <a:pPr algn="l"/>
            <a:r>
              <a:rPr sz="1350" b="1" i="0">
                <a:solidFill>
                  <a:srgbClr val="FFFFFF"/>
                </a:solidFill>
                <a:latin typeface="Liberation Serif"/>
              </a:rPr>
              <a:t>Результаты обучения и метрики качества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229600" y="4864608"/>
            <a:ext cx="868680" cy="237744"/>
          </a:xfrm>
          <a:prstGeom prst="rect">
            <a:avLst/>
          </a:prstGeom>
          <a:noFill/>
        </p:spPr>
        <p:txBody>
          <a:bodyPr wrap="none" anchor="t">
            <a:spAutoFit/>
          </a:bodyPr>
          <a:lstStyle/>
          <a:p>
            <a:pPr algn="r"/>
            <a:r>
              <a:rPr sz="700" b="0" i="0">
                <a:solidFill>
                  <a:srgbClr val="4A5568"/>
                </a:solidFill>
                <a:latin typeface="Liberation Serif"/>
              </a:rPr>
              <a:t>9 / 11</a:t>
            </a:r>
          </a:p>
        </p:txBody>
      </p:sp>
      <p:sp>
        <p:nvSpPr>
          <p:cNvPr id="9" name="Rectangle 8"/>
          <p:cNvSpPr/>
          <p:nvPr/>
        </p:nvSpPr>
        <p:spPr>
          <a:xfrm>
            <a:off x="228600" y="868680"/>
            <a:ext cx="5074920" cy="3931920"/>
          </a:xfrm>
          <a:prstGeom prst="rect">
            <a:avLst/>
          </a:prstGeom>
          <a:solidFill>
            <a:srgbClr val="F8FA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228600" y="868680"/>
            <a:ext cx="5074920" cy="274320"/>
          </a:xfrm>
          <a:prstGeom prst="rect">
            <a:avLst/>
          </a:prstGeom>
          <a:solidFill>
            <a:srgbClr val="1E3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320040" y="905256"/>
            <a:ext cx="4892040" cy="23774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850" b="1" i="0">
                <a:solidFill>
                  <a:srgbClr val="FFFFFF"/>
                </a:solidFill>
                <a:latin typeface="Liberation Serif"/>
              </a:rPr>
              <a:t>Кривые обучения (78 эпох): потери и mIoU</a:t>
            </a:r>
          </a:p>
        </p:txBody>
      </p:sp>
      <p:pic>
        <p:nvPicPr>
          <p:cNvPr id="12" name="Picture 11" descr="fig_training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65176" y="1669569"/>
            <a:ext cx="5001768" cy="1955236"/>
          </a:xfrm>
          <a:prstGeom prst="rect">
            <a:avLst/>
          </a:prstGeom>
        </p:spPr>
      </p:pic>
      <p:sp>
        <p:nvSpPr>
          <p:cNvPr id="13" name="Rectangle 12"/>
          <p:cNvSpPr/>
          <p:nvPr/>
        </p:nvSpPr>
        <p:spPr>
          <a:xfrm>
            <a:off x="365760" y="4187952"/>
            <a:ext cx="4800600" cy="530352"/>
          </a:xfrm>
          <a:prstGeom prst="rect">
            <a:avLst/>
          </a:prstGeom>
          <a:solidFill>
            <a:srgbClr val="EBF4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365760" y="4187952"/>
            <a:ext cx="109728" cy="530352"/>
          </a:xfrm>
          <a:prstGeom prst="rect">
            <a:avLst/>
          </a:prstGeom>
          <a:solidFill>
            <a:srgbClr val="1E3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548640" y="4242816"/>
            <a:ext cx="4572000" cy="4389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850" b="1">
                <a:solidFill>
                  <a:srgbClr val="1E3A5F"/>
                </a:solidFill>
                <a:latin typeface="Liberation Serif"/>
              </a:rPr>
              <a:t>Порог детекции:  </a:t>
            </a:r>
            <a:r>
              <a:rPr sz="850">
                <a:solidFill>
                  <a:srgbClr val="4A5568"/>
                </a:solidFill>
                <a:latin typeface="Liberation Serif"/>
              </a:rPr>
              <a:t>T = μ − 1.3σ — пиксель темнее порога считается кандидатом в нефть (μ, σ — средняя яркость и разброс воды, дБ).</a:t>
            </a:r>
          </a:p>
        </p:txBody>
      </p:sp>
      <p:sp>
        <p:nvSpPr>
          <p:cNvPr id="16" name="Rectangle 15"/>
          <p:cNvSpPr/>
          <p:nvPr/>
        </p:nvSpPr>
        <p:spPr>
          <a:xfrm>
            <a:off x="5440680" y="868680"/>
            <a:ext cx="3474720" cy="3931920"/>
          </a:xfrm>
          <a:prstGeom prst="rect">
            <a:avLst/>
          </a:prstGeom>
          <a:solidFill>
            <a:srgbClr val="F8FA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5440680" y="868680"/>
            <a:ext cx="3474720" cy="274320"/>
          </a:xfrm>
          <a:prstGeom prst="rect">
            <a:avLst/>
          </a:prstGeom>
          <a:solidFill>
            <a:srgbClr val="27674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5532120" y="905256"/>
            <a:ext cx="3291840" cy="23774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850" b="1" i="0">
                <a:solidFill>
                  <a:srgbClr val="FFFFFF"/>
                </a:solidFill>
                <a:latin typeface="Liberation Serif"/>
              </a:rPr>
              <a:t>Метрики качества (Кольский залив)</a:t>
            </a:r>
          </a:p>
        </p:txBody>
      </p:sp>
      <p:sp>
        <p:nvSpPr>
          <p:cNvPr id="19" name="Rectangle 18"/>
          <p:cNvSpPr/>
          <p:nvPr/>
        </p:nvSpPr>
        <p:spPr>
          <a:xfrm>
            <a:off x="5440680" y="1225296"/>
            <a:ext cx="3474720" cy="621792"/>
          </a:xfrm>
          <a:prstGeom prst="rect">
            <a:avLst/>
          </a:prstGeom>
          <a:solidFill>
            <a:srgbClr val="F0F4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5440680" y="1225296"/>
            <a:ext cx="109728" cy="621792"/>
          </a:xfrm>
          <a:prstGeom prst="rect">
            <a:avLst/>
          </a:prstGeom>
          <a:solidFill>
            <a:srgbClr val="1E3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5577840" y="1261872"/>
            <a:ext cx="1371600" cy="3657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700" b="1" i="0">
                <a:solidFill>
                  <a:srgbClr val="1E3A5F"/>
                </a:solidFill>
                <a:latin typeface="Liberation Serif"/>
              </a:rPr>
              <a:t>95.8 %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967728" y="1271016"/>
            <a:ext cx="1874519" cy="21945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850" b="1" i="0">
                <a:solidFill>
                  <a:srgbClr val="1E3A5F"/>
                </a:solidFill>
                <a:latin typeface="Liberation Serif"/>
              </a:rPr>
              <a:t>Accuracy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967728" y="1499616"/>
            <a:ext cx="1874519" cy="32918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750" b="0" i="1">
                <a:solidFill>
                  <a:srgbClr val="4A5568"/>
                </a:solidFill>
                <a:latin typeface="Liberation Serif"/>
              </a:rPr>
              <a:t>из 100 пикселей 95.8 классифицировано верно</a:t>
            </a:r>
          </a:p>
        </p:txBody>
      </p:sp>
      <p:sp>
        <p:nvSpPr>
          <p:cNvPr id="24" name="Rectangle 23"/>
          <p:cNvSpPr/>
          <p:nvPr/>
        </p:nvSpPr>
        <p:spPr>
          <a:xfrm>
            <a:off x="5440680" y="1901952"/>
            <a:ext cx="3474720" cy="621792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5440680" y="1901952"/>
            <a:ext cx="109728" cy="621792"/>
          </a:xfrm>
          <a:prstGeom prst="rect">
            <a:avLst/>
          </a:prstGeom>
          <a:solidFill>
            <a:srgbClr val="2C528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5577840" y="1938528"/>
            <a:ext cx="1371600" cy="3657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700" b="1" i="0">
                <a:solidFill>
                  <a:srgbClr val="2C5282"/>
                </a:solidFill>
                <a:latin typeface="Liberation Serif"/>
              </a:rPr>
              <a:t>0.82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967728" y="1947672"/>
            <a:ext cx="1874519" cy="21945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850" b="1" i="0">
                <a:solidFill>
                  <a:srgbClr val="2C5282"/>
                </a:solidFill>
                <a:latin typeface="Liberation Serif"/>
              </a:rPr>
              <a:t>mIoU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6967728" y="2176272"/>
            <a:ext cx="1874519" cy="32918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750" b="0" i="1">
                <a:solidFill>
                  <a:srgbClr val="4A5568"/>
                </a:solidFill>
                <a:latin typeface="Liberation Serif"/>
              </a:rPr>
              <a:t>82 % площади по 3 классам — верно</a:t>
            </a:r>
          </a:p>
        </p:txBody>
      </p:sp>
      <p:sp>
        <p:nvSpPr>
          <p:cNvPr id="29" name="Rectangle 28"/>
          <p:cNvSpPr/>
          <p:nvPr/>
        </p:nvSpPr>
        <p:spPr>
          <a:xfrm>
            <a:off x="5440680" y="2578608"/>
            <a:ext cx="3474720" cy="621792"/>
          </a:xfrm>
          <a:prstGeom prst="rect">
            <a:avLst/>
          </a:prstGeom>
          <a:solidFill>
            <a:srgbClr val="F0F4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Rectangle 29"/>
          <p:cNvSpPr/>
          <p:nvPr/>
        </p:nvSpPr>
        <p:spPr>
          <a:xfrm>
            <a:off x="5440680" y="2578608"/>
            <a:ext cx="109728" cy="621792"/>
          </a:xfrm>
          <a:prstGeom prst="rect">
            <a:avLst/>
          </a:prstGeom>
          <a:solidFill>
            <a:srgbClr val="27674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5577840" y="2615184"/>
            <a:ext cx="1371600" cy="3657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700" b="1" i="0">
                <a:solidFill>
                  <a:srgbClr val="276749"/>
                </a:solidFill>
                <a:latin typeface="Liberation Serif"/>
              </a:rPr>
              <a:t>0.89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6967728" y="2624328"/>
            <a:ext cx="1874519" cy="21945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850" b="1" i="0">
                <a:solidFill>
                  <a:srgbClr val="276749"/>
                </a:solidFill>
                <a:latin typeface="Liberation Serif"/>
              </a:rPr>
              <a:t>F1 (нефть)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6967728" y="2852928"/>
            <a:ext cx="1874519" cy="32918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750" b="0" i="1">
                <a:solidFill>
                  <a:srgbClr val="4A5568"/>
                </a:solidFill>
                <a:latin typeface="Liberation Serif"/>
              </a:rPr>
              <a:t>из 100 пятен 89 найдено, 89 % — это нефть</a:t>
            </a:r>
          </a:p>
        </p:txBody>
      </p:sp>
      <p:sp>
        <p:nvSpPr>
          <p:cNvPr id="34" name="Rectangle 33"/>
          <p:cNvSpPr/>
          <p:nvPr/>
        </p:nvSpPr>
        <p:spPr>
          <a:xfrm>
            <a:off x="5440680" y="3310128"/>
            <a:ext cx="3474720" cy="1408176"/>
          </a:xfrm>
          <a:prstGeom prst="rect">
            <a:avLst/>
          </a:prstGeom>
          <a:solidFill>
            <a:srgbClr val="EBF4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Rectangle 34"/>
          <p:cNvSpPr/>
          <p:nvPr/>
        </p:nvSpPr>
        <p:spPr>
          <a:xfrm>
            <a:off x="5440680" y="3310128"/>
            <a:ext cx="3474720" cy="274320"/>
          </a:xfrm>
          <a:prstGeom prst="rect">
            <a:avLst/>
          </a:prstGeom>
          <a:solidFill>
            <a:srgbClr val="2C528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5532120" y="3346704"/>
            <a:ext cx="3291840" cy="23774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850" b="1" i="0">
                <a:solidFill>
                  <a:srgbClr val="FFFFFF"/>
                </a:solidFill>
                <a:latin typeface="Liberation Serif"/>
              </a:rPr>
              <a:t>Перенос без дообучения (zero-shot)</a:t>
            </a:r>
          </a:p>
        </p:txBody>
      </p:sp>
      <p:pic>
        <p:nvPicPr>
          <p:cNvPr id="37" name="Picture 36" descr="fig_ports_f1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257925" y="3621024"/>
            <a:ext cx="1840229" cy="1051560"/>
          </a:xfrm>
          <a:prstGeom prst="rect">
            <a:avLst/>
          </a:prstGeom>
        </p:spPr>
      </p:pic>
    </p:spTree>
  </p:cSld>
  <p:clrMapOvr>
    <a:masterClrMapping/>
  </p:clrMapOvr>
  <p:transition spd="med">
    <p:fade/>
  </p:transition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9144000" cy="566928"/>
          </a:xfrm>
          <a:prstGeom prst="rect">
            <a:avLst/>
          </a:prstGeom>
          <a:solidFill>
            <a:srgbClr val="1E3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566928"/>
            <a:ext cx="9144000" cy="32004"/>
          </a:xfrm>
          <a:prstGeom prst="rect">
            <a:avLst/>
          </a:prstGeom>
          <a:solidFill>
            <a:srgbClr val="C530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09728" y="82296"/>
            <a:ext cx="1417320" cy="420624"/>
          </a:xfrm>
          <a:prstGeom prst="rect">
            <a:avLst/>
          </a:prstGeom>
          <a:noFill/>
        </p:spPr>
        <p:txBody>
          <a:bodyPr wrap="none" anchor="t">
            <a:spAutoFit/>
          </a:bodyPr>
          <a:lstStyle/>
          <a:p>
            <a:pPr algn="l"/>
            <a:r>
              <a:rPr sz="700" b="1" i="0">
                <a:solidFill>
                  <a:srgbClr val="FFFFFF"/>
                </a:solidFill>
                <a:latin typeface="Liberation Serif"/>
              </a:rPr>
              <a:t>НОВИЗНА</a:t>
            </a:r>
          </a:p>
        </p:txBody>
      </p:sp>
      <p:sp>
        <p:nvSpPr>
          <p:cNvPr id="6" name="Rectangle 5"/>
          <p:cNvSpPr/>
          <p:nvPr/>
        </p:nvSpPr>
        <p:spPr>
          <a:xfrm>
            <a:off x="1572768" y="100584"/>
            <a:ext cx="18288" cy="36576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618488" y="82296"/>
            <a:ext cx="7406640" cy="420624"/>
          </a:xfrm>
          <a:prstGeom prst="rect">
            <a:avLst/>
          </a:prstGeom>
          <a:noFill/>
        </p:spPr>
        <p:txBody>
          <a:bodyPr wrap="none" anchor="t">
            <a:spAutoFit/>
          </a:bodyPr>
          <a:lstStyle/>
          <a:p>
            <a:pPr algn="l"/>
            <a:r>
              <a:rPr sz="1350" b="1" i="0">
                <a:solidFill>
                  <a:srgbClr val="FFFFFF"/>
                </a:solidFill>
                <a:latin typeface="Liberation Serif"/>
              </a:rPr>
              <a:t>Научная новизна и сравнение с методами-аналогами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229600" y="4864608"/>
            <a:ext cx="868680" cy="237744"/>
          </a:xfrm>
          <a:prstGeom prst="rect">
            <a:avLst/>
          </a:prstGeom>
          <a:noFill/>
        </p:spPr>
        <p:txBody>
          <a:bodyPr wrap="none" anchor="t">
            <a:spAutoFit/>
          </a:bodyPr>
          <a:lstStyle/>
          <a:p>
            <a:pPr algn="r"/>
            <a:r>
              <a:rPr sz="700" b="0" i="0">
                <a:solidFill>
                  <a:srgbClr val="4A5568"/>
                </a:solidFill>
                <a:latin typeface="Liberation Serif"/>
              </a:rPr>
              <a:t>10 / 11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65760" y="786384"/>
            <a:ext cx="4572000" cy="23774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900" b="1" i="0">
                <a:solidFill>
                  <a:srgbClr val="1E3A5F"/>
                </a:solidFill>
                <a:latin typeface="Liberation Serif"/>
              </a:rPr>
              <a:t>ТРИ ЭЛЕМЕНТА НАУЧНОЙ НОВИЗНЫ</a:t>
            </a:r>
          </a:p>
        </p:txBody>
      </p:sp>
      <p:sp>
        <p:nvSpPr>
          <p:cNvPr id="10" name="Rectangle 9"/>
          <p:cNvSpPr/>
          <p:nvPr/>
        </p:nvSpPr>
        <p:spPr>
          <a:xfrm>
            <a:off x="365760" y="1060704"/>
            <a:ext cx="4572000" cy="1060704"/>
          </a:xfrm>
          <a:prstGeom prst="rect">
            <a:avLst/>
          </a:prstGeom>
          <a:solidFill>
            <a:srgbClr val="F8FA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365760" y="1060704"/>
            <a:ext cx="457200" cy="1060704"/>
          </a:xfrm>
          <a:prstGeom prst="rect">
            <a:avLst/>
          </a:prstGeom>
          <a:solidFill>
            <a:srgbClr val="1E3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365760" y="1408175"/>
            <a:ext cx="457200" cy="3657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2000" b="1" i="0">
                <a:solidFill>
                  <a:srgbClr val="FFFFFF"/>
                </a:solidFill>
                <a:latin typeface="Liberation Serif"/>
              </a:rPr>
              <a:t>1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60120" y="1170431"/>
            <a:ext cx="38862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000" b="1" i="0">
                <a:solidFill>
                  <a:srgbClr val="1E3A5F"/>
                </a:solidFill>
                <a:latin typeface="Liberation Serif"/>
              </a:rPr>
              <a:t>Трёхклассовый датасет для Арктики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960120" y="1463039"/>
            <a:ext cx="3886200" cy="62179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900" b="0" i="0">
                <a:solidFill>
                  <a:srgbClr val="4A5568"/>
                </a:solidFill>
                <a:latin typeface="Liberation Serif"/>
              </a:rPr>
              <a:t>Первый датасет для российских акваторий с отдельным классом льда — напрямую решает проблему ложных целей.</a:t>
            </a:r>
          </a:p>
        </p:txBody>
      </p:sp>
      <p:sp>
        <p:nvSpPr>
          <p:cNvPr id="15" name="Rectangle 14"/>
          <p:cNvSpPr/>
          <p:nvPr/>
        </p:nvSpPr>
        <p:spPr>
          <a:xfrm>
            <a:off x="365760" y="2212848"/>
            <a:ext cx="4572000" cy="1060704"/>
          </a:xfrm>
          <a:prstGeom prst="rect">
            <a:avLst/>
          </a:prstGeom>
          <a:solidFill>
            <a:srgbClr val="F0F4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365760" y="2212848"/>
            <a:ext cx="457200" cy="1060704"/>
          </a:xfrm>
          <a:prstGeom prst="rect">
            <a:avLst/>
          </a:prstGeom>
          <a:solidFill>
            <a:srgbClr val="2C528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365760" y="2560320"/>
            <a:ext cx="457200" cy="3657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2000" b="1" i="0">
                <a:solidFill>
                  <a:srgbClr val="FFFFFF"/>
                </a:solidFill>
                <a:latin typeface="Liberation Serif"/>
              </a:rPr>
              <a:t>2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960120" y="2322576"/>
            <a:ext cx="38862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000" b="1" i="0">
                <a:solidFill>
                  <a:srgbClr val="2C5282"/>
                </a:solidFill>
                <a:latin typeface="Liberation Serif"/>
              </a:rPr>
              <a:t>DeepLabV3+ под одноканальный SAR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960120" y="2615184"/>
            <a:ext cx="3886200" cy="62179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900" b="0" i="0">
                <a:solidFill>
                  <a:srgbClr val="4A5568"/>
                </a:solidFill>
                <a:latin typeface="Liberation Serif"/>
              </a:rPr>
              <a:t>Входной слой и блоки внимания scSE адаптированы под VV-канал радара вместо RGB-снимков.</a:t>
            </a:r>
          </a:p>
        </p:txBody>
      </p:sp>
      <p:sp>
        <p:nvSpPr>
          <p:cNvPr id="20" name="Rectangle 19"/>
          <p:cNvSpPr/>
          <p:nvPr/>
        </p:nvSpPr>
        <p:spPr>
          <a:xfrm>
            <a:off x="365760" y="3364991"/>
            <a:ext cx="4572000" cy="1060704"/>
          </a:xfrm>
          <a:prstGeom prst="rect">
            <a:avLst/>
          </a:prstGeom>
          <a:solidFill>
            <a:srgbClr val="F8FA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365760" y="3364991"/>
            <a:ext cx="457200" cy="1060704"/>
          </a:xfrm>
          <a:prstGeom prst="rect">
            <a:avLst/>
          </a:prstGeom>
          <a:solidFill>
            <a:srgbClr val="27674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365760" y="3712463"/>
            <a:ext cx="457200" cy="3657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2000" b="1" i="0">
                <a:solidFill>
                  <a:srgbClr val="FFFFFF"/>
                </a:solidFill>
                <a:latin typeface="Liberation Serif"/>
              </a:rPr>
              <a:t>3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960120" y="3474720"/>
            <a:ext cx="38862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000" b="1" i="0">
                <a:solidFill>
                  <a:srgbClr val="276749"/>
                </a:solidFill>
                <a:latin typeface="Liberation Serif"/>
              </a:rPr>
              <a:t>Первая оценка переноса между портами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960120" y="3767328"/>
            <a:ext cx="3886200" cy="62179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900" b="0" i="0">
                <a:solidFill>
                  <a:srgbClr val="4A5568"/>
                </a:solidFill>
                <a:latin typeface="Liberation Serif"/>
              </a:rPr>
              <a:t>Впервые количественно измерена деградация F1 и рост FP при переносе модели на новые акватории России.</a:t>
            </a:r>
          </a:p>
        </p:txBody>
      </p:sp>
      <p:sp>
        <p:nvSpPr>
          <p:cNvPr id="25" name="Rectangle 24"/>
          <p:cNvSpPr/>
          <p:nvPr/>
        </p:nvSpPr>
        <p:spPr>
          <a:xfrm>
            <a:off x="5074920" y="786384"/>
            <a:ext cx="3703320" cy="3456432"/>
          </a:xfrm>
          <a:prstGeom prst="rect">
            <a:avLst/>
          </a:prstGeom>
          <a:solidFill>
            <a:srgbClr val="F8FA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5074920" y="786384"/>
            <a:ext cx="3703320" cy="274320"/>
          </a:xfrm>
          <a:prstGeom prst="rect">
            <a:avLst/>
          </a:prstGeom>
          <a:solidFill>
            <a:srgbClr val="27674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5166360" y="822960"/>
            <a:ext cx="3520440" cy="23774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850" b="1" i="0">
                <a:solidFill>
                  <a:srgbClr val="FFFFFF"/>
                </a:solidFill>
                <a:latin typeface="Liberation Serif"/>
              </a:rPr>
              <a:t>Сравнение по F1 с аналогами</a:t>
            </a:r>
          </a:p>
        </p:txBody>
      </p:sp>
      <p:pic>
        <p:nvPicPr>
          <p:cNvPr id="28" name="Picture 27" descr="fig_method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120640" y="1672954"/>
            <a:ext cx="3611880" cy="1884459"/>
          </a:xfrm>
          <a:prstGeom prst="rect">
            <a:avLst/>
          </a:prstGeom>
        </p:spPr>
      </p:pic>
      <p:sp>
        <p:nvSpPr>
          <p:cNvPr id="29" name="TextBox 28"/>
          <p:cNvSpPr txBox="1"/>
          <p:nvPr/>
        </p:nvSpPr>
        <p:spPr>
          <a:xfrm>
            <a:off x="109728" y="4873752"/>
            <a:ext cx="7863840" cy="219456"/>
          </a:xfrm>
          <a:prstGeom prst="rect">
            <a:avLst/>
          </a:prstGeom>
          <a:noFill/>
        </p:spPr>
        <p:txBody>
          <a:bodyPr wrap="none" anchor="t">
            <a:spAutoFit/>
          </a:bodyPr>
          <a:lstStyle/>
          <a:p>
            <a:pPr algn="l"/>
            <a:r>
              <a:rPr sz="700" b="0" i="1">
                <a:solidFill>
                  <a:srgbClr val="4A5568"/>
                </a:solidFill>
                <a:latin typeface="Liberation Serif"/>
              </a:rPr>
              <a:t>Источник: Сравнение с Otsu; U-Net (Krestenitis 2019); GLCM+CNN; адаптивный порог</a:t>
            </a:r>
          </a:p>
        </p:txBody>
      </p:sp>
    </p:spTree>
  </p:cSld>
  <p:clrMapOvr>
    <a:masterClrMapping/>
  </p:clrMapOvr>
  <p:transition spd="med">
    <p:fade/>
  </p:transition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9144000" cy="566928"/>
          </a:xfrm>
          <a:prstGeom prst="rect">
            <a:avLst/>
          </a:prstGeom>
          <a:solidFill>
            <a:srgbClr val="1E3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566928"/>
            <a:ext cx="9144000" cy="32004"/>
          </a:xfrm>
          <a:prstGeom prst="rect">
            <a:avLst/>
          </a:prstGeom>
          <a:solidFill>
            <a:srgbClr val="C530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09728" y="82296"/>
            <a:ext cx="1417320" cy="420624"/>
          </a:xfrm>
          <a:prstGeom prst="rect">
            <a:avLst/>
          </a:prstGeom>
          <a:noFill/>
        </p:spPr>
        <p:txBody>
          <a:bodyPr wrap="none" anchor="t">
            <a:spAutoFit/>
          </a:bodyPr>
          <a:lstStyle/>
          <a:p>
            <a:pPr algn="l"/>
            <a:r>
              <a:rPr sz="700" b="1" i="0">
                <a:solidFill>
                  <a:srgbClr val="FFFFFF"/>
                </a:solidFill>
                <a:latin typeface="Liberation Serif"/>
              </a:rPr>
              <a:t>ВЫВОДЫ</a:t>
            </a:r>
          </a:p>
        </p:txBody>
      </p:sp>
      <p:sp>
        <p:nvSpPr>
          <p:cNvPr id="6" name="Rectangle 5"/>
          <p:cNvSpPr/>
          <p:nvPr/>
        </p:nvSpPr>
        <p:spPr>
          <a:xfrm>
            <a:off x="1572768" y="100584"/>
            <a:ext cx="18288" cy="36576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618488" y="82296"/>
            <a:ext cx="7406640" cy="420624"/>
          </a:xfrm>
          <a:prstGeom prst="rect">
            <a:avLst/>
          </a:prstGeom>
          <a:noFill/>
        </p:spPr>
        <p:txBody>
          <a:bodyPr wrap="none" anchor="t">
            <a:spAutoFit/>
          </a:bodyPr>
          <a:lstStyle/>
          <a:p>
            <a:pPr algn="l"/>
            <a:r>
              <a:rPr sz="1350" b="1" i="0">
                <a:solidFill>
                  <a:srgbClr val="FFFFFF"/>
                </a:solidFill>
                <a:latin typeface="Liberation Serif"/>
              </a:rPr>
              <a:t>Выводы и практическая значимость работы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229600" y="4864608"/>
            <a:ext cx="868680" cy="237744"/>
          </a:xfrm>
          <a:prstGeom prst="rect">
            <a:avLst/>
          </a:prstGeom>
          <a:noFill/>
        </p:spPr>
        <p:txBody>
          <a:bodyPr wrap="none" anchor="t">
            <a:spAutoFit/>
          </a:bodyPr>
          <a:lstStyle/>
          <a:p>
            <a:pPr algn="r"/>
            <a:r>
              <a:rPr sz="700" b="0" i="0">
                <a:solidFill>
                  <a:srgbClr val="4A5568"/>
                </a:solidFill>
                <a:latin typeface="Liberation Serif"/>
              </a:rPr>
              <a:t>11 / 11</a:t>
            </a:r>
          </a:p>
        </p:txBody>
      </p:sp>
      <p:sp>
        <p:nvSpPr>
          <p:cNvPr id="9" name="Rectangle 8"/>
          <p:cNvSpPr/>
          <p:nvPr/>
        </p:nvSpPr>
        <p:spPr>
          <a:xfrm>
            <a:off x="365760" y="868680"/>
            <a:ext cx="8412480" cy="658368"/>
          </a:xfrm>
          <a:prstGeom prst="rect">
            <a:avLst/>
          </a:prstGeom>
          <a:solidFill>
            <a:srgbClr val="F8FA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365760" y="868680"/>
            <a:ext cx="502920" cy="658368"/>
          </a:xfrm>
          <a:prstGeom prst="rect">
            <a:avLst/>
          </a:prstGeom>
          <a:solidFill>
            <a:srgbClr val="27674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365760" y="1014983"/>
            <a:ext cx="502920" cy="3657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1800" b="1" i="0">
                <a:solidFill>
                  <a:srgbClr val="FFFFFF"/>
                </a:solidFill>
                <a:latin typeface="Liberation Serif"/>
              </a:rPr>
              <a:t>1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05840" y="1014983"/>
            <a:ext cx="7680960" cy="402336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050" b="0" i="0">
                <a:solidFill>
                  <a:srgbClr val="4A5568"/>
                </a:solidFill>
                <a:latin typeface="Liberation Serif"/>
              </a:rPr>
              <a:t>Реализован полный конвейер: SNAP/QGIS → DeepLabV3+ → верификация ERA5/AIS.</a:t>
            </a:r>
          </a:p>
        </p:txBody>
      </p:sp>
      <p:sp>
        <p:nvSpPr>
          <p:cNvPr id="13" name="Rectangle 12"/>
          <p:cNvSpPr/>
          <p:nvPr/>
        </p:nvSpPr>
        <p:spPr>
          <a:xfrm>
            <a:off x="365760" y="1581912"/>
            <a:ext cx="8412480" cy="658368"/>
          </a:xfrm>
          <a:prstGeom prst="rect">
            <a:avLst/>
          </a:prstGeom>
          <a:solidFill>
            <a:srgbClr val="F0F4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365760" y="1581912"/>
            <a:ext cx="502920" cy="658368"/>
          </a:xfrm>
          <a:prstGeom prst="rect">
            <a:avLst/>
          </a:prstGeom>
          <a:solidFill>
            <a:srgbClr val="27674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365760" y="1728216"/>
            <a:ext cx="502920" cy="3657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1800" b="1" i="0">
                <a:solidFill>
                  <a:srgbClr val="FFFFFF"/>
                </a:solidFill>
                <a:latin typeface="Liberation Serif"/>
              </a:rPr>
              <a:t>2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005840" y="1728216"/>
            <a:ext cx="7680960" cy="402336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050" b="0" i="0">
                <a:solidFill>
                  <a:srgbClr val="4A5568"/>
                </a:solidFill>
                <a:latin typeface="Liberation Serif"/>
              </a:rPr>
              <a:t>Собран первый трёхклассовый датасет (1 125 сцен) для российских арктических акваторий.</a:t>
            </a:r>
          </a:p>
        </p:txBody>
      </p:sp>
      <p:sp>
        <p:nvSpPr>
          <p:cNvPr id="17" name="Rectangle 16"/>
          <p:cNvSpPr/>
          <p:nvPr/>
        </p:nvSpPr>
        <p:spPr>
          <a:xfrm>
            <a:off x="365760" y="2295144"/>
            <a:ext cx="8412480" cy="658368"/>
          </a:xfrm>
          <a:prstGeom prst="rect">
            <a:avLst/>
          </a:prstGeom>
          <a:solidFill>
            <a:srgbClr val="F8FA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365760" y="2295144"/>
            <a:ext cx="502920" cy="658368"/>
          </a:xfrm>
          <a:prstGeom prst="rect">
            <a:avLst/>
          </a:prstGeom>
          <a:solidFill>
            <a:srgbClr val="27674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365760" y="2441448"/>
            <a:ext cx="502920" cy="3657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1800" b="1" i="0">
                <a:solidFill>
                  <a:srgbClr val="FFFFFF"/>
                </a:solidFill>
                <a:latin typeface="Liberation Serif"/>
              </a:rPr>
              <a:t>3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005840" y="2441448"/>
            <a:ext cx="7680960" cy="402336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050" b="0" i="0">
                <a:solidFill>
                  <a:srgbClr val="4A5568"/>
                </a:solidFill>
                <a:latin typeface="Liberation Serif"/>
              </a:rPr>
              <a:t>Достигнуто F1 = 0.89 — выше всех методов-аналогов из литературы.</a:t>
            </a:r>
          </a:p>
        </p:txBody>
      </p:sp>
      <p:sp>
        <p:nvSpPr>
          <p:cNvPr id="21" name="Rectangle 20"/>
          <p:cNvSpPr/>
          <p:nvPr/>
        </p:nvSpPr>
        <p:spPr>
          <a:xfrm>
            <a:off x="365760" y="3008376"/>
            <a:ext cx="8412480" cy="658368"/>
          </a:xfrm>
          <a:prstGeom prst="rect">
            <a:avLst/>
          </a:prstGeom>
          <a:solidFill>
            <a:srgbClr val="F0F4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365760" y="3008376"/>
            <a:ext cx="502920" cy="658368"/>
          </a:xfrm>
          <a:prstGeom prst="rect">
            <a:avLst/>
          </a:prstGeom>
          <a:solidFill>
            <a:srgbClr val="27674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365760" y="3154680"/>
            <a:ext cx="502920" cy="3657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1800" b="1" i="0">
                <a:solidFill>
                  <a:srgbClr val="FFFFFF"/>
                </a:solidFill>
                <a:latin typeface="Liberation Serif"/>
              </a:rPr>
              <a:t>4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005840" y="3154680"/>
            <a:ext cx="7680960" cy="402336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050" b="0" i="0">
                <a:solidFill>
                  <a:srgbClr val="4A5568"/>
                </a:solidFill>
                <a:latin typeface="Liberation Serif"/>
              </a:rPr>
              <a:t>Метод проверен на 4 портах; деградация при переносе объяснена ложными целями (лёд).</a:t>
            </a:r>
          </a:p>
        </p:txBody>
      </p:sp>
      <p:sp>
        <p:nvSpPr>
          <p:cNvPr id="25" name="Rectangle 24"/>
          <p:cNvSpPr/>
          <p:nvPr/>
        </p:nvSpPr>
        <p:spPr>
          <a:xfrm>
            <a:off x="365760" y="3767328"/>
            <a:ext cx="8412480" cy="932688"/>
          </a:xfrm>
          <a:prstGeom prst="rect">
            <a:avLst/>
          </a:prstGeom>
          <a:solidFill>
            <a:srgbClr val="F0FF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365760" y="3767328"/>
            <a:ext cx="109728" cy="932688"/>
          </a:xfrm>
          <a:prstGeom prst="rect">
            <a:avLst/>
          </a:prstGeom>
          <a:solidFill>
            <a:srgbClr val="27674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ectangle 26"/>
          <p:cNvSpPr/>
          <p:nvPr/>
        </p:nvSpPr>
        <p:spPr>
          <a:xfrm>
            <a:off x="365760" y="3767328"/>
            <a:ext cx="8412480" cy="274320"/>
          </a:xfrm>
          <a:prstGeom prst="rect">
            <a:avLst/>
          </a:prstGeom>
          <a:solidFill>
            <a:srgbClr val="27674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566928" y="3803904"/>
            <a:ext cx="8229600" cy="23774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900" b="1" i="0">
                <a:solidFill>
                  <a:srgbClr val="FFFFFF"/>
                </a:solidFill>
                <a:latin typeface="Liberation Serif"/>
              </a:rPr>
              <a:t>Практическая значимость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566928" y="4114800"/>
            <a:ext cx="822960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000" b="0" i="0">
                <a:solidFill>
                  <a:srgbClr val="276749"/>
                </a:solidFill>
                <a:latin typeface="Liberation Serif"/>
              </a:rPr>
              <a:t>Система готова к всепогодному автоматическому мониторингу четырёх арктических акваторий России. Перенос без дообучения достигает F1 = 0.84 (Варандей) и F1 = 0.76 (Сабетта). Конвейер открыт к расширению на другие порты.</a:t>
            </a:r>
          </a:p>
        </p:txBody>
      </p:sp>
    </p:spTree>
  </p:cSld>
  <p:clrMapOvr>
    <a:masterClrMapping/>
  </p:clrMapOvr>
  <p:transition spd="med">
    <p:fade/>
  </p:transition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