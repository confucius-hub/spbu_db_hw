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Здравствуйте! Тема моей работы — разработка системы автоматического детектирования нефтяных разливов в акваториях арктических портов по данным спутниковой радиолокации. Научный руководитель — кандидат технических наук, доцент Митько Арсений Валерьевич.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 работы — создать и проверить систему, которая по радарным снимкам Sentinel-1 автоматически находит нефтяные разливы и при этом не путает их с похожими тёмными пятнами. Для этого я решил пять задач: от изучения физики радиолокации и сбора датасета до обучения нейросети и проверки её на новых портах.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Почему это важно. Ежегодно в Мировой океан попадает более 700 тысяч тонн нефти, а в холодной арктической воде она разлагается в 5–10 раз медленнее. При этом оптические спутники тут почти бесполезны: больше 80 процентов времени мешают облака и полярная ночь. Два показательных случая — разлив в Кольском заливе в 2024 году и крупнейшая авария в Норильске в 2020-м, когда вылилось около 21 тысячи тонн дизтоплива.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Почему именно радар. Нефть гасит мелкую рябь на воде — это эффект Марангони — и на радарном снимке появляется тёмное пятно. Радар Sentinel-1 работает круглосуточно и сквозь облака, а данные бесплатны. Главная сложность — отличить нефть от похожих тёмных пятен: молодого льда, штиля и биоплёнок. Для этого я использую разность поляризаций и отдельный класс льда.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Данные. Я использовал бесплатные радарные снимки Sentinel-1 с разрешением 10 метров. На их основе собрал размеченный датасет из 1125 сцен и более 4 тысяч фрагментов, разделив их на три класса: вода, нефть и лёд с сушей. Отдельный класс льда — принципиально важен для Арктики. Источник данных — Copernicus, ESA; базовый датасет — MKLab.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и основной кейс — Кольский залив, главный нефтяной узел западной Арктики. В августе 2024 года при бункеровке судна произошла утечка топлива. Sentinel-1 зафиксировал тёмное пятно, занявшее около 14 процентов акватории. Чтобы убедиться, что это нефть, а не двойник, я применил двойную проверку: метеоданные ERA5 показали рабочий ветер, а данные AIS подтвердили суда в зоне в момент съёмки.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Затем я проверил метод на новых портах — Варандей и Печенга. Слева — нефтеналивной терминал Варандей, справа — порт Печенга. На обоих снимках видны тёмные аномалии, которые система выделяет автоматически. Все снимки — Sentinel-1, 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Третий блок — Сабетта, ворота арктического СПГ, и мотивирующий случай Норильска. Здесь важно быть честным: разлив в Норильске произошёл на суше и в реках, поэтому его отслеживали по оптике Sentinel-2, а радар показывает ледовую обстановку, а не саму плёнку. Этот случай объясняет, зачем вообще нужен надёжный спутниковый мониторинг Арктики.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автоматического распознавания я адаптировал нейросеть DeepLabV3+. Энкодер ResNet-50 я перестроил под одноканальные радарные данные, блок ASPP улавливает объекты разного масштаба, а блоки внимания scSE подавляют шум и усиливают нефтяные пятна. Обучение шло с балансировкой классов, потому что нефти на снимках очень мало.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Главные результаты. На Кольском заливе модель достигла точности 95.8 процента, mIoU 0.82 и F1 по нефти 0.89. Кривые обучения слева показывают устойчивую сходимость без переобучения. При переносе на другие порты без дообучения качество ожидаемо снижается: Варандей — 0.84, Сабетта — 0.76. Я количественно оценил эту деградацию — это и есть один из ключевых результатов.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Научная новизна — в трёх вещах. Первое: первый трёхклассовый датасет для российской Арктики, где лёд выделен в отдельный класс. Второе: адаптация DeepLabV3+ под одноканальные радарные данные. Третье: первая количественная оценка переноса модели между портами. По метрике F1 мой метод превосходит все аналоги из литературы — это видно на графике справа.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Итог. Создан полный рабочий конвейер — от обработки снимка до проверки результата по метео и судовым данным. Собран первый трёхклассовый датасет для российской Арктики, достигнуто F1 0.89 — выше всех аналогов, а метод проверен на четырёх портах. Система готова к практическому мониторингу. Спасибо за внимание,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50292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850392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FFFFFF"/>
                </a:solidFill>
                <a:latin typeface="Liberation Serif"/>
              </a:rPr>
              <a:t>Разработка системы автоматического детектирования</a:t>
            </a:r>
          </a:p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FFFFFF"/>
                </a:solidFill>
                <a:latin typeface="Liberation Serif"/>
              </a:rPr>
              <a:t>нефтяных разливов в акваториях арктических портов</a:t>
            </a:r>
          </a:p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FFFFFF"/>
                </a:solidFill>
                <a:latin typeface="Liberation Serif"/>
              </a:rPr>
              <a:t>по данным спутниковых радиолокационных систем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4206240" cy="23317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4206240" cy="27432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9776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Liberation Serif"/>
              </a:rPr>
              <a:t>САНКТ-ПЕТЕРБУРГСКИЙ ГОСУДАРСТВЕННЫЙ УНИВЕРСИТЕТ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65376"/>
            <a:ext cx="39776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2C5282"/>
                </a:solidFill>
                <a:latin typeface="Liberation Serif"/>
              </a:rPr>
              <a:t>Кафедра информатики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176272"/>
            <a:ext cx="39776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Направление: Прикладная информатика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487168"/>
            <a:ext cx="39776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Профиль: Искусственный интеллект и наука о данных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926080"/>
            <a:ext cx="3977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E3A5F"/>
                </a:solidFill>
                <a:latin typeface="Liberation Serif"/>
              </a:rPr>
              <a:t>Магистерская диссертация ·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481328"/>
            <a:ext cx="4206240" cy="2331720"/>
          </a:xfrm>
          <a:prstGeom prst="rect">
            <a:avLst/>
          </a:prstGeom>
          <a:solidFill>
            <a:srgbClr val="EB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481328"/>
            <a:ext cx="4206240" cy="2743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517904"/>
            <a:ext cx="39776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Liberation Serif"/>
              </a:rPr>
              <a:t>СВЕДЕНИЯ ОБ АВТОРЕ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1865376"/>
            <a:ext cx="39776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4A5568"/>
                </a:solidFill>
                <a:latin typeface="Liberation Serif"/>
              </a:rPr>
              <a:t>Подготовил: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2103120"/>
            <a:ext cx="3977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  <a:latin typeface="Liberation Serif"/>
              </a:rPr>
              <a:t>Байханов Владислав Камолович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2395728"/>
            <a:ext cx="39776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Liberation Serif"/>
              </a:rPr>
              <a:t>студент группы 24.М81-мм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2743200"/>
            <a:ext cx="39776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4A5568"/>
                </a:solidFill>
                <a:latin typeface="Liberation Serif"/>
              </a:rPr>
              <a:t>Научный руководитель: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3168" y="2962656"/>
            <a:ext cx="3977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Liberation Serif"/>
              </a:rPr>
              <a:t>к.т.н., доцент Митько А. В.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864608"/>
            <a:ext cx="86868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700" b="0" i="0">
                <a:solidFill>
                  <a:srgbClr val="4A5568"/>
                </a:solidFill>
                <a:latin typeface="Liberation Serif"/>
              </a:rPr>
              <a:t>1 / 12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9144000" cy="32004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82296"/>
            <a:ext cx="141732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Liberation Serif"/>
              </a:rPr>
              <a:t>ЦЕЛЬ И ЗАДАЧИ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2768" y="100584"/>
            <a:ext cx="18288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82296"/>
            <a:ext cx="740664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Liberation Serif"/>
              </a:rPr>
              <a:t>Цель и задачи исследования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64608"/>
            <a:ext cx="86868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700" b="0" i="0">
                <a:solidFill>
                  <a:srgbClr val="4A5568"/>
                </a:solidFill>
                <a:latin typeface="Liberation Serif"/>
              </a:rPr>
              <a:t>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68680"/>
            <a:ext cx="8412480" cy="868680"/>
          </a:xfrm>
          <a:prstGeom prst="rect">
            <a:avLst/>
          </a:prstGeom>
          <a:solidFill>
            <a:srgbClr val="EB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868680"/>
            <a:ext cx="10972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932688"/>
            <a:ext cx="8229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  <a:latin typeface="Liberation Serif"/>
              </a:rPr>
              <a:t>ЦЕЛЬ РАБОТЫ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70432"/>
            <a:ext cx="8092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Liberation Serif"/>
              </a:rPr>
              <a:t>Создать и проверить систему, которая по снимкам Sentinel-1 автоматически находит нефтяные разливы в арктических портах и устойчива к ложным целям (лёд, штиль, биоплёнки).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938528"/>
            <a:ext cx="8412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C5282"/>
                </a:solidFill>
                <a:latin typeface="Liberation Serif"/>
              </a:rPr>
              <a:t>ЗАДАЧИ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40280"/>
            <a:ext cx="841248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2402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350008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erif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359152"/>
            <a:ext cx="7680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Liberation Serif"/>
              </a:rPr>
              <a:t>Изучить физику радиолокации нефти и систематизировать ложные цели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79776"/>
            <a:ext cx="8412480" cy="5029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779776"/>
            <a:ext cx="502920" cy="50292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889504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erif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898648"/>
            <a:ext cx="7680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Liberation Serif"/>
              </a:rPr>
              <a:t>Реализовать конвейер предобработки снимков Sentinel-1 в ESA SNAP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319272"/>
            <a:ext cx="841248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319272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429000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erif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438144"/>
            <a:ext cx="7680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Liberation Serif"/>
              </a:rPr>
              <a:t>Собрать трёхклассовый датасет: вода / нефть / лёд + суша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58768"/>
            <a:ext cx="8412480" cy="5029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858768"/>
            <a:ext cx="502920" cy="50292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96849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erif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977640"/>
            <a:ext cx="7680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Liberation Serif"/>
              </a:rPr>
              <a:t>Адаптировать и обучить нейросеть DeepLabV3+ под радарные данные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398264"/>
            <a:ext cx="841248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398264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507992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erif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517136"/>
            <a:ext cx="7680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Liberation Serif"/>
              </a:rPr>
              <a:t>Проверить перенос модели на новые порты и сравнить с аналогами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9144000" cy="32004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82296"/>
            <a:ext cx="141732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Liberation Serif"/>
              </a:rPr>
              <a:t>АКТУАЛЬНОСТЬ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2768" y="100584"/>
            <a:ext cx="18288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82296"/>
            <a:ext cx="740664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Liberation Serif"/>
              </a:rPr>
              <a:t>Нефтяные разливы в Арктике — масштаб проблемы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64608"/>
            <a:ext cx="86868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700" b="0" i="0">
                <a:solidFill>
                  <a:srgbClr val="4A5568"/>
                </a:solidFill>
                <a:latin typeface="Liberation Serif"/>
              </a:rPr>
              <a:t>3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68680"/>
            <a:ext cx="2807208" cy="1417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868680"/>
            <a:ext cx="2807208" cy="5486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24128"/>
            <a:ext cx="28072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1E3A5F"/>
                </a:solidFill>
                <a:latin typeface="Liberation Serif"/>
              </a:rPr>
              <a:t>700+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27632"/>
            <a:ext cx="2624327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4A5568"/>
                </a:solidFill>
                <a:latin typeface="Liberation Serif"/>
              </a:rPr>
              <a:t>тыс. тонн нефти в год</a:t>
            </a:r>
          </a:p>
          <a:p>
            <a:pPr algn="ctr"/>
            <a:r>
              <a:rPr sz="950" b="0" i="0">
                <a:solidFill>
                  <a:srgbClr val="4A5568"/>
                </a:solidFill>
                <a:latin typeface="Liberation Serif"/>
              </a:rPr>
              <a:t>попадает в Мировой океан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39" y="868680"/>
            <a:ext cx="2807208" cy="1417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39" y="868680"/>
            <a:ext cx="2807208" cy="54864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39" y="1024128"/>
            <a:ext cx="28072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2C5282"/>
                </a:solidFill>
                <a:latin typeface="Liberation Serif"/>
              </a:rPr>
              <a:t>5–10×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79" y="1627632"/>
            <a:ext cx="2624327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4A5568"/>
                </a:solidFill>
                <a:latin typeface="Liberation Serif"/>
              </a:rPr>
              <a:t>медленнее разлагается</a:t>
            </a:r>
          </a:p>
          <a:p>
            <a:pPr algn="ctr"/>
            <a:r>
              <a:rPr sz="950" b="0" i="0">
                <a:solidFill>
                  <a:srgbClr val="4A5568"/>
                </a:solidFill>
                <a:latin typeface="Liberation Serif"/>
              </a:rPr>
              <a:t>нефть в воде &lt; 5 °C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868680"/>
            <a:ext cx="2807208" cy="1417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868680"/>
            <a:ext cx="2807208" cy="54864"/>
          </a:xfrm>
          <a:prstGeom prst="rect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024128"/>
            <a:ext cx="28072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92400E"/>
                </a:solidFill>
                <a:latin typeface="Liberation Serif"/>
              </a:rPr>
              <a:t>&gt; 80 %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1627632"/>
            <a:ext cx="2624327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4A5568"/>
                </a:solidFill>
                <a:latin typeface="Liberation Serif"/>
              </a:rPr>
              <a:t>времени — облака и ночь:</a:t>
            </a:r>
          </a:p>
          <a:p>
            <a:pPr algn="ctr"/>
            <a:r>
              <a:rPr sz="950" b="0" i="0">
                <a:solidFill>
                  <a:srgbClr val="4A5568"/>
                </a:solidFill>
                <a:latin typeface="Liberation Serif"/>
              </a:rPr>
              <a:t>оптика в Арктике не видит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487168"/>
            <a:ext cx="8412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C5282"/>
                </a:solidFill>
                <a:latin typeface="Liberation Serif"/>
              </a:rPr>
              <a:t>ДВА ПОКАЗАТЕЛЬНЫХ СЛУЧАЯ В РОССИЙСКОЙ АРКТИКЕ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98064"/>
            <a:ext cx="4160520" cy="1874519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798064"/>
            <a:ext cx="4160520" cy="310896"/>
          </a:xfrm>
          <a:prstGeom prst="rect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2834640"/>
            <a:ext cx="3931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Liberation Serif"/>
              </a:rPr>
              <a:t>Кольский залив — август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3200400"/>
            <a:ext cx="3931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При бункеровке судна в порту Мурманска</a:t>
            </a:r>
          </a:p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произошла утечка топлива. Тёмное пятно</a:t>
            </a:r>
          </a:p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зафиксировано Sentinel-1 и заняло</a:t>
            </a:r>
          </a:p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около 14 % акватории залива.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2798064"/>
            <a:ext cx="4160520" cy="1874519"/>
          </a:xfrm>
          <a:prstGeom prst="rect">
            <a:avLst/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7720" y="2798064"/>
            <a:ext cx="4160520" cy="310896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27448" y="2834640"/>
            <a:ext cx="3931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Liberation Serif"/>
              </a:rPr>
              <a:t>Норильск — май 2020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3200400"/>
            <a:ext cx="3931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Авария на ТЭЦ-3 НТЭК: в реки и почву</a:t>
            </a:r>
          </a:p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вылилось ≈ 21 000 тонн дизтоплива.</a:t>
            </a:r>
          </a:p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Крупнейший разлив в истории Арктики,</a:t>
            </a:r>
          </a:p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штраф — 146 млрд рублей.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" y="4873752"/>
            <a:ext cx="786384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0" i="1">
                <a:solidFill>
                  <a:srgbClr val="4A5568"/>
                </a:solidFill>
                <a:latin typeface="Liberation Serif"/>
              </a:rPr>
              <a:t>Источник: ITOPF (2023); Росприроднадзор; данные Sentinel-1, ESA Copernicus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9144000" cy="32004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82296"/>
            <a:ext cx="141732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Liberation Serif"/>
              </a:rPr>
              <a:t>МЕТОД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2768" y="100584"/>
            <a:ext cx="18288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82296"/>
            <a:ext cx="740664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Liberation Serif"/>
              </a:rPr>
              <a:t>Почему радиолокация (SAR), а не оптика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64608"/>
            <a:ext cx="86868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700" b="0" i="0">
                <a:solidFill>
                  <a:srgbClr val="4A5568"/>
                </a:solidFill>
                <a:latin typeface="Liberation Serif"/>
              </a:rPr>
              <a:t>4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68680"/>
            <a:ext cx="4160520" cy="37947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868680"/>
            <a:ext cx="4160520" cy="29260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905256"/>
            <a:ext cx="4014215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Liberation Serif"/>
              </a:rPr>
              <a:t>Преимущества радара Sentinel-1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52728"/>
            <a:ext cx="3959352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Liberation Serif"/>
              </a:rPr>
              <a:t/>
            </a:r>
            <a:r>
              <a:rPr sz="1000" b="1">
                <a:solidFill>
                  <a:srgbClr val="1E3A5F"/>
                </a:solidFill>
                <a:latin typeface="Liberation Serif"/>
              </a:rPr>
              <a:t>Круглосуточно:  </a:t>
            </a:r>
            <a:r>
              <a:rPr sz="1000">
                <a:solidFill>
                  <a:srgbClr val="4A5568"/>
                </a:solidFill>
                <a:latin typeface="Liberation Serif"/>
              </a:rPr>
              <a:t>полярная ночь — не помеха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E3A5F"/>
                </a:solidFill>
                <a:latin typeface="Liberation Serif"/>
              </a:rPr>
              <a:t>Сквозь облака:  </a:t>
            </a:r>
            <a:r>
              <a:rPr sz="1000">
                <a:solidFill>
                  <a:srgbClr val="4A5568"/>
                </a:solidFill>
                <a:latin typeface="Liberation Serif"/>
              </a:rPr>
              <a:t>C-диапазон не поглощается атмосферой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E3A5F"/>
                </a:solidFill>
                <a:latin typeface="Liberation Serif"/>
              </a:rPr>
              <a:t>Эффект Марангони:  </a:t>
            </a:r>
            <a:r>
              <a:rPr sz="1000">
                <a:solidFill>
                  <a:srgbClr val="4A5568"/>
                </a:solidFill>
                <a:latin typeface="Liberation Serif"/>
              </a:rPr>
              <a:t>нефть гасит рябь → сигнал падает на 10–20 дБ → на снимке тёмное пятно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E3A5F"/>
                </a:solidFill>
                <a:latin typeface="Liberation Serif"/>
              </a:rPr>
              <a:t>Бесплатно:  </a:t>
            </a:r>
            <a:r>
              <a:rPr sz="1000">
                <a:solidFill>
                  <a:srgbClr val="4A5568"/>
                </a:solidFill>
                <a:latin typeface="Liberation Serif"/>
              </a:rPr>
              <a:t>архив ESA, 10 м/пиксель, повтор ~6 суток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868680"/>
            <a:ext cx="4160520" cy="37947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868680"/>
            <a:ext cx="4160520" cy="292608"/>
          </a:xfrm>
          <a:prstGeom prst="rect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905256"/>
            <a:ext cx="4014215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Liberation Serif"/>
              </a:rPr>
              <a:t>Главная сложность: ложные цели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1252728"/>
            <a:ext cx="3959352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Liberation Serif"/>
              </a:rPr>
              <a:t/>
            </a:r>
            <a:r>
              <a:rPr sz="1000" b="1">
                <a:solidFill>
                  <a:srgbClr val="92400E"/>
                </a:solidFill>
                <a:latin typeface="Liberation Serif"/>
              </a:rPr>
              <a:t>Молодой лёд:  </a:t>
            </a:r>
            <a:r>
              <a:rPr sz="1000">
                <a:solidFill>
                  <a:srgbClr val="4A5568"/>
                </a:solidFill>
                <a:latin typeface="Liberation Serif"/>
              </a:rPr>
              <a:t>жировой, нилас, шуга — тоже тёмный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92400E"/>
                </a:solidFill>
                <a:latin typeface="Liberation Serif"/>
              </a:rPr>
              <a:t>Зоны штиля:  </a:t>
            </a:r>
            <a:r>
              <a:rPr sz="1000">
                <a:solidFill>
                  <a:srgbClr val="4A5568"/>
                </a:solidFill>
                <a:latin typeface="Liberation Serif"/>
              </a:rPr>
              <a:t>безветрие даёт гладкую тёмную воду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92400E"/>
                </a:solidFill>
                <a:latin typeface="Liberation Serif"/>
              </a:rPr>
              <a:t>Биоплёнки:  </a:t>
            </a:r>
            <a:r>
              <a:rPr sz="1000">
                <a:solidFill>
                  <a:srgbClr val="4A5568"/>
                </a:solidFill>
                <a:latin typeface="Liberation Serif"/>
              </a:rPr>
              <a:t>плёнки планктона имитируют нефть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92400E"/>
                </a:solidFill>
                <a:latin typeface="Liberation Serif"/>
              </a:rPr>
              <a:t>Решение:  </a:t>
            </a:r>
            <a:r>
              <a:rPr sz="1000">
                <a:solidFill>
                  <a:srgbClr val="4A5568"/>
                </a:solidFill>
                <a:latin typeface="Liberation Serif"/>
              </a:rPr>
              <a:t>разность поляризаций VV/VH и отдельный класс «лёд» помогают отличить нефть от двойников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9144000" cy="32004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82296"/>
            <a:ext cx="141732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Liberation Serif"/>
              </a:rPr>
              <a:t>ДАННЫЕ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2768" y="100584"/>
            <a:ext cx="18288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82296"/>
            <a:ext cx="740664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Liberation Serif"/>
              </a:rPr>
              <a:t>Исходные данные и трёхклассовый датасет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64608"/>
            <a:ext cx="86868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700" b="0" i="0">
                <a:solidFill>
                  <a:srgbClr val="4A5568"/>
                </a:solidFill>
                <a:latin typeface="Liberation Serif"/>
              </a:rPr>
              <a:t>5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68680"/>
            <a:ext cx="4160520" cy="37947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868680"/>
            <a:ext cx="4160520" cy="29260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905256"/>
            <a:ext cx="39776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Liberation Serif"/>
              </a:rPr>
              <a:t>Sentinel-1 IW GRD — параметры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252728"/>
            <a:ext cx="3931920" cy="33832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298448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C5282"/>
                </a:solidFill>
                <a:latin typeface="Liberation Serif"/>
              </a:rPr>
              <a:t>Спутник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129844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Liberation Serif"/>
              </a:rPr>
              <a:t>Sentinel-1, ESA Copernicus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1645919"/>
            <a:ext cx="393192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1691639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C5282"/>
                </a:solidFill>
                <a:latin typeface="Liberation Serif"/>
              </a:rPr>
              <a:t>Диапазон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1691639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Liberation Serif"/>
              </a:rPr>
              <a:t>C-band, 5.405 ГГц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2039112"/>
            <a:ext cx="3931920" cy="33832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084831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C5282"/>
                </a:solidFill>
                <a:latin typeface="Liberation Serif"/>
              </a:rPr>
              <a:t>Поляризация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084831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Liberation Serif"/>
              </a:rPr>
              <a:t>VV + VH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2432304"/>
            <a:ext cx="393192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478024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C5282"/>
                </a:solidFill>
                <a:latin typeface="Liberation Serif"/>
              </a:rPr>
              <a:t>Разрешение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47802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Liberation Serif"/>
              </a:rPr>
              <a:t>10 м / пиксель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" y="2825496"/>
            <a:ext cx="3931920" cy="33832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2871215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C5282"/>
                </a:solidFill>
                <a:latin typeface="Liberation Serif"/>
              </a:rPr>
              <a:t>Сцен (обучение)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2871215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Liberation Serif"/>
              </a:rPr>
              <a:t>1 125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" y="3218687"/>
            <a:ext cx="393192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264407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C5282"/>
                </a:solidFill>
                <a:latin typeface="Liberation Serif"/>
              </a:rPr>
              <a:t>Тайлов 256×256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3264407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Liberation Serif"/>
              </a:rPr>
              <a:t>4 128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" y="3611880"/>
            <a:ext cx="3931920" cy="33832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36576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C5282"/>
                </a:solidFill>
                <a:latin typeface="Liberation Serif"/>
              </a:rPr>
              <a:t>Классы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365760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Liberation Serif"/>
              </a:rPr>
              <a:t>вода · нефть · лёд+суша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4005072"/>
            <a:ext cx="393192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050791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C5282"/>
                </a:solidFill>
                <a:latin typeface="Liberation Serif"/>
              </a:rPr>
              <a:t>Период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4050791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Liberation Serif"/>
              </a:rPr>
              <a:t>2022–2025, 4 акватории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868680"/>
            <a:ext cx="4160520" cy="37947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617720" y="868680"/>
            <a:ext cx="4160520" cy="29260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09160" y="905256"/>
            <a:ext cx="39776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Liberation Serif"/>
              </a:rPr>
              <a:t>Распределение классов в датасете</a:t>
            </a:r>
          </a:p>
        </p:txBody>
      </p:sp>
      <p:pic>
        <p:nvPicPr>
          <p:cNvPr id="39" name="Picture 38" descr="fig_class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655" y="1234440"/>
            <a:ext cx="3013505" cy="329184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9728" y="4873752"/>
            <a:ext cx="786384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0" i="1">
                <a:solidFill>
                  <a:srgbClr val="4A5568"/>
                </a:solidFill>
                <a:latin typeface="Liberation Serif"/>
              </a:rPr>
              <a:t>Источник: Copernicus Open Access Hub (ESA); базовый датасет MKLab (Krestenitis et al., 2019)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9144000" cy="32004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82296"/>
            <a:ext cx="141732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Liberation Serif"/>
              </a:rPr>
              <a:t>КЕЙС 1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2768" y="100584"/>
            <a:ext cx="18288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82296"/>
            <a:ext cx="740664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Liberation Serif"/>
              </a:rPr>
              <a:t>Кольский залив — базовый порт исследования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64608"/>
            <a:ext cx="86868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700" b="0" i="0">
                <a:solidFill>
                  <a:srgbClr val="4A5568"/>
                </a:solidFill>
                <a:latin typeface="Liberation Serif"/>
              </a:rPr>
              <a:t>6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68680"/>
            <a:ext cx="4160520" cy="379476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868680"/>
            <a:ext cx="4160520" cy="310896"/>
          </a:xfrm>
          <a:prstGeom prst="rect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905256"/>
            <a:ext cx="3931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Liberation Serif"/>
              </a:rPr>
              <a:t>Реальный инцидент — 11 августа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39319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Liberation Serif"/>
              </a:rPr>
              <a:t>При бункеровке судна в порту Мурманска</a:t>
            </a:r>
          </a:p>
          <a:p>
            <a:pPr algn="l"/>
            <a:r>
              <a:rPr sz="1000" b="0" i="0">
                <a:solidFill>
                  <a:srgbClr val="4A5568"/>
                </a:solidFill>
                <a:latin typeface="Liberation Serif"/>
              </a:rPr>
              <a:t>допущена утечка топлива.</a:t>
            </a:r>
          </a:p>
          <a:p>
            <a:pPr algn="l"/>
            <a:r>
              <a:rPr sz="1000" b="0" i="0">
                <a:solidFill>
                  <a:srgbClr val="4A5568"/>
                </a:solidFill>
                <a:latin typeface="Liberation Serif"/>
              </a:rPr>
              <a:t/>
            </a:r>
          </a:p>
          <a:p>
            <a:pPr algn="l"/>
            <a:r>
              <a:rPr sz="1000" b="0" i="0">
                <a:solidFill>
                  <a:srgbClr val="4A5568"/>
                </a:solidFill>
                <a:latin typeface="Liberation Serif"/>
              </a:rPr>
              <a:t>Тёмное пятно зафиксировано Sentinel-1</a:t>
            </a:r>
          </a:p>
          <a:p>
            <a:pPr algn="l"/>
            <a:r>
              <a:rPr sz="1000" b="0" i="0">
                <a:solidFill>
                  <a:srgbClr val="4A5568"/>
                </a:solidFill>
                <a:latin typeface="Liberation Serif"/>
              </a:rPr>
              <a:t>через 7 суток (18 августа): около 14 %</a:t>
            </a:r>
          </a:p>
          <a:p>
            <a:pPr algn="l"/>
            <a:r>
              <a:rPr sz="1000" b="0" i="0">
                <a:solidFill>
                  <a:srgbClr val="4A5568"/>
                </a:solidFill>
                <a:latin typeface="Liberation Serif"/>
              </a:rPr>
              <a:t>акватории залива.</a:t>
            </a:r>
          </a:p>
          <a:p>
            <a:pPr algn="l"/>
            <a:r>
              <a:rPr sz="1000" b="0" i="0">
                <a:solidFill>
                  <a:srgbClr val="4A5568"/>
                </a:solidFill>
                <a:latin typeface="Liberation Serif"/>
              </a:rPr>
              <a:t/>
            </a:r>
          </a:p>
          <a:p>
            <a:pPr algn="l"/>
            <a:r>
              <a:rPr sz="1000" b="0" i="0">
                <a:solidFill>
                  <a:srgbClr val="4A5568"/>
                </a:solidFill>
                <a:latin typeface="Liberation Serif"/>
              </a:rPr>
              <a:t>Кольский залив — главный нефтеналивной</a:t>
            </a:r>
          </a:p>
          <a:p>
            <a:pPr algn="l"/>
            <a:r>
              <a:rPr sz="1000" b="0" i="0">
                <a:solidFill>
                  <a:srgbClr val="4A5568"/>
                </a:solidFill>
                <a:latin typeface="Liberation Serif"/>
              </a:rPr>
              <a:t>узел Западной Арктики (≈ 30–40 млн т/год,</a:t>
            </a:r>
          </a:p>
          <a:p>
            <a:pPr algn="l"/>
            <a:r>
              <a:rPr sz="1000" b="0" i="0">
                <a:solidFill>
                  <a:srgbClr val="4A5568"/>
                </a:solidFill>
                <a:latin typeface="Liberation Serif"/>
              </a:rPr>
              <a:t>регулярные бункеровки).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868680"/>
            <a:ext cx="4160520" cy="3794760"/>
          </a:xfrm>
          <a:prstGeom prst="rect">
            <a:avLst/>
          </a:prstGeom>
          <a:solidFill>
            <a:srgbClr val="F0F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868680"/>
            <a:ext cx="4160520" cy="292608"/>
          </a:xfrm>
          <a:prstGeom prst="rect">
            <a:avLst/>
          </a:prstGeom>
          <a:solidFill>
            <a:srgbClr val="276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905256"/>
            <a:ext cx="4014215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Liberation Serif"/>
              </a:rPr>
              <a:t>Двойная верификация находки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1252728"/>
            <a:ext cx="3959352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Liberation Serif"/>
              </a:rPr>
              <a:t/>
            </a:r>
            <a:r>
              <a:rPr sz="1000" b="1">
                <a:solidFill>
                  <a:srgbClr val="276749"/>
                </a:solidFill>
                <a:latin typeface="Liberation Serif"/>
              </a:rPr>
              <a:t>Метео (ERA5):  </a:t>
            </a:r>
            <a:r>
              <a:rPr sz="1000">
                <a:solidFill>
                  <a:srgbClr val="4A5568"/>
                </a:solidFill>
                <a:latin typeface="Liberation Serif"/>
              </a:rPr>
              <a:t>ветер 4.8 м/с — в рабочем диапазоне 3–9 м/с (не штиль и не шторм)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276749"/>
                </a:solidFill>
                <a:latin typeface="Liberation Serif"/>
              </a:rPr>
              <a:t>Суда (AIS):  </a:t>
            </a:r>
            <a:r>
              <a:rPr sz="1000">
                <a:solidFill>
                  <a:srgbClr val="4A5568"/>
                </a:solidFill>
                <a:latin typeface="Liberation Serif"/>
              </a:rPr>
              <a:t>зафиксированы суда ≤ 5 км и ≤ 24 ч от аномалии в момент съёмки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276749"/>
                </a:solidFill>
                <a:latin typeface="Liberation Serif"/>
              </a:rPr>
              <a:t>Метод детектирования:  </a:t>
            </a:r>
            <a:r>
              <a:rPr sz="1000">
                <a:solidFill>
                  <a:srgbClr val="4A5568"/>
                </a:solidFill>
                <a:latin typeface="Liberation Serif"/>
              </a:rPr>
              <a:t>адаптивный порог по VV-каналу T = μ − 1.3·σ; подтверждён нейросетью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276749"/>
                </a:solidFill>
                <a:latin typeface="Liberation Serif"/>
              </a:rPr>
              <a:t>Вывод:  </a:t>
            </a:r>
            <a:r>
              <a:rPr sz="1000">
                <a:solidFill>
                  <a:srgbClr val="4A5568"/>
                </a:solidFill>
                <a:latin typeface="Liberation Serif"/>
              </a:rPr>
              <a:t>аномалия классифицирована как нефтяной разлив, а не ложная цель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" y="4873752"/>
            <a:ext cx="786384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0" i="1">
                <a:solidFill>
                  <a:srgbClr val="4A5568"/>
                </a:solidFill>
                <a:latin typeface="Liberation Serif"/>
              </a:rPr>
              <a:t>Источник: Sentinel-1 (ESA); метеореанализ ERA5 (ECMWF); судовой трафик AIS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9144000" cy="32004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82296"/>
            <a:ext cx="141732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Liberation Serif"/>
              </a:rPr>
              <a:t>КЕЙС 2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2768" y="100584"/>
            <a:ext cx="18288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82296"/>
            <a:ext cx="740664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Liberation Serif"/>
              </a:rPr>
              <a:t>Новые порты: Варандей и Печенга (снимки Sentinel-1)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64608"/>
            <a:ext cx="86868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700" b="0" i="0">
                <a:solidFill>
                  <a:srgbClr val="4A5568"/>
                </a:solidFill>
                <a:latin typeface="Liberation Serif"/>
              </a:rPr>
              <a:t>7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868680"/>
            <a:ext cx="4297680" cy="3703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868680"/>
            <a:ext cx="4297680" cy="27432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905256"/>
            <a:ext cx="4114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Liberation Serif"/>
              </a:rPr>
              <a:t>Варандей — нефтеналивной терминал НАО</a:t>
            </a:r>
          </a:p>
        </p:txBody>
      </p:sp>
      <p:pic>
        <p:nvPicPr>
          <p:cNvPr id="12" name="Picture 11" descr="fig_varand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" y="1188720"/>
            <a:ext cx="4000500" cy="32004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617720" y="868680"/>
            <a:ext cx="4297680" cy="3703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868680"/>
            <a:ext cx="4297680" cy="2743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905256"/>
            <a:ext cx="4114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Liberation Serif"/>
              </a:rPr>
              <a:t>Печенга — порт Мурманской области</a:t>
            </a:r>
          </a:p>
        </p:txBody>
      </p:sp>
      <p:pic>
        <p:nvPicPr>
          <p:cNvPr id="16" name="Picture 15" descr="fig_pechen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310" y="1188720"/>
            <a:ext cx="4000500" cy="3200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4320" y="4617720"/>
            <a:ext cx="859536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 i="1">
                <a:solidFill>
                  <a:srgbClr val="4A5568"/>
                </a:solidFill>
                <a:latin typeface="Liberation Serif"/>
              </a:rPr>
              <a:t>Тёмные аномалии в VV-канале выделяются автоматически; стрелки — зоны разливов и ложные цели (лёд, тень).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" y="4873752"/>
            <a:ext cx="786384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0" i="1">
                <a:solidFill>
                  <a:srgbClr val="4A5568"/>
                </a:solidFill>
                <a:latin typeface="Liberation Serif"/>
              </a:rPr>
              <a:t>Источник: Sentinel-1 IW GRD, ESA Copernicus (2025)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9144000" cy="32004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82296"/>
            <a:ext cx="141732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Liberation Serif"/>
              </a:rPr>
              <a:t>КЕЙС 3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2768" y="100584"/>
            <a:ext cx="18288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82296"/>
            <a:ext cx="740664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Liberation Serif"/>
              </a:rPr>
              <a:t>Сабетта и мотивирующий случай Норильск-2020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64608"/>
            <a:ext cx="86868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700" b="0" i="0">
                <a:solidFill>
                  <a:srgbClr val="4A5568"/>
                </a:solidFill>
                <a:latin typeface="Liberation Serif"/>
              </a:rPr>
              <a:t>8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868680"/>
            <a:ext cx="4297680" cy="3429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868680"/>
            <a:ext cx="4297680" cy="2743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905256"/>
            <a:ext cx="4114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Liberation Serif"/>
              </a:rPr>
              <a:t>Сабетта — ворота арктического СПГ (Обская губа)</a:t>
            </a:r>
          </a:p>
        </p:txBody>
      </p:sp>
      <p:pic>
        <p:nvPicPr>
          <p:cNvPr id="12" name="Picture 11" descr="fig_sabet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" y="1188720"/>
            <a:ext cx="3714750" cy="29718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617720" y="868680"/>
            <a:ext cx="4297680" cy="3429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868680"/>
            <a:ext cx="4297680" cy="274320"/>
          </a:xfrm>
          <a:prstGeom prst="rect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905256"/>
            <a:ext cx="4114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Liberation Serif"/>
              </a:rPr>
              <a:t>Норильск — 3 и 15 июня 2020 (после аварии НТЭК)</a:t>
            </a:r>
          </a:p>
        </p:txBody>
      </p:sp>
      <p:pic>
        <p:nvPicPr>
          <p:cNvPr id="16" name="Picture 15" descr="fig_noril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1667232"/>
            <a:ext cx="4224528" cy="201477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74320" y="4370832"/>
            <a:ext cx="8641080" cy="420624"/>
          </a:xfrm>
          <a:prstGeom prst="rect">
            <a:avLst/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4389120"/>
            <a:ext cx="8458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1">
                <a:solidFill>
                  <a:srgbClr val="C53030"/>
                </a:solidFill>
                <a:latin typeface="Liberation Serif"/>
              </a:rPr>
              <a:t>Важно: разлив в Норильске был на суше и реках — его отслеживали по оптике Sentinel-2; радар здесь показывает ледовую обстановку, а не плёнку нефти.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" y="4873752"/>
            <a:ext cx="786384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0" i="1">
                <a:solidFill>
                  <a:srgbClr val="4A5568"/>
                </a:solidFill>
                <a:latin typeface="Liberation Serif"/>
              </a:rPr>
              <a:t>Источник: Sentinel-1 / Sentinel-2, ESA Copernicus; Росприроднадзор (2020)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9144000" cy="32004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82296"/>
            <a:ext cx="141732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Liberation Serif"/>
              </a:rPr>
              <a:t>МОДЕЛЬ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2768" y="100584"/>
            <a:ext cx="18288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82296"/>
            <a:ext cx="740664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Liberation Serif"/>
              </a:rPr>
              <a:t>Нейросеть DeepLabV3+, адаптированная под 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64608"/>
            <a:ext cx="86868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700" b="0" i="0">
                <a:solidFill>
                  <a:srgbClr val="4A5568"/>
                </a:solidFill>
                <a:latin typeface="Liberation Serif"/>
              </a:rPr>
              <a:t>9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68680"/>
            <a:ext cx="2788920" cy="2788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868680"/>
            <a:ext cx="2788920" cy="31089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905256"/>
            <a:ext cx="2624327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Liberation Serif"/>
              </a:rPr>
              <a:t>Энкодер ResNet-50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1298448"/>
            <a:ext cx="2569463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Предобучен на ImageNet</a:t>
            </a:r>
          </a:p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/>
            </a:r>
          </a:p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•  вход перестроен под 1 канал</a:t>
            </a:r>
          </a:p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   (VV, дБ)</a:t>
            </a:r>
          </a:p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•  дилатированные свёртки</a:t>
            </a:r>
          </a:p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•  выходной страйд 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868680"/>
            <a:ext cx="2788920" cy="2788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9272" y="868680"/>
            <a:ext cx="2788920" cy="310896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905256"/>
            <a:ext cx="2624327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Liberation Serif"/>
              </a:rPr>
              <a:t>ASPP — контекст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1298448"/>
            <a:ext cx="2569463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Atrous Spatial Pyramid Pooling</a:t>
            </a:r>
          </a:p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/>
            </a:r>
          </a:p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•  ветви r = 6, 12, 18</a:t>
            </a:r>
          </a:p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•  глобальный pooling</a:t>
            </a:r>
          </a:p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•  объекты разного масштаба:</a:t>
            </a:r>
          </a:p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   от пикселя до пятна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2784" y="868680"/>
            <a:ext cx="2788920" cy="2788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2784" y="868680"/>
            <a:ext cx="2788920" cy="310896"/>
          </a:xfrm>
          <a:prstGeom prst="rect">
            <a:avLst/>
          </a:prstGeom>
          <a:solidFill>
            <a:srgbClr val="276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905256"/>
            <a:ext cx="2624327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Liberation Serif"/>
              </a:rPr>
              <a:t>Декодер + внимание scSE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298448"/>
            <a:ext cx="2569463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3 класса на выходе</a:t>
            </a:r>
          </a:p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/>
            </a:r>
          </a:p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•  scSE подавляет спекл-шум</a:t>
            </a:r>
          </a:p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•  усиливает нефтяные пятна</a:t>
            </a:r>
          </a:p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•  потери Dice-BCE</a:t>
            </a:r>
          </a:p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•  веса классов 0.3 / 9.8 / 1.2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40480"/>
            <a:ext cx="8412480" cy="822960"/>
          </a:xfrm>
          <a:prstGeom prst="rect">
            <a:avLst/>
          </a:prstGeom>
          <a:solidFill>
            <a:srgbClr val="EB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840480"/>
            <a:ext cx="109728" cy="8229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895344"/>
            <a:ext cx="8229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  <a:latin typeface="Liberation Serif"/>
              </a:rPr>
              <a:t>Обучение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33087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Liberation Serif"/>
              </a:rPr>
              <a:t>Оптимизатор AdamW  ·  78 эпох (CosineAnnealing)  ·  батч 16, GPU A100  ·  аугментация + TTA ×4  ·  41.2 млн параметров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9144000" cy="32004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82296"/>
            <a:ext cx="141732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Liberation Serif"/>
              </a:rPr>
              <a:t>РЕЗУЛЬТАТЫ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2768" y="100584"/>
            <a:ext cx="18288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82296"/>
            <a:ext cx="740664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Liberation Serif"/>
              </a:rPr>
              <a:t>Результаты модели: метрики и перенос на новые порты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64608"/>
            <a:ext cx="86868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700" b="0" i="0">
                <a:solidFill>
                  <a:srgbClr val="4A5568"/>
                </a:solidFill>
                <a:latin typeface="Liberation Serif"/>
              </a:rPr>
              <a:t>10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868680"/>
            <a:ext cx="4892040" cy="37947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868680"/>
            <a:ext cx="4892040" cy="2743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905256"/>
            <a:ext cx="4709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Liberation Serif"/>
              </a:rPr>
              <a:t>Кривые обучения (78 эпох): потери и mIoU</a:t>
            </a:r>
          </a:p>
        </p:txBody>
      </p:sp>
      <p:pic>
        <p:nvPicPr>
          <p:cNvPr id="12" name="Picture 11" descr="fig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933914"/>
            <a:ext cx="4818888" cy="188374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257800" y="868680"/>
            <a:ext cx="3520440" cy="768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57800" y="868680"/>
            <a:ext cx="109728" cy="76809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923544"/>
            <a:ext cx="1463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  <a:latin typeface="Liberation Serif"/>
              </a:rPr>
              <a:t>95.8 %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923544"/>
            <a:ext cx="187451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Точность (accuracy)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7800" y="1709928"/>
            <a:ext cx="3520440" cy="768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57800" y="1709928"/>
            <a:ext cx="109728" cy="768096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1764792"/>
            <a:ext cx="1463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2C5282"/>
                </a:solidFill>
                <a:latin typeface="Liberation Serif"/>
              </a:rPr>
              <a:t>0.82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764792"/>
            <a:ext cx="187451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mIoU (3 класса)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57800" y="2551176"/>
            <a:ext cx="3520440" cy="768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57800" y="2551176"/>
            <a:ext cx="109728" cy="768096"/>
          </a:xfrm>
          <a:prstGeom prst="rect">
            <a:avLst/>
          </a:prstGeom>
          <a:solidFill>
            <a:srgbClr val="276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2606040"/>
            <a:ext cx="1463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276749"/>
                </a:solidFill>
                <a:latin typeface="Liberation Serif"/>
              </a:rPr>
              <a:t>0.89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606040"/>
            <a:ext cx="187451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  <a:latin typeface="Liberation Serif"/>
              </a:rPr>
              <a:t>F1 по нефти (Кольский)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57800" y="3401568"/>
            <a:ext cx="3520440" cy="1261872"/>
          </a:xfrm>
          <a:prstGeom prst="rect">
            <a:avLst/>
          </a:prstGeom>
          <a:solidFill>
            <a:srgbClr val="EB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57800" y="3401568"/>
            <a:ext cx="3520440" cy="27432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3438144"/>
            <a:ext cx="3337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Liberation Serif"/>
              </a:rPr>
              <a:t>Перенос без дообучения (zero-shot)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3730752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Liberation Serif"/>
              </a:rPr>
              <a:t>Кольский:   F1 = 0.89   (FP 1.4 %)</a:t>
            </a:r>
          </a:p>
          <a:p>
            <a:pPr algn="l"/>
            <a:r>
              <a:rPr sz="1000" b="0" i="0">
                <a:solidFill>
                  <a:srgbClr val="1E3A5F"/>
                </a:solidFill>
                <a:latin typeface="Liberation Serif"/>
              </a:rPr>
              <a:t>Варандей:  F1 = 0.84   (FP 1.4 %)</a:t>
            </a:r>
          </a:p>
          <a:p>
            <a:pPr algn="l"/>
            <a:r>
              <a:rPr sz="1000" b="0" i="0">
                <a:solidFill>
                  <a:srgbClr val="1E3A5F"/>
                </a:solidFill>
                <a:latin typeface="Liberation Serif"/>
              </a:rPr>
              <a:t>Сабетта:    F1 = 0.76   (FP 6.2 %)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9144000" cy="32004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82296"/>
            <a:ext cx="141732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Liberation Serif"/>
              </a:rPr>
              <a:t>НОВИЗНА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2768" y="100584"/>
            <a:ext cx="18288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82296"/>
            <a:ext cx="740664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Liberation Serif"/>
              </a:rPr>
              <a:t>Научная новизна и сравнение с аналогами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64608"/>
            <a:ext cx="86868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700" b="0" i="0">
                <a:solidFill>
                  <a:srgbClr val="4A5568"/>
                </a:solidFill>
                <a:latin typeface="Liberation Serif"/>
              </a:rPr>
              <a:t>11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868680"/>
            <a:ext cx="4572000" cy="117043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868680"/>
            <a:ext cx="457200" cy="117043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252728"/>
            <a:ext cx="457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erif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978407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  <a:latin typeface="Liberation Serif"/>
              </a:rPr>
              <a:t>Трёхклассовый датасет для Арктики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289304"/>
            <a:ext cx="3886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Liberation Serif"/>
              </a:rPr>
              <a:t>Впервые лёд выделен в отдельный класс — до 70 % тёмных пятен это лёд, а не нефть.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30552"/>
            <a:ext cx="4572000" cy="11704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130552"/>
            <a:ext cx="457200" cy="1170432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514600"/>
            <a:ext cx="457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erif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240280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C5282"/>
                </a:solidFill>
                <a:latin typeface="Liberation Serif"/>
              </a:rPr>
              <a:t>DeepLabV3+ под одноканальный 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551176"/>
            <a:ext cx="3886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Liberation Serif"/>
              </a:rPr>
              <a:t>Вход и блоки внимания scSE адаптированы под радар вместо RGB-снимков.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92424"/>
            <a:ext cx="4572000" cy="117043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392424"/>
            <a:ext cx="457200" cy="1170432"/>
          </a:xfrm>
          <a:prstGeom prst="rect">
            <a:avLst/>
          </a:prstGeom>
          <a:solidFill>
            <a:srgbClr val="276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776472"/>
            <a:ext cx="457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erif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502152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76749"/>
                </a:solidFill>
                <a:latin typeface="Liberation Serif"/>
              </a:rPr>
              <a:t>Оценка переноса между портами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813048"/>
            <a:ext cx="3886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Liberation Serif"/>
              </a:rPr>
              <a:t>Впервые измерена деградация качества при переходе на новые акватории России.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3480" y="868680"/>
            <a:ext cx="3886200" cy="37947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3480" y="868680"/>
            <a:ext cx="3886200" cy="274320"/>
          </a:xfrm>
          <a:prstGeom prst="rect">
            <a:avLst/>
          </a:prstGeom>
          <a:solidFill>
            <a:srgbClr val="276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905256"/>
            <a:ext cx="37033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Liberation Serif"/>
              </a:rPr>
              <a:t>Сравнение по F1 с методами из литературы</a:t>
            </a:r>
          </a:p>
        </p:txBody>
      </p:sp>
      <p:pic>
        <p:nvPicPr>
          <p:cNvPr id="27" name="Picture 26" descr="fi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85850"/>
            <a:ext cx="3794760" cy="197987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9728" y="4873752"/>
            <a:ext cx="786384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0" i="1">
                <a:solidFill>
                  <a:srgbClr val="4A5568"/>
                </a:solidFill>
                <a:latin typeface="Liberation Serif"/>
              </a:rPr>
              <a:t>Источник: Сравнение: Otsu; U-Net; GLCM+CNN; адаптивный порог (по данным литературы)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9144000" cy="32004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82296"/>
            <a:ext cx="141732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Liberation Serif"/>
              </a:rPr>
              <a:t>ВЫВОДЫ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2768" y="100584"/>
            <a:ext cx="18288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82296"/>
            <a:ext cx="740664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Liberation Serif"/>
              </a:rPr>
              <a:t>Выводы и практическая значимость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64608"/>
            <a:ext cx="86868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700" b="0" i="0">
                <a:solidFill>
                  <a:srgbClr val="4A5568"/>
                </a:solidFill>
                <a:latin typeface="Liberation Serif"/>
              </a:rPr>
              <a:t>12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68680"/>
            <a:ext cx="8412480" cy="65836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868680"/>
            <a:ext cx="457200" cy="658368"/>
          </a:xfrm>
          <a:prstGeom prst="rect">
            <a:avLst/>
          </a:prstGeom>
          <a:solidFill>
            <a:srgbClr val="276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14983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Liberation Serif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024127"/>
            <a:ext cx="76809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Liberation Serif"/>
              </a:rPr>
              <a:t>Реализован полный конвейер: обработка снимка → нейросеть → проверка по ERA5 и AIS.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581912"/>
            <a:ext cx="8412480" cy="65836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581912"/>
            <a:ext cx="457200" cy="658368"/>
          </a:xfrm>
          <a:prstGeom prst="rect">
            <a:avLst/>
          </a:prstGeom>
          <a:solidFill>
            <a:srgbClr val="276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728216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Liberation Serif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737360"/>
            <a:ext cx="76809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Liberation Serif"/>
              </a:rPr>
              <a:t>Собран первый трёхклассовый датасет (1125 сцен) для российских арктических акваторий.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95144"/>
            <a:ext cx="8412480" cy="65836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295144"/>
            <a:ext cx="457200" cy="658368"/>
          </a:xfrm>
          <a:prstGeom prst="rect">
            <a:avLst/>
          </a:prstGeom>
          <a:solidFill>
            <a:srgbClr val="276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441448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Liberation Serif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450591"/>
            <a:ext cx="76809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Liberation Serif"/>
              </a:rPr>
              <a:t>Достигнуто F1 = 0.89 — выше всех методов-аналогов из литературы.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08376"/>
            <a:ext cx="8412480" cy="65836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008376"/>
            <a:ext cx="457200" cy="658368"/>
          </a:xfrm>
          <a:prstGeom prst="rect">
            <a:avLst/>
          </a:prstGeom>
          <a:solidFill>
            <a:srgbClr val="276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15468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Liberation Serif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163824"/>
            <a:ext cx="76809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Liberation Serif"/>
              </a:rPr>
              <a:t>Метод проверен на 4 портах; измерена деградация качества при переносе модели.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22191"/>
            <a:ext cx="8412480" cy="841248"/>
          </a:xfrm>
          <a:prstGeom prst="rect">
            <a:avLst/>
          </a:prstGeom>
          <a:solidFill>
            <a:srgbClr val="F0F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822191"/>
            <a:ext cx="8412480" cy="274320"/>
          </a:xfrm>
          <a:prstGeom prst="rect">
            <a:avLst/>
          </a:prstGeom>
          <a:solidFill>
            <a:srgbClr val="276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3858768"/>
            <a:ext cx="8229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Liberation Serif"/>
              </a:rPr>
              <a:t>Практическая значимость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4151376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76749"/>
                </a:solidFill>
                <a:latin typeface="Liberation Serif"/>
              </a:rPr>
              <a:t>Система готова к всепогодному мониторингу четырёх арктических акваторий России и обеспечивает автоматическое обнаружение разливов с превосходством над базовыми методами.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