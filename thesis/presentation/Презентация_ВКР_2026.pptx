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5029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850392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Разработка системы автоматического детектирования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нефтяных разливов в акваториях арктических портов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по данным спутниковых радиолокационных систем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4206240" cy="23317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420624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САНКТ-ПЕТЕРБУРГСКИЙ ГОСУДАРСТВЕННЫЙ УНИВЕРСИТЕТ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65376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2C5282"/>
                </a:solidFill>
                <a:latin typeface="Liberation Serif"/>
              </a:rPr>
              <a:t>Кафедра информатики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7627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Направление: Прикладная информатика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487168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Профиль: Искусственный интеллект и наука о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92608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E3A5F"/>
                </a:solidFill>
                <a:latin typeface="Liberation Serif"/>
              </a:rPr>
              <a:t>Магистерская диссертация ·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481328"/>
            <a:ext cx="4206240" cy="233172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481328"/>
            <a:ext cx="42062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СВЕДЕНИЯ ОБ АВТОРЕ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86537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Подготовил: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10312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  <a:latin typeface="Liberation Serif"/>
              </a:rPr>
              <a:t>Байханов Владислав Камолович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2395728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студент группы 24.М81-мм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743200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Научный руководитель: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2962656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к.т.н., доцент Митько А. 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 / 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Цель и задачи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2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86868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109728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932688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ЦЕЛЬ РАБОТЫ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70432"/>
            <a:ext cx="8092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Создать и проверить систему, которая по снимкам Sentinel-1 автоматически находит нефтяные разливы в арктических портах и устойчива к ложным целям (молодой лёд, штиль, биоплёнки).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38528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ЗАДАЧИ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50008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59152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Изучить физику радиолокации нефти и систематизировать ложные цели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79776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779776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89504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898648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Реализовать конвейер предобработки снимков Sentinel-1 в ESA SNAP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19272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319272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429000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438144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Собрать трёхклассовый датасет: вода / нефть / лёд + суша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858768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968496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977640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Адаптировать и обучить нейросеть DeepLabV3+ под радарные данные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98264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398264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507992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517136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Проверить перенос модели на новые порты и сравнить с аналогами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АКТУАЛЬНОСТЬ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Нефтяные разливы в Арктике — масштаб проблемы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3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807208" cy="5486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E3A5F"/>
                </a:solidFill>
                <a:latin typeface="Liberation Serif"/>
              </a:rPr>
              <a:t>700+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тыс. тонн нефти в год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попадает в Мировой океан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39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39" y="868680"/>
            <a:ext cx="2807208" cy="5486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39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2C5282"/>
                </a:solidFill>
                <a:latin typeface="Liberation Serif"/>
              </a:rPr>
              <a:t>5–10×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79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медленнее разлагается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нефть в воде &lt; 5 °C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868680"/>
            <a:ext cx="2807208" cy="54864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92400E"/>
                </a:solidFill>
                <a:latin typeface="Liberation Serif"/>
              </a:rPr>
              <a:t>&gt;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1627632"/>
            <a:ext cx="262432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времени — облака и ночь: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оптика в Арктике не видит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87168"/>
            <a:ext cx="84124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ДВА ПОКАЗАТЕЛЬНЫХ СЛУЧАЯ В РОССИЙСКОЙ АРКТИКЕ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98064"/>
            <a:ext cx="4160520" cy="187451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798064"/>
            <a:ext cx="4160520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август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Утечка при бункеровке судна в Мурманске.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Тёмное пятно зафиксировано Sentinel-1: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около 14 % акватории залива.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Подтверждён нашей системой (ERA5 + AIS).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2798064"/>
            <a:ext cx="4160520" cy="187451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7720" y="2798064"/>
            <a:ext cx="4160520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2744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май 2020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Авария ТЭЦ-3 НТЭК: ≈ 21 000 тонн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дизтоплива в реки и почву.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Крупнейший разлив Арктики.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Штраф — 146 млрд рублей.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ITOPF (2023); Росприроднадзор; данные Sentinel-1, ESA Copernicus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ДАННЫЕ И МЕТОД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Радиолокация Sentinel-1 и трёхклассовый датасет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4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8412480" cy="84124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109728" cy="8412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813816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950" b="1">
                <a:solidFill>
                  <a:srgbClr val="1E3A5F"/>
                </a:solidFill>
                <a:latin typeface="Liberation Serif"/>
              </a:rPr>
              <a:t>Почему радар (SAR):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работает круглосуточно и сквозь облака; нефть гасит рябь (эффект Марангони) — на снимке тёмное пятно.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92400E"/>
                </a:solidFill>
                <a:latin typeface="Liberation Serif"/>
              </a:rPr>
              <a:t>Ложные цели: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лёд, штиль и биоплёнки дают такие же пятна (до 70 % тёмных пятен в Арктике — лёд); поэтому лёд выделен в отдельный класс.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4160520" cy="2926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Sentinel-1 IW GRD — параметры данных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2167128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194560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Спутник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194560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Sentinel-1, ESA Copernicus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505456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32888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Диапазон · поляр.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532888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C-band 5.4 ГГц · VV + VH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2843784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871216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Разрешение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871216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10 м / пиксель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3182112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209544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Объём датасета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209544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1 125 сцен · 4 128 тайлов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3520440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547872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Размер тайла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547872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256 × 256 пикселей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" y="3858768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886200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Классы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3886200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вода · нефть · лёд + суша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" y="4197096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224528"/>
            <a:ext cx="17830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Районы · период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224528"/>
            <a:ext cx="2011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4 акватории · 2022–2025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1772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17720" y="1783080"/>
            <a:ext cx="4160520" cy="2926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0916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Распределение классов в датасете</a:t>
            </a:r>
          </a:p>
        </p:txBody>
      </p:sp>
      <p:pic>
        <p:nvPicPr>
          <p:cNvPr id="39" name="Picture 38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2" y="2121408"/>
            <a:ext cx="2276870" cy="248716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Copernicus Open Access Hub (ESA); датасет MKLab (Krestenitis et al., 2019)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A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Реальные разливы: Кольский залив и Норильск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5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841248"/>
            <a:ext cx="4315968" cy="397763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841248"/>
            <a:ext cx="4315968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877824"/>
            <a:ext cx="4114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11 августа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243584"/>
            <a:ext cx="411480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При бункеровке судна в порту Мурманска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допущена утечка топлива. Sentinel-1 зафиксировал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тёмное пятно через 7 суток (18 авг.): около 14 %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акватории — крупнейшего нефтяного узла Арктики.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2377440"/>
            <a:ext cx="4078224" cy="2926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" y="2404872"/>
            <a:ext cx="38404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Двойная верификация — это НЕ ложная цель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706624"/>
            <a:ext cx="4078224" cy="34747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2761488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900" b="1">
                <a:solidFill>
                  <a:srgbClr val="2C5282"/>
                </a:solidFill>
                <a:latin typeface="Liberation Serif"/>
              </a:rPr>
              <a:t>ERA5 (метео):  </a:t>
            </a:r>
            <a:r>
              <a:rPr sz="900">
                <a:solidFill>
                  <a:srgbClr val="4A5568"/>
                </a:solidFill>
                <a:latin typeface="Liberation Serif"/>
              </a:rPr>
              <a:t>ветер 4.8 м/с — в рабочем диапазоне 3–9 м/с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3090672"/>
            <a:ext cx="4078224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" y="3145536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900" b="1">
                <a:solidFill>
                  <a:srgbClr val="2C5282"/>
                </a:solidFill>
                <a:latin typeface="Liberation Serif"/>
              </a:rPr>
              <a:t>AIS (суда):  </a:t>
            </a:r>
            <a:r>
              <a:rPr sz="900">
                <a:solidFill>
                  <a:srgbClr val="4A5568"/>
                </a:solidFill>
                <a:latin typeface="Liberation Serif"/>
              </a:rPr>
              <a:t>суда ≤ 5 км и ≤ 24 ч от аномалии в момент съёмки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474720"/>
            <a:ext cx="4078224" cy="34747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3529584"/>
            <a:ext cx="39136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900" b="1">
                <a:solidFill>
                  <a:srgbClr val="2C5282"/>
                </a:solidFill>
                <a:latin typeface="Liberation Serif"/>
              </a:rPr>
              <a:t>Итог:  </a:t>
            </a:r>
            <a:r>
              <a:rPr sz="900">
                <a:solidFill>
                  <a:srgbClr val="4A5568"/>
                </a:solidFill>
                <a:latin typeface="Liberation Serif"/>
              </a:rPr>
              <a:t>разлив подтверждён; ложные цели (лёд, штиль) исключены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3877056"/>
            <a:ext cx="4078224" cy="585216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3877056"/>
            <a:ext cx="109728" cy="58521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950208"/>
            <a:ext cx="3794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76749"/>
                </a:solidFill>
                <a:latin typeface="Liberation Serif"/>
              </a:rPr>
              <a:t>Результат модели на Кольском заливе: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169663"/>
            <a:ext cx="37947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E3A5F"/>
                </a:solidFill>
                <a:latin typeface="Liberation Serif"/>
              </a:rPr>
              <a:t>F1 = 0.89   mIoU = 0.82   Accuracy = 95.8 %   FP = 1.4 %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36592" y="841248"/>
            <a:ext cx="4133087" cy="397763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36592" y="841248"/>
            <a:ext cx="4133087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877824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29 мая 2020</a:t>
            </a:r>
          </a:p>
        </p:txBody>
      </p:sp>
      <p:pic>
        <p:nvPicPr>
          <p:cNvPr id="28" name="Picture 27" descr="fig_noril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280863"/>
            <a:ext cx="4023360" cy="191883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46320" y="333756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Авария ТЭЦ-3 НТЭК: ≈ 21 000 т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дизтоплива в реки Далдыкан и Амбарная.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Штраф — 146 млрд руб.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36592" y="4133087"/>
            <a:ext cx="4133087" cy="34747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0" y="4169663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C53030"/>
                </a:solidFill>
                <a:latin typeface="Liberation Serif"/>
              </a:rPr>
              <a:t>Мониторинг вёлся оптикой Sentinel-2 (разлив на суше);</a:t>
            </a:r>
          </a:p>
          <a:p>
            <a:pPr algn="l"/>
            <a:r>
              <a:rPr sz="800" b="0" i="1">
                <a:solidFill>
                  <a:srgbClr val="C53030"/>
                </a:solidFill>
                <a:latin typeface="Liberation Serif"/>
              </a:rPr>
              <a:t>радар фиксирует ледовую обстановку, не плёнку.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(ESA); ERA5 (ECMWF); AIS; Росприроднадзор (2020)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B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Ложные цели в действии: Варандей, Печенга, Сабетта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6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" y="868680"/>
            <a:ext cx="2807208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Варандей — нефтеналивной терминал НАО</a:t>
            </a:r>
          </a:p>
        </p:txBody>
      </p:sp>
      <p:pic>
        <p:nvPicPr>
          <p:cNvPr id="12" name="Picture 11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5" y="1179576"/>
            <a:ext cx="2628900" cy="210312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095244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95244" y="868680"/>
            <a:ext cx="2807208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9252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Печенга — военно-морской порт</a:t>
            </a:r>
          </a:p>
        </p:txBody>
      </p:sp>
      <p:pic>
        <p:nvPicPr>
          <p:cNvPr id="16" name="Picture 15" descr="fig_pechen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398" y="1179576"/>
            <a:ext cx="262890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025896" y="868680"/>
            <a:ext cx="2807208" cy="24688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25896" y="868680"/>
            <a:ext cx="2807208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896112"/>
            <a:ext cx="2697479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Liberation Serif"/>
              </a:rPr>
              <a:t>Сабетта — ворота арктического СПГ</a:t>
            </a:r>
          </a:p>
        </p:txBody>
      </p:sp>
      <p:pic>
        <p:nvPicPr>
          <p:cNvPr id="20" name="Picture 19" descr="fig_sabet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049" y="1179576"/>
            <a:ext cx="2628900" cy="21031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64592" y="3456432"/>
            <a:ext cx="8814816" cy="12984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4592" y="3456432"/>
            <a:ext cx="109728" cy="1298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511296"/>
            <a:ext cx="4160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92400E"/>
                </a:solidFill>
                <a:latin typeface="Liberation Serif"/>
              </a:rPr>
              <a:t>ТЁМНЫЕ ПЯТНА НА НОВЫХ ПОРТАХ — НЕ ВСЕГДА НЕФТЬ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3822191"/>
            <a:ext cx="4160520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Молодой лёд (жировой, нилас, шуга) гасит рябь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так же, как нефть — эффект похожий, но источник другой.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Зоны штиля и биоплёнки — та же картина.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Вывод: 3-классовая модель (лёд = отдельный класс)</a:t>
            </a:r>
          </a:p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снижает ложные тревоги.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63440" y="3493008"/>
            <a:ext cx="4206240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3529584"/>
            <a:ext cx="4023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Рост ложных тревог при переносе модели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80390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76749"/>
                </a:solidFill>
                <a:latin typeface="Liberation Serif"/>
              </a:rPr>
              <a:t>Кольский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80390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80390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407822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2C5282"/>
                </a:solidFill>
                <a:latin typeface="Liberation Serif"/>
              </a:rPr>
              <a:t>Варандей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407822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407822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FP = 1.4 %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352544"/>
            <a:ext cx="15087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Liberation Serif"/>
              </a:rPr>
              <a:t>Сабетта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4352544"/>
            <a:ext cx="105156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E3A5F"/>
                </a:solidFill>
                <a:latin typeface="Liberation Serif"/>
              </a:rPr>
              <a:t>F1 = 0.76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352544"/>
            <a:ext cx="14173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92400E"/>
                </a:solidFill>
                <a:latin typeface="Liberation Serif"/>
              </a:rPr>
              <a:t>FP = 6.2 %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IW GRD, ESA Copernicus (2022–2025)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МОДЕЛЬ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Нейросеть DeepLabV3+, адаптированная под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7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788920" cy="3108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Энкодер ResNet-50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Предобучен на ImageNet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вход перестроен под 1 канал (VV, дБ)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дилатированные свёртки (stride 16)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5 уровней, 64–2048 карт признаков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4699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4699" y="868680"/>
            <a:ext cx="2788920" cy="310896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39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ASPP — многомасштабный контекст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2715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Atrous Spatial Pyramid Pooling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ветви r = 6, 12, 18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глобальный average pooling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от пикселя до крупного пятна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868680"/>
            <a:ext cx="2788920" cy="31089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Декодер + внимание scSE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5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3 класса: вода · нефть · лёд+суша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scSE подавляет спекл-шум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усиливает нефтяные пятна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потери Dice-BCE, веса 0.3/9.8/1.2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22191"/>
            <a:ext cx="8412480" cy="82296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822191"/>
            <a:ext cx="109728" cy="8229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877056"/>
            <a:ext cx="1828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Обучение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1148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AdamW · CosineAnnealing, 78 эпох · батч 16, GPU A100 · аугментация + TTA × 4 · 41.2 млн параметров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РЕЗУЛЬТАТЫ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Результаты обучения и метрики качества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8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868680"/>
            <a:ext cx="5074920" cy="3931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868680"/>
            <a:ext cx="507492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905256"/>
            <a:ext cx="48920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Кривые обучения (78 эпох): потери и mIoU</a:t>
            </a:r>
          </a:p>
        </p:txBody>
      </p:sp>
      <p:pic>
        <p:nvPicPr>
          <p:cNvPr id="12" name="Picture 11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1966749"/>
            <a:ext cx="5001768" cy="195523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440680" y="868680"/>
            <a:ext cx="3474720" cy="3931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40680" y="868680"/>
            <a:ext cx="34747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905256"/>
            <a:ext cx="32918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Метрики и перенос модели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1188720"/>
            <a:ext cx="3474720" cy="74980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40680" y="1188720"/>
            <a:ext cx="109728" cy="7498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1243584"/>
            <a:ext cx="1508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E3A5F"/>
                </a:solidFill>
                <a:latin typeface="Liberation Serif"/>
              </a:rPr>
              <a:t>95.8 %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1243584"/>
            <a:ext cx="1737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1E3A5F"/>
                </a:solidFill>
                <a:latin typeface="Liberation Serif"/>
              </a:rPr>
              <a:t>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1481328"/>
            <a:ext cx="17373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95.8 из 100 пикселей — верная классификация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40680" y="1993392"/>
            <a:ext cx="347472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1993392"/>
            <a:ext cx="109728" cy="7498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2048256"/>
            <a:ext cx="1508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2C5282"/>
                </a:solidFill>
                <a:latin typeface="Liberation Serif"/>
              </a:rPr>
              <a:t>0.82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4032" y="2048256"/>
            <a:ext cx="1737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mIoU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2286000"/>
            <a:ext cx="17373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82 % площади по 3 классам классифицировано верно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2798064"/>
            <a:ext cx="3474720" cy="74980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40680" y="2798064"/>
            <a:ext cx="109728" cy="74980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2852928"/>
            <a:ext cx="15087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276749"/>
                </a:solidFill>
                <a:latin typeface="Liberation Serif"/>
              </a:rPr>
              <a:t>F1 = 0.89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2852928"/>
            <a:ext cx="17373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76749"/>
                </a:solidFill>
                <a:latin typeface="Liberation Serif"/>
              </a:rPr>
              <a:t>нефть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3090672"/>
            <a:ext cx="17373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50" b="0" i="1">
                <a:solidFill>
                  <a:srgbClr val="4A5568"/>
                </a:solidFill>
                <a:latin typeface="Liberation Serif"/>
              </a:rPr>
              <a:t>из 100 пятен нефти — 89 найдено, 89 % точность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621024"/>
            <a:ext cx="3474720" cy="1179576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40680" y="3621024"/>
            <a:ext cx="347472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32120" y="3657600"/>
            <a:ext cx="32918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Перенос без дообучения (zero-shot)</a:t>
            </a:r>
          </a:p>
        </p:txBody>
      </p:sp>
      <p:pic>
        <p:nvPicPr>
          <p:cNvPr id="34" name="Picture 33" descr="fig_ports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945" y="3931920"/>
            <a:ext cx="1520189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НОВИЗНА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Научная новизна и сравнение с методами-аналогами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786384"/>
            <a:ext cx="45720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ТРИ ЭЛЕМЕНТА НАУЧНОЙ НОВИЗНЫ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60704"/>
            <a:ext cx="4572000" cy="10607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60704"/>
            <a:ext cx="457200" cy="106070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408175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170431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E3A5F"/>
                </a:solidFill>
                <a:latin typeface="Liberation Serif"/>
              </a:rPr>
              <a:t>Трёхклассовый датасет для Арктики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463039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Первый датасет для российских акваторий с отдельным классом льда — напрямую решает проблему ложных целей.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12848"/>
            <a:ext cx="4572000" cy="106070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12848"/>
            <a:ext cx="457200" cy="106070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560320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322576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282"/>
                </a:solidFill>
                <a:latin typeface="Liberation Serif"/>
              </a:rPr>
              <a:t>DeepLabV3+ под одноканальный SAR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615184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Входной слой и блоки внимания scSE адаптированы под VV-канал радара вместо RGB-снимков.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364991"/>
            <a:ext cx="4572000" cy="106070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364991"/>
            <a:ext cx="457200" cy="1060704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712463"/>
            <a:ext cx="457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47472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76749"/>
                </a:solidFill>
                <a:latin typeface="Liberation Serif"/>
              </a:rPr>
              <a:t>Первая оценка переноса между портами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767328"/>
            <a:ext cx="388620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Впервые количественно измерена деградация F1 и рост FP при переносе модели на новые акватории России.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4920" y="786384"/>
            <a:ext cx="3703320" cy="345643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74920" y="786384"/>
            <a:ext cx="3703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822960"/>
            <a:ext cx="3520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Сравнение по F1 с аналогами</a:t>
            </a:r>
          </a:p>
        </p:txBody>
      </p:sp>
      <p:pic>
        <p:nvPicPr>
          <p:cNvPr id="28" name="Picture 27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72954"/>
            <a:ext cx="3611880" cy="188445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Сравнение с Otsu; U-Net (Krestenitis 2019); GLCM+CNN; адаптивный порог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ВЫВОДЫ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Выводы и практическая значимость работы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10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14983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014983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Реализован полный конвейер: обработка снимка → DeepLabV3+ → верификация ERA5/AIS.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581912"/>
            <a:ext cx="841248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581912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728216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Собран первый трёхклассовый датасет (1 125 сцен) для российских арктических акваторий.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95144"/>
            <a:ext cx="8412480" cy="65836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295144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2441448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441448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Достигнуто F1 = 0.89 — выше всех методов-аналогов из литературы.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008376"/>
            <a:ext cx="8412480" cy="65836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008376"/>
            <a:ext cx="502920" cy="65836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154680"/>
            <a:ext cx="502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154680"/>
            <a:ext cx="76809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Метод проверен на 4 портах; деградация при переносе объяснена ложными целями (лёд).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67328"/>
            <a:ext cx="8412480" cy="93268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767328"/>
            <a:ext cx="109728" cy="93268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767328"/>
            <a:ext cx="841248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803904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Практическая значимость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114800"/>
            <a:ext cx="8229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276749"/>
                </a:solidFill>
                <a:latin typeface="Liberation Serif"/>
              </a:rPr>
              <a:t>Система готова к всепогодному автоматическому мониторингу четырёх арктических акваторий России. Перенос без дообучения достигает F1 = 0.84 (Варандей) и F1 = 0.76 (Сабетта). Конвейер открыт к расширению на другие порты.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