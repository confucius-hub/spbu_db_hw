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50292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9728"/>
            <a:ext cx="850392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Разработка системы автоматического детектирования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нефтяных разливов в акваториях арктических портов</a:t>
            </a:r>
          </a:p>
          <a:p>
            <a:pPr algn="l">
              <a:spcAft>
                <a:spcPts val="300"/>
              </a:spcAft>
            </a:pPr>
            <a:r>
              <a:rPr sz="1650" b="1" i="0">
                <a:solidFill>
                  <a:srgbClr val="FFFFFF"/>
                </a:solidFill>
                <a:latin typeface="Liberation Serif"/>
              </a:rPr>
              <a:t>по данным спутниковых радиолокационных систем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81328"/>
            <a:ext cx="4206240" cy="23317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81328"/>
            <a:ext cx="42062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САНКТ-ПЕТЕРБУРГСКИЙ ГОСУДАРСТВЕННЫЙ УНИВЕРСИТЕТ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865376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2C5282"/>
                </a:solidFill>
                <a:latin typeface="Liberation Serif"/>
              </a:rPr>
              <a:t>Кафедра информатики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176272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Направление: Прикладная информатика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487168"/>
            <a:ext cx="397763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Профиль: Искусственный интеллект и наука о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92608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E3A5F"/>
                </a:solidFill>
                <a:latin typeface="Liberation Serif"/>
              </a:rPr>
              <a:t>Магистерская диссертация ·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481328"/>
            <a:ext cx="4206240" cy="233172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481328"/>
            <a:ext cx="42062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517904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650" b="1" i="0">
                <a:solidFill>
                  <a:srgbClr val="FFFFFF"/>
                </a:solidFill>
                <a:latin typeface="Liberation Serif"/>
              </a:rPr>
              <a:t>СВЕДЕНИЯ ОБ АВТОРЕ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186537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Подготовил: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3168" y="2103120"/>
            <a:ext cx="39776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E3A5F"/>
                </a:solidFill>
                <a:latin typeface="Liberation Serif"/>
              </a:rPr>
              <a:t>Байханов Владислав Камолович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2395728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студент группы 24.М81-мм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743200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Научный руководитель: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3168" y="296265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к.т.н., доцент Митько А. 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 / 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Цель и задачи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2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8412480" cy="86868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109728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932688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ЦЕЛЬ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70432"/>
            <a:ext cx="8092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Создать и проверить систему, которая по снимкам Sentinel-1 автоматически находит нефтяные разливы в арктических портах и устойчива к ложным целям (лёд, штиль, биоплёнки).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93852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ЗАДАЧИ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40280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50008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359152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Изучить физику радиолокации нефти и систематизировать ложные цели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779776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779776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89504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898648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Реализовать конвейер предобработки снимков Sentinel-1 в ESA SNAP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319272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429000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438144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Собрать трёхклассовый датасет: вода / нефть / лёд + суша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858768"/>
            <a:ext cx="8412480" cy="502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858768"/>
            <a:ext cx="502920" cy="5029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68496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3977640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Адаптировать и обучить нейросеть DeepLabV3+ под радарные данные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398264"/>
            <a:ext cx="8412480" cy="502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398264"/>
            <a:ext cx="502920" cy="502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507992"/>
            <a:ext cx="502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Liberation Serif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4517136"/>
            <a:ext cx="76809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4A5568"/>
                </a:solidFill>
                <a:latin typeface="Liberation Serif"/>
              </a:rPr>
              <a:t>Проверить перенос модели на новые порты и сравнить с аналогами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АКТУАЛЬНОСТЬ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Нефтяные разливы в Арктике — масштаб проблемы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3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07208" cy="5486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E3A5F"/>
                </a:solidFill>
                <a:latin typeface="Liberation Serif"/>
              </a:rPr>
              <a:t>700+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27632"/>
            <a:ext cx="2624327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тыс. тонн нефти в год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попадает в Мировой океан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39" y="868680"/>
            <a:ext cx="2807208" cy="54864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39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2C5282"/>
                </a:solidFill>
                <a:latin typeface="Liberation Serif"/>
              </a:rPr>
              <a:t>5–10×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79" y="1627632"/>
            <a:ext cx="2624327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медленнее разлагается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нефть в воде &lt; 5 °C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868680"/>
            <a:ext cx="2807208" cy="1417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868680"/>
            <a:ext cx="2807208" cy="54864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024128"/>
            <a:ext cx="280720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92400E"/>
                </a:solidFill>
                <a:latin typeface="Liberation Serif"/>
              </a:rPr>
              <a:t>&gt; 80 %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1627632"/>
            <a:ext cx="2624327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времени — облака и ночь:</a:t>
            </a:r>
          </a:p>
          <a:p>
            <a:pPr algn="ctr"/>
            <a:r>
              <a:rPr sz="950" b="0" i="0">
                <a:solidFill>
                  <a:srgbClr val="4A5568"/>
                </a:solidFill>
                <a:latin typeface="Liberation Serif"/>
              </a:rPr>
              <a:t>оптика в Арктике не видит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2C5282"/>
                </a:solidFill>
                <a:latin typeface="Liberation Serif"/>
              </a:rPr>
              <a:t>ДВА ПОКАЗАТЕЛЬНЫХ СЛУЧАЯ В РОССИЙСКОЙ АРКТИКЕ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798064"/>
            <a:ext cx="4160520" cy="1874519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798064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Кольский залив — август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При бункеровке судна в порту Мурманска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произошла утечка топлива. Тёмное пятно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зафиксировано Sentinel-1 и заняло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около 14 % акватории залива.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2798064"/>
            <a:ext cx="4160520" cy="1874519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2798064"/>
            <a:ext cx="4160520" cy="310896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27448" y="2834640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Норильск — май 2020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27448" y="3200400"/>
            <a:ext cx="3931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Авария на ТЭЦ-3 НТЭК: в реки и почву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вылилось ≈ 21 000 тонн дизтоплива.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Крупнейший разлив в истории Арктики,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штраф — 146 млрд рублей.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ITOPF (2023); Росприроднадзор; данные Sentinel-1, ESA Copernicus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ДАННЫЕ И МЕТОД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Радиолокация Sentinel-1 и трёхклассовый датасет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4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22960"/>
            <a:ext cx="8412480" cy="841248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22960"/>
            <a:ext cx="109728" cy="84124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8138160" cy="7680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50" b="1">
                <a:solidFill>
                  <a:srgbClr val="1E3A5F"/>
                </a:solidFill>
                <a:latin typeface="Liberation Serif"/>
              </a:rPr>
              <a:t>Почему радар (SAR):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работает круглосуточно и сквозь облака; нефть гасит рябь (эффект Марангони) → на снимке тёмное пятно.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92400E"/>
                </a:solidFill>
                <a:latin typeface="Liberation Serif"/>
              </a:rPr>
              <a:t>Ложные цели:  </a:t>
            </a:r>
            <a:r>
              <a:rPr sz="950">
                <a:solidFill>
                  <a:srgbClr val="4A5568"/>
                </a:solidFill>
                <a:latin typeface="Liberation Serif"/>
              </a:rPr>
              <a:t>лёд, штиль и биоплёнки дают такие же пятна (до 70 % тёмных пятен — лёд), поэтому лёд выделен в отдельный класс.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4160520" cy="2926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Sentinel-1 IW GRD — параметры данных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2167128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203704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Спутник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20370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Sentinel-1, ESA Copernicus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505456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4203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Диапазон · поляр.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254203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C-band 5.4 ГГц · VV + VH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2843784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880360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Разрешение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88036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10 м / пиксель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3182112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218688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Объём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21868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1 125 сцен · 4 128 тайлов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88" y="3520440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557016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Размер тайла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57016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256 × 256 пикселей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" y="3858768"/>
            <a:ext cx="3931920" cy="2834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895344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Классы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895344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вода · нефть · лёд + суша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5488" y="4197096"/>
            <a:ext cx="3931920" cy="28346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4233672"/>
            <a:ext cx="1783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2C5282"/>
                </a:solidFill>
                <a:latin typeface="Liberation Serif"/>
              </a:rPr>
              <a:t>Районы · период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23367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0">
                <a:solidFill>
                  <a:srgbClr val="4A5568"/>
                </a:solidFill>
                <a:latin typeface="Liberation Serif"/>
              </a:rPr>
              <a:t>4 акватории · 2022–2025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17720" y="1783080"/>
            <a:ext cx="4160520" cy="290779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17720" y="1783080"/>
            <a:ext cx="4160520" cy="292608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09160" y="1819656"/>
            <a:ext cx="397763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Распределение классов в датасете</a:t>
            </a:r>
          </a:p>
        </p:txBody>
      </p:sp>
      <p:pic>
        <p:nvPicPr>
          <p:cNvPr id="39" name="Picture 38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4972" y="2121408"/>
            <a:ext cx="2276870" cy="248716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Copernicus Open Access Hub (ESA); базовый датасет MKLab (Krestenitis et al., 2019)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1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Кольский залив — базовый порт исследования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5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4160520" cy="3794760"/>
          </a:xfrm>
          <a:prstGeom prst="rect">
            <a:avLst/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4160520" cy="310896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905256"/>
            <a:ext cx="3931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Реальный инцидент — 11 августа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98448"/>
            <a:ext cx="39319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При бункеровке судна в порту Мурманска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допущена утечка топлива.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Тёмное пятно зафиксировано Sentinel-1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через 7 суток (18 августа): около 14 %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акватории залива.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Кольский залив — главный нефтеналивной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узел Западной Арктики (≈ 30–40 млн т/год,</a:t>
            </a:r>
          </a:p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регулярные бункеровки).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868680"/>
            <a:ext cx="4160520" cy="3794760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868680"/>
            <a:ext cx="4160520" cy="29260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905256"/>
            <a:ext cx="4014215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Liberation Serif"/>
              </a:rPr>
              <a:t>Двойная верификация находки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1252728"/>
            <a:ext cx="3959352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1000" b="1">
                <a:solidFill>
                  <a:srgbClr val="276749"/>
                </a:solidFill>
                <a:latin typeface="Liberation Serif"/>
              </a:rPr>
              <a:t>Метео (ERA5):  </a:t>
            </a:r>
            <a:r>
              <a:rPr sz="1000">
                <a:solidFill>
                  <a:srgbClr val="4A5568"/>
                </a:solidFill>
                <a:latin typeface="Liberation Serif"/>
              </a:rPr>
              <a:t>ветер 4.8 м/с — в рабочем диапазоне 3–9 м/с (не штиль и не шторм)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76749"/>
                </a:solidFill>
                <a:latin typeface="Liberation Serif"/>
              </a:rPr>
              <a:t>Суда (AIS):  </a:t>
            </a:r>
            <a:r>
              <a:rPr sz="1000">
                <a:solidFill>
                  <a:srgbClr val="4A5568"/>
                </a:solidFill>
                <a:latin typeface="Liberation Serif"/>
              </a:rPr>
              <a:t>зафиксированы суда ≤ 5 км и ≤ 24 ч от аномалии в момент съёмки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76749"/>
                </a:solidFill>
                <a:latin typeface="Liberation Serif"/>
              </a:rPr>
              <a:t>Метод детектирования:  </a:t>
            </a:r>
            <a:r>
              <a:rPr sz="1000">
                <a:solidFill>
                  <a:srgbClr val="4A5568"/>
                </a:solidFill>
                <a:latin typeface="Liberation Serif"/>
              </a:rPr>
              <a:t>адаптивный порог по VV-каналу T = μ − 1.3·σ; подтверждён нейросетью</a:t>
            </a:r>
          </a:p>
          <a:p>
            <a:pPr algn="l">
              <a:spcBef>
                <a:spcPts val="500"/>
              </a:spcBef>
            </a:pPr>
            <a:r>
              <a:rPr sz="1000" b="1">
                <a:solidFill>
                  <a:srgbClr val="276749"/>
                </a:solidFill>
                <a:latin typeface="Liberation Serif"/>
              </a:rPr>
              <a:t>Вывод:  </a:t>
            </a:r>
            <a:r>
              <a:rPr sz="1000">
                <a:solidFill>
                  <a:srgbClr val="4A5568"/>
                </a:solidFill>
                <a:latin typeface="Liberation Serif"/>
              </a:rPr>
              <a:t>аномалия классифицирована как нефтяной разлив, а не ложная цель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(ESA); метеореанализ ERA5 (ECMWF); судовой трафик AIS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2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Новые порты: Варандей и Печенга (снимки Sentinel-1)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6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4297680" cy="3703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68680"/>
            <a:ext cx="429768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905256"/>
            <a:ext cx="4114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Варандей — нефтеналивной терминал НАО</a:t>
            </a:r>
          </a:p>
        </p:txBody>
      </p:sp>
      <p:pic>
        <p:nvPicPr>
          <p:cNvPr id="12" name="Picture 11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" y="1188720"/>
            <a:ext cx="4000500" cy="32004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17720" y="868680"/>
            <a:ext cx="4297680" cy="37033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868680"/>
            <a:ext cx="429768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905256"/>
            <a:ext cx="4114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Печенга — порт Мурманской области</a:t>
            </a:r>
          </a:p>
        </p:txBody>
      </p:sp>
      <p:pic>
        <p:nvPicPr>
          <p:cNvPr id="16" name="Picture 15" descr="fig_pechen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310" y="1188720"/>
            <a:ext cx="4000500" cy="3200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74320" y="4617720"/>
            <a:ext cx="859536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 i="1">
                <a:solidFill>
                  <a:srgbClr val="4A5568"/>
                </a:solidFill>
                <a:latin typeface="Liberation Serif"/>
              </a:rPr>
              <a:t>Тёмные аномалии в VV-канале выделяются автоматически; стрелки — зоны разливов и ложные цели (лёд, тень).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IW GRD, ESA Copernicus (2025)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КЕЙС 3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Сабетта и мотивирующий случай Норильск-2020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7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4297680" cy="3429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68680"/>
            <a:ext cx="429768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905256"/>
            <a:ext cx="4114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Сабетта — ворота арктического СПГ (Обская губа)</a:t>
            </a:r>
          </a:p>
        </p:txBody>
      </p:sp>
      <p:pic>
        <p:nvPicPr>
          <p:cNvPr id="12" name="Picture 11" descr="fig_sab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" y="1188720"/>
            <a:ext cx="3714750" cy="29718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617720" y="868680"/>
            <a:ext cx="4297680" cy="3429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868680"/>
            <a:ext cx="4297680" cy="274320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905256"/>
            <a:ext cx="4114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Норильск — 3 и 15 июня 2020 (после аварии НТЭК)</a:t>
            </a:r>
          </a:p>
        </p:txBody>
      </p:sp>
      <p:pic>
        <p:nvPicPr>
          <p:cNvPr id="16" name="Picture 15" descr="fig_noril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667232"/>
            <a:ext cx="4224528" cy="201477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274320" y="4370832"/>
            <a:ext cx="8641080" cy="420624"/>
          </a:xfrm>
          <a:prstGeom prst="rect">
            <a:avLst/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" y="4389120"/>
            <a:ext cx="8458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C53030"/>
                </a:solidFill>
                <a:latin typeface="Liberation Serif"/>
              </a:rPr>
              <a:t>Важно: разлив в Норильске был на суше и реках — его отслеживали по оптике Sentinel-2; радар здесь показывает ледовую обстановку, а не плёнку нефти.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Sentinel-1 / Sentinel-2, ESA Copernicus; Росприроднадзор (2020)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МОДЕЛЬ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Нейросеть DeepLabV3+, адаптированная под 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8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788920" cy="3108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Энкодер ResNet-50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Предобучен на ImageNet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вход перестроен под 1 канал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   (VV, дБ)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дилатированные свёртки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выходной страйд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868680"/>
            <a:ext cx="2788920" cy="310896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0712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ASPP — контекст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Atrous Spatial Pyramid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ветви r = 6, 12, 18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глобальный pooling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объекты разного масштаба: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   от пикселя до пятна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72784" y="868680"/>
            <a:ext cx="2788920" cy="27889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2784" y="868680"/>
            <a:ext cx="2788920" cy="3108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4" y="905256"/>
            <a:ext cx="2624327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Liberation Serif"/>
              </a:rPr>
              <a:t>Декодер + внимание scSE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298448"/>
            <a:ext cx="2569463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3 класса на выходе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/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scSE подавляет спекл-шум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усиливает нефтяные пятна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потери Dice-BCE</a:t>
            </a:r>
          </a:p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•  веса классов 0.3 / 9.8 / 1.2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8412480" cy="822960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840480"/>
            <a:ext cx="109728" cy="82296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895344"/>
            <a:ext cx="82296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Обучение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133087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  <a:latin typeface="Liberation Serif"/>
              </a:rPr>
              <a:t>Оптимизатор AdamW  ·  78 эпох (CosineAnnealing)  ·  батч 16, GPU A100  ·  аугментация + TTA ×4  ·  41.2 млн параметров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РЕЗУЛЬТАТЫ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Результаты модели: метрики и перенос на новые порты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9 /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868680"/>
            <a:ext cx="4892040" cy="37947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868680"/>
            <a:ext cx="4892040" cy="2743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905256"/>
            <a:ext cx="47091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Кривые обучения (78 эпох): потери и mIoU</a:t>
            </a:r>
          </a:p>
        </p:txBody>
      </p:sp>
      <p:pic>
        <p:nvPicPr>
          <p:cNvPr id="12" name="Picture 11" descr="fig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933914"/>
            <a:ext cx="4818888" cy="188374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868680"/>
            <a:ext cx="3520440" cy="768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57800" y="868680"/>
            <a:ext cx="109728" cy="7680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923544"/>
            <a:ext cx="1463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1E3A5F"/>
                </a:solidFill>
                <a:latin typeface="Liberation Serif"/>
              </a:rPr>
              <a:t>95.8 %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923544"/>
            <a:ext cx="187451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Точность (accuracy)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7800" y="1709928"/>
            <a:ext cx="3520440" cy="768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57800" y="1709928"/>
            <a:ext cx="109728" cy="768096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1764792"/>
            <a:ext cx="1463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2C5282"/>
                </a:solidFill>
                <a:latin typeface="Liberation Serif"/>
              </a:rPr>
              <a:t>0.82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764792"/>
            <a:ext cx="187451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mIoU (3 класса)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51176"/>
            <a:ext cx="3520440" cy="7680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57800" y="2551176"/>
            <a:ext cx="109728" cy="768096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2606040"/>
            <a:ext cx="1463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i="0">
                <a:solidFill>
                  <a:srgbClr val="276749"/>
                </a:solidFill>
                <a:latin typeface="Liberation Serif"/>
              </a:rPr>
              <a:t>0.89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2606040"/>
            <a:ext cx="187451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i="0">
                <a:solidFill>
                  <a:srgbClr val="4A5568"/>
                </a:solidFill>
                <a:latin typeface="Liberation Serif"/>
              </a:rPr>
              <a:t>F1 по нефти (Кольский)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57800" y="3401568"/>
            <a:ext cx="3520440" cy="1261872"/>
          </a:xfrm>
          <a:prstGeom prst="rect">
            <a:avLst/>
          </a:prstGeom>
          <a:solidFill>
            <a:srgbClr val="EB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57800" y="3401568"/>
            <a:ext cx="3520440" cy="274320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3438144"/>
            <a:ext cx="3337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Перенос без дообучения (zero-shot)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3730752"/>
            <a:ext cx="3291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Кольский:   F1 = 0.89   (FP 1.4 %)</a:t>
            </a:r>
          </a:p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Варандей:  F1 = 0.84   (FP 1.4 %)</a:t>
            </a:r>
          </a:p>
          <a:p>
            <a:pPr algn="l"/>
            <a:r>
              <a:rPr sz="1000" b="0" i="0">
                <a:solidFill>
                  <a:srgbClr val="1E3A5F"/>
                </a:solidFill>
                <a:latin typeface="Liberation Serif"/>
              </a:rPr>
              <a:t>Сабетта:    F1 = 0.76   (FP 6.2 %)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"/>
            <a:ext cx="9144000" cy="32004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" y="82296"/>
            <a:ext cx="141732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Liberation Serif"/>
              </a:rPr>
              <a:t>ИТОГИ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2768" y="100584"/>
            <a:ext cx="18288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8488" y="82296"/>
            <a:ext cx="7406640" cy="42062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iberation Serif"/>
              </a:rPr>
              <a:t>Научная новизна, сравнение и выводы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64608"/>
            <a:ext cx="868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700" b="0" i="0">
                <a:solidFill>
                  <a:srgbClr val="4A5568"/>
                </a:solidFill>
                <a:latin typeface="Liberation Serif"/>
              </a:rPr>
              <a:t>10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E3A5F"/>
                </a:solidFill>
                <a:latin typeface="Liberation Serif"/>
              </a:rPr>
              <a:t>НАУЧНАЯ НОВИЗНА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097280"/>
            <a:ext cx="4572000" cy="9875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457200" cy="987552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389888"/>
            <a:ext cx="457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188720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E3A5F"/>
                </a:solidFill>
                <a:latin typeface="Liberation Serif"/>
              </a:rPr>
              <a:t>Трёхклассовый датасет для Арктики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481328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лёд выделен в отдельный класс — до 70 % тёмных пятен это лёд, а не нефть.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57984"/>
            <a:ext cx="4572000" cy="987552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157984"/>
            <a:ext cx="457200" cy="987552"/>
          </a:xfrm>
          <a:prstGeom prst="rect">
            <a:avLst/>
          </a:prstGeom>
          <a:solidFill>
            <a:srgbClr val="2C52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50592"/>
            <a:ext cx="457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249424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C5282"/>
                </a:solidFill>
                <a:latin typeface="Liberation Serif"/>
              </a:rPr>
              <a:t>DeepLabV3+ под одноканальный SAR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542032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Вход и блоки внимания scSE адаптированы под радар вместо RGB-снимков.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18688"/>
            <a:ext cx="4572000" cy="9875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218688"/>
            <a:ext cx="457200" cy="987552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511296"/>
            <a:ext cx="4572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Liberation Serif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310128"/>
            <a:ext cx="3886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276749"/>
                </a:solidFill>
                <a:latin typeface="Liberation Serif"/>
              </a:rPr>
              <a:t>Оценка переноса между портами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602736"/>
            <a:ext cx="38862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>Впервые измерена деградация качества при переходе на новые акватории России.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804672"/>
            <a:ext cx="3703320" cy="33101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74920" y="804672"/>
            <a:ext cx="3703320" cy="274320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66360" y="841248"/>
            <a:ext cx="352044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Liberation Serif"/>
              </a:rPr>
              <a:t>Сравнение по F1 с аналогами</a:t>
            </a:r>
          </a:p>
        </p:txBody>
      </p:sp>
      <p:pic>
        <p:nvPicPr>
          <p:cNvPr id="28" name="Picture 27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54666"/>
            <a:ext cx="3611880" cy="188445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65760" y="4206240"/>
            <a:ext cx="8412480" cy="566928"/>
          </a:xfrm>
          <a:prstGeom prst="rect">
            <a:avLst/>
          </a:prstGeom>
          <a:solidFill>
            <a:srgbClr val="F0F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206240"/>
            <a:ext cx="109728" cy="566928"/>
          </a:xfrm>
          <a:prstGeom prst="rect">
            <a:avLst/>
          </a:prstGeom>
          <a:solidFill>
            <a:srgbClr val="276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233672"/>
            <a:ext cx="82296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4A5568"/>
                </a:solidFill>
                <a:latin typeface="Liberation Serif"/>
              </a:rPr>
              <a:t/>
            </a:r>
            <a:r>
              <a:rPr sz="900" b="1">
                <a:solidFill>
                  <a:srgbClr val="276749"/>
                </a:solidFill>
                <a:latin typeface="Liberation Serif"/>
              </a:rPr>
              <a:t>Выводы: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реализован полный конвейер (SNAP → DeepLabV3+ → ERA5/AIS); собран первый трёхклассовый датасет Арктики; F1 = 0.89 — выше всех аналогов.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276749"/>
                </a:solidFill>
                <a:latin typeface="Liberation Serif"/>
              </a:rPr>
              <a:t>Значимость:  </a:t>
            </a:r>
            <a:r>
              <a:rPr sz="900">
                <a:solidFill>
                  <a:srgbClr val="4A5568"/>
                </a:solidFill>
                <a:latin typeface="Liberation Serif"/>
              </a:rPr>
              <a:t>система готова к всепогодному мониторингу четырёх арктических акваторий России.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" y="4873752"/>
            <a:ext cx="7863840" cy="21945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700" b="0" i="1">
                <a:solidFill>
                  <a:srgbClr val="4A5568"/>
                </a:solidFill>
                <a:latin typeface="Liberation Serif"/>
              </a:rPr>
              <a:t>Источник: Сравнение: Otsu; U-Net; GLCM+CNN; адаптивный порог (по данным литературы)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